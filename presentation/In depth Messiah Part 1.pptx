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Raleway"/>
      <p:regular r:id="rId20"/>
      <p:bold r:id="rId21"/>
      <p:italic r:id="rId22"/>
      <p:boldItalic r:id="rId23"/>
    </p:embeddedFont>
    <p:embeddedFont>
      <p:font typeface="Roboto"/>
      <p:regular r:id="rId24"/>
      <p:bold r:id="rId25"/>
      <p:italic r:id="rId26"/>
      <p:boldItalic r:id="rId27"/>
    </p:embeddedFont>
    <p:embeddedFont>
      <p:font typeface="Lat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regular.fntdata"/><Relationship Id="rId22" Type="http://schemas.openxmlformats.org/officeDocument/2006/relationships/font" Target="fonts/Raleway-italic.fntdata"/><Relationship Id="rId21" Type="http://schemas.openxmlformats.org/officeDocument/2006/relationships/font" Target="fonts/Raleway-bold.fntdata"/><Relationship Id="rId24" Type="http://schemas.openxmlformats.org/officeDocument/2006/relationships/font" Target="fonts/Roboto-regular.fntdata"/><Relationship Id="rId23" Type="http://schemas.openxmlformats.org/officeDocument/2006/relationships/font" Target="fonts/Raleway-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italic.fntdata"/><Relationship Id="rId25" Type="http://schemas.openxmlformats.org/officeDocument/2006/relationships/font" Target="fonts/Roboto-bold.fntdata"/><Relationship Id="rId28" Type="http://schemas.openxmlformats.org/officeDocument/2006/relationships/font" Target="fonts/Lato-regular.fntdata"/><Relationship Id="rId27"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boldItalic.fntdata"/><Relationship Id="rId30"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ebd5409599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ebd5409599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ebd5409599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ebd5409599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ebd5409599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ebd5409599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ebd5409599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ebd5409599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ebd5409599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ebd5409599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ebd5409599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ebd5409599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ebd5409599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ebd5409599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ebd5409599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ebd5409599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ebd5409599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ebd5409599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ef6c82f29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ef6c82f29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passage is also weird - doesn’t this violate Deut 24:16, that a son cannot be cursed for his father’s sin?</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ec07a967f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ec07a967f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ec07a967f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ec07a967f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ec07a967f3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ec07a967f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p:spPr>
        <p:txBody>
          <a:bodyPr anchorCtr="0" anchor="b"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18" name="Google Shape;18;p3"/>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406425" y="1806825"/>
            <a:ext cx="8296800" cy="15420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 name="Google Shape;23;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4" name="Google Shape;24;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5" name="Google Shape;25;p4"/>
          <p:cNvSpPr txBox="1"/>
          <p:nvPr>
            <p:ph type="title"/>
          </p:nvPr>
        </p:nvSpPr>
        <p:spPr>
          <a:xfrm>
            <a:off x="2400250" y="575950"/>
            <a:ext cx="6321600" cy="635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4"/>
          <p:cNvSpPr txBox="1"/>
          <p:nvPr>
            <p:ph idx="1" type="body"/>
          </p:nvPr>
        </p:nvSpPr>
        <p:spPr>
          <a:xfrm>
            <a:off x="2410112" y="1595776"/>
            <a:ext cx="6321600" cy="3002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7" name="Google Shape;27;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5"/>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1" name="Google Shape;31;p5"/>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2" name="Google Shape;32;p5"/>
          <p:cNvSpPr txBox="1"/>
          <p:nvPr>
            <p:ph type="title"/>
          </p:nvPr>
        </p:nvSpPr>
        <p:spPr>
          <a:xfrm>
            <a:off x="2400250" y="575950"/>
            <a:ext cx="6321600" cy="635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5"/>
          <p:cNvSpPr txBox="1"/>
          <p:nvPr>
            <p:ph idx="1" type="body"/>
          </p:nvPr>
        </p:nvSpPr>
        <p:spPr>
          <a:xfrm>
            <a:off x="2400303" y="1602675"/>
            <a:ext cx="3071400" cy="3002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2" type="body"/>
          </p:nvPr>
        </p:nvSpPr>
        <p:spPr>
          <a:xfrm>
            <a:off x="5650572" y="1602675"/>
            <a:ext cx="3071400" cy="3002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03300" y="411575"/>
            <a:ext cx="8520600" cy="639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 name="Google Shape;38;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7"/>
          <p:cNvSpPr txBox="1"/>
          <p:nvPr>
            <p:ph type="title"/>
          </p:nvPr>
        </p:nvSpPr>
        <p:spPr>
          <a:xfrm>
            <a:off x="319500" y="936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7"/>
          <p:cNvSpPr txBox="1"/>
          <p:nvPr>
            <p:ph idx="1" type="body"/>
          </p:nvPr>
        </p:nvSpPr>
        <p:spPr>
          <a:xfrm>
            <a:off x="319500" y="1846804"/>
            <a:ext cx="2808000" cy="2806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3" name="Google Shape;43;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4"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p8"/>
          <p:cNvSpPr txBox="1"/>
          <p:nvPr>
            <p:ph type="title"/>
          </p:nvPr>
        </p:nvSpPr>
        <p:spPr>
          <a:xfrm>
            <a:off x="283103" y="712141"/>
            <a:ext cx="6244200" cy="3835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47" name="Google Shape;47;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1" name="Google Shape;51;p9"/>
          <p:cNvSpPr txBox="1"/>
          <p:nvPr>
            <p:ph type="title"/>
          </p:nvPr>
        </p:nvSpPr>
        <p:spPr>
          <a:xfrm>
            <a:off x="265500" y="1397350"/>
            <a:ext cx="4045200" cy="1318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1"/>
              </a:buClr>
              <a:buSzPts val="3600"/>
              <a:buNone/>
              <a:defRPr sz="3600">
                <a:solidFill>
                  <a:schemeClr val="dk1"/>
                </a:solidFill>
              </a:defRPr>
            </a:lvl1pPr>
            <a:lvl2pPr lvl="1" algn="ctr">
              <a:spcBef>
                <a:spcPts val="0"/>
              </a:spcBef>
              <a:spcAft>
                <a:spcPts val="0"/>
              </a:spcAft>
              <a:buClr>
                <a:schemeClr val="dk1"/>
              </a:buClr>
              <a:buSzPts val="3600"/>
              <a:buNone/>
              <a:defRPr sz="3600">
                <a:solidFill>
                  <a:schemeClr val="dk1"/>
                </a:solidFill>
              </a:defRPr>
            </a:lvl2pPr>
            <a:lvl3pPr lvl="2" algn="ctr">
              <a:spcBef>
                <a:spcPts val="0"/>
              </a:spcBef>
              <a:spcAft>
                <a:spcPts val="0"/>
              </a:spcAft>
              <a:buClr>
                <a:schemeClr val="dk1"/>
              </a:buClr>
              <a:buSzPts val="3600"/>
              <a:buNone/>
              <a:defRPr sz="3600">
                <a:solidFill>
                  <a:schemeClr val="dk1"/>
                </a:solidFill>
              </a:defRPr>
            </a:lvl3pPr>
            <a:lvl4pPr lvl="3" algn="ctr">
              <a:spcBef>
                <a:spcPts val="0"/>
              </a:spcBef>
              <a:spcAft>
                <a:spcPts val="0"/>
              </a:spcAft>
              <a:buClr>
                <a:schemeClr val="dk1"/>
              </a:buClr>
              <a:buSzPts val="3600"/>
              <a:buNone/>
              <a:defRPr sz="3600">
                <a:solidFill>
                  <a:schemeClr val="dk1"/>
                </a:solidFill>
              </a:defRPr>
            </a:lvl4pPr>
            <a:lvl5pPr lvl="4" algn="ctr">
              <a:spcBef>
                <a:spcPts val="0"/>
              </a:spcBef>
              <a:spcAft>
                <a:spcPts val="0"/>
              </a:spcAft>
              <a:buClr>
                <a:schemeClr val="dk1"/>
              </a:buClr>
              <a:buSzPts val="3600"/>
              <a:buNone/>
              <a:defRPr sz="3600">
                <a:solidFill>
                  <a:schemeClr val="dk1"/>
                </a:solidFill>
              </a:defRPr>
            </a:lvl5pPr>
            <a:lvl6pPr lvl="5" algn="ctr">
              <a:spcBef>
                <a:spcPts val="0"/>
              </a:spcBef>
              <a:spcAft>
                <a:spcPts val="0"/>
              </a:spcAft>
              <a:buClr>
                <a:schemeClr val="dk1"/>
              </a:buClr>
              <a:buSzPts val="3600"/>
              <a:buNone/>
              <a:defRPr sz="3600">
                <a:solidFill>
                  <a:schemeClr val="dk1"/>
                </a:solidFill>
              </a:defRPr>
            </a:lvl6pPr>
            <a:lvl7pPr lvl="6" algn="ctr">
              <a:spcBef>
                <a:spcPts val="0"/>
              </a:spcBef>
              <a:spcAft>
                <a:spcPts val="0"/>
              </a:spcAft>
              <a:buClr>
                <a:schemeClr val="dk1"/>
              </a:buClr>
              <a:buSzPts val="3600"/>
              <a:buNone/>
              <a:defRPr sz="3600">
                <a:solidFill>
                  <a:schemeClr val="dk1"/>
                </a:solidFill>
              </a:defRPr>
            </a:lvl7pPr>
            <a:lvl8pPr lvl="7" algn="ctr">
              <a:spcBef>
                <a:spcPts val="0"/>
              </a:spcBef>
              <a:spcAft>
                <a:spcPts val="0"/>
              </a:spcAft>
              <a:buClr>
                <a:schemeClr val="dk1"/>
              </a:buClr>
              <a:buSzPts val="3600"/>
              <a:buNone/>
              <a:defRPr sz="3600">
                <a:solidFill>
                  <a:schemeClr val="dk1"/>
                </a:solidFill>
              </a:defRPr>
            </a:lvl8pPr>
            <a:lvl9pPr lvl="8" algn="ctr">
              <a:spcBef>
                <a:spcPts val="0"/>
              </a:spcBef>
              <a:spcAft>
                <a:spcPts val="0"/>
              </a:spcAft>
              <a:buClr>
                <a:schemeClr val="dk1"/>
              </a:buClr>
              <a:buSzPts val="3600"/>
              <a:buNone/>
              <a:defRPr sz="3600">
                <a:solidFill>
                  <a:schemeClr val="dk1"/>
                </a:solidFill>
              </a:defRPr>
            </a:lvl9pPr>
          </a:lstStyle>
          <a:p/>
        </p:txBody>
      </p:sp>
      <p:sp>
        <p:nvSpPr>
          <p:cNvPr id="52" name="Google Shape;52;p9"/>
          <p:cNvSpPr txBox="1"/>
          <p:nvPr>
            <p:ph idx="1" type="subTitle"/>
          </p:nvPr>
        </p:nvSpPr>
        <p:spPr>
          <a:xfrm>
            <a:off x="265500" y="273537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7" name="Google Shape;57;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8" name="Google Shape;58;p10"/>
          <p:cNvSpPr txBox="1"/>
          <p:nvPr>
            <p:ph idx="1" type="body"/>
          </p:nvPr>
        </p:nvSpPr>
        <p:spPr>
          <a:xfrm>
            <a:off x="328017" y="4226025"/>
            <a:ext cx="8388600" cy="3936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2" name="Google Shape;62;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3" name="Google Shape;63;p11"/>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p:nvPr>
            <p:ph idx="1" type="body"/>
          </p:nvPr>
        </p:nvSpPr>
        <p:spPr>
          <a:xfrm>
            <a:off x="853950" y="2919450"/>
            <a:ext cx="74361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5" name="Google Shape;65;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3"/>
          <p:cNvSpPr txBox="1"/>
          <p:nvPr>
            <p:ph type="ctrTitle"/>
          </p:nvPr>
        </p:nvSpPr>
        <p:spPr>
          <a:xfrm>
            <a:off x="2371725" y="630225"/>
            <a:ext cx="6331500" cy="1542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Messiah in depth</a:t>
            </a:r>
            <a:endParaRPr/>
          </a:p>
          <a:p>
            <a:pPr indent="0" lvl="0" marL="0" rtl="0" algn="l">
              <a:spcBef>
                <a:spcPts val="0"/>
              </a:spcBef>
              <a:spcAft>
                <a:spcPts val="0"/>
              </a:spcAft>
              <a:buNone/>
            </a:pPr>
            <a:r>
              <a:rPr lang="en"/>
              <a:t>Part 1 - </a:t>
            </a:r>
            <a:r>
              <a:rPr i="1" lang="en"/>
              <a:t>what</a:t>
            </a:r>
            <a:r>
              <a:rPr lang="en"/>
              <a:t> is cursed?</a:t>
            </a:r>
            <a:endParaRPr/>
          </a:p>
        </p:txBody>
      </p:sp>
      <p:sp>
        <p:nvSpPr>
          <p:cNvPr id="73" name="Google Shape;73;p13"/>
          <p:cNvSpPr txBox="1"/>
          <p:nvPr>
            <p:ph idx="1" type="subTitle"/>
          </p:nvPr>
        </p:nvSpPr>
        <p:spPr>
          <a:xfrm>
            <a:off x="2390267" y="3238450"/>
            <a:ext cx="6331500" cy="1241700"/>
          </a:xfrm>
          <a:prstGeom prst="rect">
            <a:avLst/>
          </a:prstGeom>
        </p:spPr>
        <p:txBody>
          <a:bodyPr anchorCtr="0" anchor="b" bIns="91425" lIns="91425" spcFirstLastPara="1" rIns="91425" wrap="square" tIns="91425">
            <a:normAutofit fontScale="92500"/>
          </a:bodyPr>
          <a:lstStyle/>
          <a:p>
            <a:pPr indent="0" lvl="0" marL="0" rtl="0" algn="l">
              <a:spcBef>
                <a:spcPts val="0"/>
              </a:spcBef>
              <a:spcAft>
                <a:spcPts val="0"/>
              </a:spcAft>
              <a:buNone/>
            </a:pPr>
            <a:r>
              <a:rPr lang="en"/>
              <a:t>Instead of continuing to expose the lies of the New Testament, I want to explain from Tanakh why the New Testament cannot be fully trusted. I’m going to go over several themes in this series, sin, death, atonement, curses, blessings and the messianic age.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4"/>
          <p:cNvSpPr txBox="1"/>
          <p:nvPr>
            <p:ph type="title"/>
          </p:nvPr>
        </p:nvSpPr>
        <p:spPr>
          <a:xfrm>
            <a:off x="2400250" y="3473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With any idea it’s best to start at the beginning</a:t>
            </a:r>
            <a:endParaRPr/>
          </a:p>
        </p:txBody>
      </p:sp>
      <p:sp>
        <p:nvSpPr>
          <p:cNvPr id="79" name="Google Shape;79;p14"/>
          <p:cNvSpPr txBox="1"/>
          <p:nvPr>
            <p:ph idx="1" type="body"/>
          </p:nvPr>
        </p:nvSpPr>
        <p:spPr>
          <a:xfrm>
            <a:off x="2410100" y="1214775"/>
            <a:ext cx="6321600" cy="34299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lang="en"/>
              <a:t>In the beginning, Yahweh gave Adam a set of commandments.</a:t>
            </a:r>
            <a:endParaRPr/>
          </a:p>
          <a:p>
            <a:pPr indent="-300038" lvl="0" marL="457200" rtl="0" algn="l">
              <a:spcBef>
                <a:spcPts val="1200"/>
              </a:spcBef>
              <a:spcAft>
                <a:spcPts val="0"/>
              </a:spcAft>
              <a:buSzPct val="100000"/>
              <a:buAutoNum type="arabicParenR"/>
            </a:pPr>
            <a:r>
              <a:rPr lang="en"/>
              <a:t>Be fruitful and multiply</a:t>
            </a:r>
            <a:endParaRPr/>
          </a:p>
          <a:p>
            <a:pPr indent="-300038" lvl="0" marL="457200" rtl="0" algn="l">
              <a:spcBef>
                <a:spcPts val="0"/>
              </a:spcBef>
              <a:spcAft>
                <a:spcPts val="0"/>
              </a:spcAft>
              <a:buSzPct val="100000"/>
              <a:buAutoNum type="arabicParenR"/>
            </a:pPr>
            <a:r>
              <a:rPr lang="en"/>
              <a:t>Fill the earth and subdue it, have dominion (lordship) over the Earth</a:t>
            </a:r>
            <a:endParaRPr/>
          </a:p>
          <a:p>
            <a:pPr indent="-300038" lvl="0" marL="457200" rtl="0" algn="l">
              <a:spcBef>
                <a:spcPts val="0"/>
              </a:spcBef>
              <a:spcAft>
                <a:spcPts val="0"/>
              </a:spcAft>
              <a:buSzPct val="100000"/>
              <a:buAutoNum type="arabicParenR"/>
            </a:pPr>
            <a:r>
              <a:rPr lang="en"/>
              <a:t>Every herb and fruit (and we learn a bit later there is one exception) that yields seed (also important, we shouldn’t be eating GMO, seedless plants) is food for us. (this changed later, and Yah allows eating meat and will in the messianic age)</a:t>
            </a:r>
            <a:endParaRPr/>
          </a:p>
          <a:p>
            <a:pPr indent="-300038" lvl="0" marL="457200" rtl="0" algn="l">
              <a:spcBef>
                <a:spcPts val="0"/>
              </a:spcBef>
              <a:spcAft>
                <a:spcPts val="0"/>
              </a:spcAft>
              <a:buSzPct val="100000"/>
              <a:buAutoNum type="arabicParenR"/>
            </a:pPr>
            <a:r>
              <a:rPr lang="en"/>
              <a:t>The seventh day is a sabbath rest for man</a:t>
            </a:r>
            <a:endParaRPr/>
          </a:p>
          <a:p>
            <a:pPr indent="-300038" lvl="0" marL="457200" rtl="0" algn="l">
              <a:spcBef>
                <a:spcPts val="0"/>
              </a:spcBef>
              <a:spcAft>
                <a:spcPts val="0"/>
              </a:spcAft>
              <a:buSzPct val="100000"/>
              <a:buAutoNum type="arabicParenR"/>
            </a:pPr>
            <a:r>
              <a:rPr lang="en"/>
              <a:t>Do not eat of the tree of knowledge of good and evil</a:t>
            </a:r>
            <a:endParaRPr/>
          </a:p>
          <a:p>
            <a:pPr indent="0" lvl="0" marL="0" rtl="0" algn="l">
              <a:spcBef>
                <a:spcPts val="1200"/>
              </a:spcBef>
              <a:spcAft>
                <a:spcPts val="0"/>
              </a:spcAft>
              <a:buNone/>
            </a:pPr>
            <a:r>
              <a:rPr lang="en"/>
              <a:t>From the beginning we see some important things. Abortion, and other forms of birth control, including NOT MARRYING as the NT commands from both Jesus and Paul is a sin. You should STRIVE to marry, it should be our </a:t>
            </a:r>
            <a:r>
              <a:rPr b="1" i="1" lang="en"/>
              <a:t>COMPLETION</a:t>
            </a:r>
            <a:r>
              <a:rPr lang="en"/>
              <a:t>. You should </a:t>
            </a:r>
            <a:r>
              <a:rPr b="1" lang="en"/>
              <a:t>STRIVE</a:t>
            </a:r>
            <a:r>
              <a:rPr lang="en"/>
              <a:t> to reproduce - that is the purpose of sex.</a:t>
            </a:r>
            <a:endParaRPr/>
          </a:p>
          <a:p>
            <a:pPr indent="0" lvl="0" marL="0" rtl="0" algn="l">
              <a:spcBef>
                <a:spcPts val="1200"/>
              </a:spcBef>
              <a:spcAft>
                <a:spcPts val="1200"/>
              </a:spcAft>
              <a:buNone/>
            </a:pPr>
            <a:r>
              <a:rPr lang="en"/>
              <a:t>Dietary laws were there from the very beginning. This also contradicts many letters in the NT that say </a:t>
            </a:r>
            <a:r>
              <a:rPr i="1" lang="en"/>
              <a:t>what goes in the mouth doesn’t defile us</a:t>
            </a:r>
            <a:r>
              <a:rPr lang="en"/>
              <a:t>, or Paul’s lies that eating foods Yah calls unclean (and this is what he’s saying) doesn’t offend Yah but can offend the conscience of another believer who is </a:t>
            </a:r>
            <a:r>
              <a:rPr i="1" lang="en"/>
              <a:t>weaker in faith.</a:t>
            </a:r>
            <a:r>
              <a:rPr lang="en"/>
              <a:t> Paul’s point is if someone still believes these dietary restrictions apply, they are </a:t>
            </a:r>
            <a:r>
              <a:rPr i="1" lang="en"/>
              <a:t>weaker of faith</a:t>
            </a:r>
            <a:r>
              <a:rPr lang="en"/>
              <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txBox="1"/>
          <p:nvPr>
            <p:ph type="title"/>
          </p:nvPr>
        </p:nvSpPr>
        <p:spPr>
          <a:xfrm>
            <a:off x="2400250" y="3473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Sin came in through Adam</a:t>
            </a:r>
            <a:endParaRPr/>
          </a:p>
        </p:txBody>
      </p:sp>
      <p:sp>
        <p:nvSpPr>
          <p:cNvPr id="85" name="Google Shape;85;p15"/>
          <p:cNvSpPr txBox="1"/>
          <p:nvPr>
            <p:ph idx="1" type="body"/>
          </p:nvPr>
        </p:nvSpPr>
        <p:spPr>
          <a:xfrm>
            <a:off x="2410100" y="757575"/>
            <a:ext cx="6321600" cy="39096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t>Of course, in Genesis 3 Adam and Eve sinned. They broke the law of abstaining from the tree of good and evil. They violated the first negative food law. There are some important lessons here as well, and they apply to the Talmud fences around Torah and the NT ascetic fences Christians that follow the words of Jesus over the sinful grace of Paul fall into.</a:t>
            </a:r>
            <a:endParaRPr/>
          </a:p>
          <a:p>
            <a:pPr indent="0" lvl="0" marL="0" rtl="0" algn="l">
              <a:spcBef>
                <a:spcPts val="1200"/>
              </a:spcBef>
              <a:spcAft>
                <a:spcPts val="0"/>
              </a:spcAft>
              <a:buNone/>
            </a:pPr>
            <a:r>
              <a:rPr lang="en"/>
              <a:t>When the serpent tempted Eve (and it went after Eve for a reason) Eve replied with the commandment, and an </a:t>
            </a:r>
            <a:r>
              <a:rPr i="1" lang="en"/>
              <a:t>addition</a:t>
            </a:r>
            <a:r>
              <a:rPr lang="en"/>
              <a:t>. Adam added a fence around the commandment given to him by God when he told Eve.</a:t>
            </a:r>
            <a:endParaRPr/>
          </a:p>
          <a:p>
            <a:pPr indent="0" lvl="0" marL="0" rtl="0" algn="l">
              <a:spcBef>
                <a:spcPts val="1200"/>
              </a:spcBef>
              <a:spcAft>
                <a:spcPts val="0"/>
              </a:spcAft>
              <a:buNone/>
            </a:pPr>
            <a:r>
              <a:rPr lang="en"/>
              <a:t>“You shall not eat it, </a:t>
            </a:r>
            <a:r>
              <a:rPr b="1" lang="en"/>
              <a:t>nor shall you touch it</a:t>
            </a:r>
            <a:r>
              <a:rPr lang="en"/>
              <a:t>, lest you die.”</a:t>
            </a:r>
            <a:endParaRPr/>
          </a:p>
          <a:p>
            <a:pPr indent="0" lvl="0" marL="0" rtl="0" algn="l">
              <a:spcBef>
                <a:spcPts val="1200"/>
              </a:spcBef>
              <a:spcAft>
                <a:spcPts val="0"/>
              </a:spcAft>
              <a:buNone/>
            </a:pPr>
            <a:r>
              <a:rPr lang="en"/>
              <a:t>This is precisely what we see in the Talmud. Don’t turn on a light switch on Sabbath that is work. Don’t combine cheese with any meat, as that is boiling a kid in </a:t>
            </a:r>
            <a:r>
              <a:rPr lang="en"/>
              <a:t>its</a:t>
            </a:r>
            <a:r>
              <a:rPr lang="en"/>
              <a:t> mother’s milk. </a:t>
            </a:r>
            <a:endParaRPr/>
          </a:p>
          <a:p>
            <a:pPr indent="0" lvl="0" marL="0" rtl="0" algn="l">
              <a:spcBef>
                <a:spcPts val="1200"/>
              </a:spcBef>
              <a:spcAft>
                <a:spcPts val="1200"/>
              </a:spcAft>
              <a:buNone/>
            </a:pPr>
            <a:r>
              <a:rPr lang="en"/>
              <a:t>It is also what we see the NT Jesus doing, especially in Matthew and Luke. “Do not be angry, as to call someone a fool is to put you in danger of hell fire”, ”Do not look on a woman with lust, as </a:t>
            </a:r>
            <a:r>
              <a:rPr lang="en"/>
              <a:t>that</a:t>
            </a:r>
            <a:r>
              <a:rPr lang="en"/>
              <a:t> is adultery”. These are not violations of Torah - these are fences Jesus is constructing around Torah to keep you from breaking Torah. It’s hyper </a:t>
            </a:r>
            <a:r>
              <a:rPr lang="en"/>
              <a:t>asceticism</a:t>
            </a:r>
            <a:r>
              <a:rPr lang="en"/>
              <a:t>, even worse than what is in Talmud.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6"/>
          <p:cNvSpPr txBox="1"/>
          <p:nvPr>
            <p:ph type="title"/>
          </p:nvPr>
        </p:nvSpPr>
        <p:spPr>
          <a:xfrm>
            <a:off x="2400250" y="3473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Punishment for sin, death?</a:t>
            </a:r>
            <a:endParaRPr/>
          </a:p>
        </p:txBody>
      </p:sp>
      <p:sp>
        <p:nvSpPr>
          <p:cNvPr id="91" name="Google Shape;91;p16"/>
          <p:cNvSpPr txBox="1"/>
          <p:nvPr>
            <p:ph idx="1" type="body"/>
          </p:nvPr>
        </p:nvSpPr>
        <p:spPr>
          <a:xfrm>
            <a:off x="2410100" y="757575"/>
            <a:ext cx="6321600" cy="38946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I’ve found that even though many of those I’ve been around - see that Paul is teaching a very </a:t>
            </a:r>
            <a:r>
              <a:rPr lang="en"/>
              <a:t>different</a:t>
            </a:r>
            <a:r>
              <a:rPr lang="en"/>
              <a:t> message than the gospels of the NT, they hold on to a Pauline view of sin and death. They cling to that Romans 5 view of sin and the purpose of Christ’s death on the cross. The consequence of Adam’s sin was </a:t>
            </a:r>
            <a:r>
              <a:rPr i="1" lang="en"/>
              <a:t>certainly</a:t>
            </a:r>
            <a:r>
              <a:rPr lang="en"/>
              <a:t> death, but that was not the </a:t>
            </a:r>
            <a:r>
              <a:rPr b="1" lang="en"/>
              <a:t>direct</a:t>
            </a:r>
            <a:r>
              <a:rPr lang="en"/>
              <a:t> consequence. And I’ve seen a lot of varying views. Because he didn’t live a thousand years, he did “certainly die that day”. I understand - but look at the simplicity of the text. When is the first of the year?</a:t>
            </a:r>
            <a:endParaRPr/>
          </a:p>
          <a:p>
            <a:pPr indent="0" lvl="0" marL="0" rtl="0" algn="just">
              <a:spcBef>
                <a:spcPts val="1200"/>
              </a:spcBef>
              <a:spcAft>
                <a:spcPts val="0"/>
              </a:spcAft>
              <a:buNone/>
            </a:pPr>
            <a:r>
              <a:rPr b="1" lang="en" sz="850">
                <a:solidFill>
                  <a:srgbClr val="001320"/>
                </a:solidFill>
                <a:highlight>
                  <a:srgbClr val="FFFFFF"/>
                </a:highlight>
                <a:latin typeface="Roboto"/>
                <a:ea typeface="Roboto"/>
                <a:cs typeface="Roboto"/>
                <a:sym typeface="Roboto"/>
              </a:rPr>
              <a:t>Lev 23:5 </a:t>
            </a:r>
            <a:r>
              <a:rPr lang="en" sz="1200">
                <a:solidFill>
                  <a:srgbClr val="001320"/>
                </a:solidFill>
                <a:highlight>
                  <a:srgbClr val="FFFFFF"/>
                </a:highlight>
                <a:latin typeface="Roboto"/>
                <a:ea typeface="Roboto"/>
                <a:cs typeface="Roboto"/>
                <a:sym typeface="Roboto"/>
              </a:rPr>
              <a:t>The Passover to the LORD begins at twilight on the </a:t>
            </a:r>
            <a:r>
              <a:rPr b="1" lang="en" sz="1200">
                <a:solidFill>
                  <a:srgbClr val="001320"/>
                </a:solidFill>
                <a:highlight>
                  <a:srgbClr val="FFFFFF"/>
                </a:highlight>
                <a:latin typeface="Roboto"/>
                <a:ea typeface="Roboto"/>
                <a:cs typeface="Roboto"/>
                <a:sym typeface="Roboto"/>
              </a:rPr>
              <a:t>fourteenth day of the</a:t>
            </a:r>
            <a:r>
              <a:rPr b="1" lang="en" sz="1200" u="sng">
                <a:solidFill>
                  <a:srgbClr val="001320"/>
                </a:solidFill>
                <a:highlight>
                  <a:srgbClr val="FFFFFF"/>
                </a:highlight>
                <a:latin typeface="Roboto"/>
                <a:ea typeface="Roboto"/>
                <a:cs typeface="Roboto"/>
                <a:sym typeface="Roboto"/>
              </a:rPr>
              <a:t> first month</a:t>
            </a:r>
            <a:r>
              <a:rPr b="1" lang="en" sz="1200">
                <a:solidFill>
                  <a:srgbClr val="001320"/>
                </a:solidFill>
                <a:highlight>
                  <a:srgbClr val="FFFFFF"/>
                </a:highlight>
                <a:latin typeface="Roboto"/>
                <a:ea typeface="Roboto"/>
                <a:cs typeface="Roboto"/>
                <a:sym typeface="Roboto"/>
              </a:rPr>
              <a:t>.</a:t>
            </a:r>
            <a:endParaRPr b="1" sz="1200">
              <a:solidFill>
                <a:srgbClr val="001320"/>
              </a:solidFill>
              <a:highlight>
                <a:srgbClr val="FFFFFF"/>
              </a:highlight>
              <a:latin typeface="Roboto"/>
              <a:ea typeface="Roboto"/>
              <a:cs typeface="Roboto"/>
              <a:sym typeface="Roboto"/>
            </a:endParaRPr>
          </a:p>
          <a:p>
            <a:pPr indent="0" lvl="0" marL="0" rtl="0" algn="just">
              <a:spcBef>
                <a:spcPts val="0"/>
              </a:spcBef>
              <a:spcAft>
                <a:spcPts val="0"/>
              </a:spcAft>
              <a:buNone/>
            </a:pPr>
            <a:r>
              <a:t/>
            </a:r>
            <a:endParaRPr sz="1200">
              <a:solidFill>
                <a:srgbClr val="001320"/>
              </a:solidFill>
              <a:highlight>
                <a:srgbClr val="FFFFFF"/>
              </a:highlight>
              <a:latin typeface="Roboto"/>
              <a:ea typeface="Roboto"/>
              <a:cs typeface="Roboto"/>
              <a:sym typeface="Roboto"/>
            </a:endParaRPr>
          </a:p>
          <a:p>
            <a:pPr indent="0" lvl="0" marL="0" rtl="0" algn="l">
              <a:spcBef>
                <a:spcPts val="0"/>
              </a:spcBef>
              <a:spcAft>
                <a:spcPts val="1200"/>
              </a:spcAft>
              <a:buNone/>
            </a:pPr>
            <a:r>
              <a:rPr lang="en"/>
              <a:t>The first month had already started. In fact we know from Genesis 2:3 - that the first week of creation had already gone by. What we don’t have a clear idea of is how much time passed between this and the sin of Adam and Eve. I believe (and this is my opinion) the sin was on the </a:t>
            </a:r>
            <a:r>
              <a:rPr lang="en"/>
              <a:t>fourteenth</a:t>
            </a:r>
            <a:r>
              <a:rPr lang="en"/>
              <a:t> day of the first month, and that lamb killed was the first passover. That is why the angel of death mercifully passed over them.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type="title"/>
          </p:nvPr>
        </p:nvSpPr>
        <p:spPr>
          <a:xfrm>
            <a:off x="2400250" y="3473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soul who sins, it shall die?</a:t>
            </a:r>
            <a:endParaRPr/>
          </a:p>
        </p:txBody>
      </p:sp>
      <p:sp>
        <p:nvSpPr>
          <p:cNvPr id="97" name="Google Shape;97;p17"/>
          <p:cNvSpPr txBox="1"/>
          <p:nvPr>
            <p:ph idx="1" type="body"/>
          </p:nvPr>
        </p:nvSpPr>
        <p:spPr>
          <a:xfrm>
            <a:off x="2410100" y="757575"/>
            <a:ext cx="6321600" cy="39393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lang="en"/>
              <a:t>[Exo 32:33 NKJV] And the LORD said to Moses, "Whoever has sinned against Me, I will blot him out of My book.</a:t>
            </a:r>
            <a:endParaRPr/>
          </a:p>
          <a:p>
            <a:pPr indent="0" lvl="0" marL="0" rtl="0" algn="l">
              <a:spcBef>
                <a:spcPts val="1200"/>
              </a:spcBef>
              <a:spcAft>
                <a:spcPts val="0"/>
              </a:spcAft>
              <a:buNone/>
            </a:pPr>
            <a:r>
              <a:rPr lang="en"/>
              <a:t>This is a true statement - but we need to understand mercy. Father gives us a choice when he reveals our sin. (and this is why Adam and Eve still died, but he had mercy on the seed of them) </a:t>
            </a:r>
            <a:endParaRPr/>
          </a:p>
          <a:p>
            <a:pPr indent="-308610" lvl="0" marL="457200" rtl="0" algn="l">
              <a:spcBef>
                <a:spcPts val="1200"/>
              </a:spcBef>
              <a:spcAft>
                <a:spcPts val="0"/>
              </a:spcAft>
              <a:buSzPct val="100000"/>
              <a:buAutoNum type="arabicParenR"/>
            </a:pPr>
            <a:r>
              <a:rPr lang="en"/>
              <a:t>Repent and turn back to His ways.</a:t>
            </a:r>
            <a:endParaRPr/>
          </a:p>
          <a:p>
            <a:pPr indent="0" lvl="0" marL="0" rtl="0" algn="l">
              <a:spcBef>
                <a:spcPts val="1200"/>
              </a:spcBef>
              <a:spcAft>
                <a:spcPts val="0"/>
              </a:spcAft>
              <a:buNone/>
            </a:pPr>
            <a:r>
              <a:rPr lang="en"/>
              <a:t>[Eze 18:19 NKJV] "Yet you say, 'Why should the son not bear the guilt of the father?' Because the son has done what is lawful and right, and has kept all My statutes and observed them, he shall surely live.</a:t>
            </a:r>
            <a:endParaRPr/>
          </a:p>
          <a:p>
            <a:pPr indent="-308610" lvl="0" marL="457200" rtl="0" algn="l">
              <a:spcBef>
                <a:spcPts val="1200"/>
              </a:spcBef>
              <a:spcAft>
                <a:spcPts val="0"/>
              </a:spcAft>
              <a:buSzPct val="100000"/>
              <a:buAutoNum type="arabicParenR"/>
            </a:pPr>
            <a:r>
              <a:rPr lang="en"/>
              <a:t>Continue in sin and die.</a:t>
            </a:r>
            <a:endParaRPr/>
          </a:p>
          <a:p>
            <a:pPr indent="0" lvl="0" marL="0" rtl="0" algn="l">
              <a:spcBef>
                <a:spcPts val="1200"/>
              </a:spcBef>
              <a:spcAft>
                <a:spcPts val="0"/>
              </a:spcAft>
              <a:buNone/>
            </a:pPr>
            <a:r>
              <a:rPr lang="en"/>
              <a:t>[Deu 29:20 NKJV] The LORD would not spare him; for then the anger of the LORD and His jealousy would burn against that man, and every curse that is written in this book would settle on him, and the LORD would blot out his name from under heaven.</a:t>
            </a:r>
            <a:endParaRPr/>
          </a:p>
          <a:p>
            <a:pPr indent="0" lvl="0" marL="0" rtl="0" algn="l">
              <a:spcBef>
                <a:spcPts val="1200"/>
              </a:spcBef>
              <a:spcAft>
                <a:spcPts val="1200"/>
              </a:spcAft>
              <a:buNone/>
            </a:pPr>
            <a:r>
              <a:rPr lang="en"/>
              <a:t>We are not guilty of Adam’s sin - this is not the curse passed on to us.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title"/>
          </p:nvPr>
        </p:nvSpPr>
        <p:spPr>
          <a:xfrm>
            <a:off x="2400250" y="3473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Does Adam’s sin affect us?</a:t>
            </a:r>
            <a:endParaRPr/>
          </a:p>
        </p:txBody>
      </p:sp>
      <p:sp>
        <p:nvSpPr>
          <p:cNvPr id="103" name="Google Shape;103;p18"/>
          <p:cNvSpPr txBox="1"/>
          <p:nvPr>
            <p:ph idx="1" type="body"/>
          </p:nvPr>
        </p:nvSpPr>
        <p:spPr>
          <a:xfrm>
            <a:off x="2410100" y="885775"/>
            <a:ext cx="6321600" cy="37125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n"/>
              <a:t>When Yahweh came and asked Adam and Eve and the Serpent why they sinned - who does he start with? With Adam. He is the pinnacle of God’s creation, and was given charge (dominion) over the Earth and his little family. I believe he was likely standing right next to Eve when nachash tempted her. He should have stepped on the serpent’s head and sent him to the pit. Instead in his weakness he let nachash tempt Eve, then let Eve tempt Him. In Adam’s weakness, when he was asked, “why did you do this?” - he didn’t take personal responsibility, he blamed the woman for his sin. The woman does the same thing. She blames the serpent, the nachash for her sin. She refused to take on personal responsibility for choosing sin over obedience. (If anything, this is “original sin” that we all must overcome - the desire to deflect responsibility for our sin to someone else. This is the basis of Christianity, to deflect the responsibility of your sin to the God/Man Jesus.)</a:t>
            </a:r>
            <a:endParaRPr/>
          </a:p>
          <a:p>
            <a:pPr indent="0" lvl="0" marL="0" rtl="0" algn="l">
              <a:spcBef>
                <a:spcPts val="1200"/>
              </a:spcBef>
              <a:spcAft>
                <a:spcPts val="1200"/>
              </a:spcAft>
              <a:buNone/>
            </a:pPr>
            <a:r>
              <a:rPr lang="en"/>
              <a:t>After determining who was responsible - God begins the curses, and note he doesn’t ask the serpent.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type="title"/>
          </p:nvPr>
        </p:nvSpPr>
        <p:spPr>
          <a:xfrm>
            <a:off x="2400250" y="3473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Does Adam’s curse affect us</a:t>
            </a:r>
            <a:endParaRPr/>
          </a:p>
        </p:txBody>
      </p:sp>
      <p:sp>
        <p:nvSpPr>
          <p:cNvPr id="109" name="Google Shape;109;p19"/>
          <p:cNvSpPr txBox="1"/>
          <p:nvPr>
            <p:ph idx="1" type="body"/>
          </p:nvPr>
        </p:nvSpPr>
        <p:spPr>
          <a:xfrm>
            <a:off x="2410100" y="833775"/>
            <a:ext cx="6321600" cy="3833400"/>
          </a:xfrm>
          <a:prstGeom prst="rect">
            <a:avLst/>
          </a:prstGeom>
        </p:spPr>
        <p:txBody>
          <a:bodyPr anchorCtr="0" anchor="t" bIns="91425" lIns="91425" spcFirstLastPara="1" rIns="91425" wrap="square" tIns="91425">
            <a:normAutofit fontScale="47500" lnSpcReduction="20000"/>
          </a:bodyPr>
          <a:lstStyle/>
          <a:p>
            <a:pPr indent="0" lvl="0" marL="0" rtl="0" algn="l">
              <a:spcBef>
                <a:spcPts val="0"/>
              </a:spcBef>
              <a:spcAft>
                <a:spcPts val="0"/>
              </a:spcAft>
              <a:buNone/>
            </a:pPr>
            <a:r>
              <a:rPr lang="en"/>
              <a:t>God’s curses go in reverse order of the questioning. This structure happens throughout the Tanakh. It’s called a “Chiasm” - He starts and ends with Adam and pivots on the Serpent. The serpent is cursed to eat dust, the woman’s curse affects her womb, and that the man should remain her head. She will desire (same word used of sin and Cain) to rule over Adam but he will remain her head.</a:t>
            </a:r>
            <a:endParaRPr/>
          </a:p>
          <a:p>
            <a:pPr indent="0" lvl="0" marL="0" rtl="0" algn="l">
              <a:spcBef>
                <a:spcPts val="1200"/>
              </a:spcBef>
              <a:spcAft>
                <a:spcPts val="0"/>
              </a:spcAft>
              <a:buNone/>
            </a:pPr>
            <a:r>
              <a:rPr lang="en"/>
              <a:t>This portion of the curse still affects men today - they let the “desire” of the woman rule over them. They let the woman be the head.</a:t>
            </a:r>
            <a:endParaRPr/>
          </a:p>
          <a:p>
            <a:pPr indent="0" lvl="0" marL="0" rtl="0" algn="l">
              <a:spcBef>
                <a:spcPts val="1200"/>
              </a:spcBef>
              <a:spcAft>
                <a:spcPts val="0"/>
              </a:spcAft>
              <a:buNone/>
            </a:pPr>
            <a:r>
              <a:rPr lang="en"/>
              <a:t>But the important bit, is the curse over Adam - the one that Christianity believes imputed sin to all of mankind. What did God curse?</a:t>
            </a:r>
            <a:endParaRPr/>
          </a:p>
          <a:p>
            <a:pPr indent="0" lvl="0" marL="0" rtl="0" algn="l">
              <a:spcBef>
                <a:spcPts val="1200"/>
              </a:spcBef>
              <a:spcAft>
                <a:spcPts val="0"/>
              </a:spcAft>
              <a:buNone/>
            </a:pPr>
            <a:r>
              <a:rPr lang="en"/>
              <a:t>[Gen 3:17 NKJV] Then to Adam He said, "Because you have heeded the voice of your wife, and have eaten from the tree of which I commanded you, saying, 'You shall not eat of it': "</a:t>
            </a:r>
            <a:r>
              <a:rPr b="1" lang="en"/>
              <a:t>Cursed [is] the ground for your sake</a:t>
            </a:r>
            <a:r>
              <a:rPr lang="en"/>
              <a:t>; In toil you shall eat [of] it All the days of your life. </a:t>
            </a:r>
            <a:endParaRPr/>
          </a:p>
          <a:p>
            <a:pPr indent="0" lvl="0" marL="0" rtl="0" algn="l">
              <a:spcBef>
                <a:spcPts val="1200"/>
              </a:spcBef>
              <a:spcAft>
                <a:spcPts val="0"/>
              </a:spcAft>
              <a:buNone/>
            </a:pPr>
            <a:r>
              <a:rPr lang="en"/>
              <a:t>The </a:t>
            </a:r>
            <a:r>
              <a:rPr i="1" lang="en"/>
              <a:t>ground</a:t>
            </a:r>
            <a:r>
              <a:rPr lang="en"/>
              <a:t> was cursed not Adam or his children. We do not inherit a sinful nature, we don’t inherit the guilt for his sin. When the Tanakh speaks of the execution of sin being death, it means the death of your soul - not your body. When the Tanakh speaks of the tangible punishment for sin, it always is the people, the land and the blessings being revoked. The ground is cursed for Adam’s sake and will no longer (until the end) bear food for us on it’s own as it did in the garden. </a:t>
            </a:r>
            <a:endParaRPr/>
          </a:p>
          <a:p>
            <a:pPr indent="0" lvl="0" marL="0" rtl="0" algn="l">
              <a:spcBef>
                <a:spcPts val="1200"/>
              </a:spcBef>
              <a:spcAft>
                <a:spcPts val="0"/>
              </a:spcAft>
              <a:buNone/>
            </a:pPr>
            <a:r>
              <a:rPr lang="en"/>
              <a:t>Does this curse affect us? </a:t>
            </a:r>
            <a:endParaRPr/>
          </a:p>
          <a:p>
            <a:pPr indent="0" lvl="0" marL="0" rtl="0" algn="l">
              <a:spcBef>
                <a:spcPts val="1200"/>
              </a:spcBef>
              <a:spcAft>
                <a:spcPts val="0"/>
              </a:spcAft>
              <a:buNone/>
            </a:pPr>
            <a:r>
              <a:rPr lang="en"/>
              <a:t>Absolutely - we still must work six days and rest one, to eat </a:t>
            </a:r>
            <a:r>
              <a:rPr lang="en"/>
              <a:t>anything</a:t>
            </a:r>
            <a:r>
              <a:rPr lang="en"/>
              <a:t>. But we </a:t>
            </a:r>
            <a:r>
              <a:rPr i="1" lang="en"/>
              <a:t>DO NOT</a:t>
            </a:r>
            <a:r>
              <a:rPr lang="en"/>
              <a:t> inherit his sin or his punishment.,</a:t>
            </a:r>
            <a:endParaRPr/>
          </a:p>
          <a:p>
            <a:pPr indent="0" lvl="0" marL="0" rtl="0" algn="l">
              <a:spcBef>
                <a:spcPts val="1200"/>
              </a:spcBef>
              <a:spcAft>
                <a:spcPts val="1200"/>
              </a:spcAft>
              <a:buNone/>
            </a:pPr>
            <a:r>
              <a:rPr lang="en"/>
              <a:t>[Deu 24:16 NKJV] Fathers shall not be put to death for [their] children, nor shall children be put to death for [their] fathers; a person shall be put to death for his own sin.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0"/>
          <p:cNvSpPr txBox="1"/>
          <p:nvPr>
            <p:ph type="title"/>
          </p:nvPr>
        </p:nvSpPr>
        <p:spPr>
          <a:xfrm>
            <a:off x="2400250" y="3473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Your flesh isn’t cursed, it’s God’s</a:t>
            </a:r>
            <a:endParaRPr/>
          </a:p>
        </p:txBody>
      </p:sp>
      <p:sp>
        <p:nvSpPr>
          <p:cNvPr id="115" name="Google Shape;115;p20"/>
          <p:cNvSpPr txBox="1"/>
          <p:nvPr>
            <p:ph idx="1" type="body"/>
          </p:nvPr>
        </p:nvSpPr>
        <p:spPr>
          <a:xfrm>
            <a:off x="2410100" y="1062375"/>
            <a:ext cx="6321600" cy="35751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t>God created us all in our mother’s womb - and it’s blasphemy to call what God created unholy, or “cursed”. As we saw in that prior passage - we do not bear responsibility for Adam (or our own direct Father) and his sin. This however does not mean, that we are not </a:t>
            </a:r>
            <a:r>
              <a:rPr i="1" lang="en"/>
              <a:t>responsible to warn them.</a:t>
            </a:r>
            <a:endParaRPr/>
          </a:p>
          <a:p>
            <a:pPr indent="0" lvl="0" marL="0" rtl="0" algn="l">
              <a:spcBef>
                <a:spcPts val="1200"/>
              </a:spcBef>
              <a:spcAft>
                <a:spcPts val="0"/>
              </a:spcAft>
              <a:buNone/>
            </a:pPr>
            <a:r>
              <a:rPr lang="en"/>
              <a:t>[Eze 33:2-6 NKJV] "Son of man, speak to the children of your people, and say to them: 'When I bring the sword upon a land, and the people of the land take a man from their territory and make him their watchman, 'when he sees the sword coming upon the land, if he blows the trumpet and warns the people,  'then whoever hears the sound of the trumpet and does not take warning, if the sword comes and takes him away, his blood shall be on his [own] head. 'He heard the sound of the trumpet, but did not take warning; his blood shall be upon himself. But he who takes warning will save his life. 'But if the watchman sees the sword coming and does not blow the trumpet, and the people are not warned, and the sword comes and takes [any] person from among them, he is taken away in his iniquity; but his blood I will require at the watchman's hand.'</a:t>
            </a:r>
            <a:endParaRPr/>
          </a:p>
          <a:p>
            <a:pPr indent="0" lvl="0" marL="0" rtl="0" algn="l">
              <a:spcBef>
                <a:spcPts val="1200"/>
              </a:spcBef>
              <a:spcAft>
                <a:spcPts val="1200"/>
              </a:spcAft>
              <a:buNone/>
            </a:pPr>
            <a:r>
              <a:rPr lang="en"/>
              <a:t>If we do not warn them of the coming judgment by </a:t>
            </a:r>
            <a:r>
              <a:rPr i="1" lang="en"/>
              <a:t>our deeds</a:t>
            </a:r>
            <a:r>
              <a:rPr lang="en"/>
              <a:t>, we will be responsible for their blood. (which again I believe is also an allusion to Jesus)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1"/>
          <p:cNvSpPr txBox="1"/>
          <p:nvPr>
            <p:ph type="title"/>
          </p:nvPr>
        </p:nvSpPr>
        <p:spPr>
          <a:xfrm>
            <a:off x="2400250" y="3473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 we have an inclination toward sin?</a:t>
            </a:r>
            <a:endParaRPr/>
          </a:p>
        </p:txBody>
      </p:sp>
      <p:sp>
        <p:nvSpPr>
          <p:cNvPr id="121" name="Google Shape;121;p21"/>
          <p:cNvSpPr txBox="1"/>
          <p:nvPr>
            <p:ph idx="1" type="body"/>
          </p:nvPr>
        </p:nvSpPr>
        <p:spPr>
          <a:xfrm>
            <a:off x="2410100" y="1062375"/>
            <a:ext cx="6321600" cy="3627000"/>
          </a:xfrm>
          <a:prstGeom prst="rect">
            <a:avLst/>
          </a:prstGeom>
        </p:spPr>
        <p:txBody>
          <a:bodyPr anchorCtr="0" anchor="t" bIns="91425" lIns="91425" spcFirstLastPara="1" rIns="91425" wrap="square" tIns="91425">
            <a:normAutofit fontScale="70000"/>
          </a:bodyPr>
          <a:lstStyle/>
          <a:p>
            <a:pPr indent="0" lvl="0" marL="0" rtl="0" algn="l">
              <a:spcBef>
                <a:spcPts val="0"/>
              </a:spcBef>
              <a:spcAft>
                <a:spcPts val="0"/>
              </a:spcAft>
              <a:buNone/>
            </a:pPr>
            <a:r>
              <a:rPr lang="en"/>
              <a:t>If there was a nature bent toward sin, would God be just in telling Cain that he can rule over his sinful desires? The fact is if Cain had a sinful nature, there’s no way he could do well, there’s no way he could rule over it. He was compelled to sin, and without God’s divine help he could not help but sin. (and some Christians believe even with Jesus, you still cannot help but sin. They are perpetually in bondage the Romans 7 man.)</a:t>
            </a:r>
            <a:endParaRPr/>
          </a:p>
          <a:p>
            <a:pPr indent="0" lvl="0" marL="0" rtl="0" algn="l">
              <a:spcBef>
                <a:spcPts val="1200"/>
              </a:spcBef>
              <a:spcAft>
                <a:spcPts val="0"/>
              </a:spcAft>
              <a:buNone/>
            </a:pPr>
            <a:r>
              <a:rPr lang="en"/>
              <a:t>God is not a man that he would lie, nor the </a:t>
            </a:r>
            <a:r>
              <a:rPr i="1" lang="en"/>
              <a:t>son of man</a:t>
            </a:r>
            <a:r>
              <a:rPr lang="en"/>
              <a:t> that he need repent. (Num 23:19)</a:t>
            </a:r>
            <a:endParaRPr/>
          </a:p>
          <a:p>
            <a:pPr indent="0" lvl="0" marL="0" rtl="0" algn="l">
              <a:spcBef>
                <a:spcPts val="1200"/>
              </a:spcBef>
              <a:spcAft>
                <a:spcPts val="1200"/>
              </a:spcAft>
              <a:buNone/>
            </a:pPr>
            <a:r>
              <a:rPr lang="en"/>
              <a:t>Cain could do well. Cain could have ruled over the </a:t>
            </a:r>
            <a:r>
              <a:rPr lang="en"/>
              <a:t>sinful</a:t>
            </a:r>
            <a:r>
              <a:rPr lang="en"/>
              <a:t> desires beating on the door of his heart. However, I do believe Cain (like all of us) face what “science” calls entropy. This desire not to work, which drives socialism. This the Jews call a “sinful inclination”. After the deed, we see it in full force. God asked Cain why he stole the life of his brother, and Cain replied that he was not </a:t>
            </a:r>
            <a:r>
              <a:rPr i="1" lang="en"/>
              <a:t>responsible</a:t>
            </a:r>
            <a:r>
              <a:rPr lang="en"/>
              <a:t> for it. This deferment  of responsibility is our sinful inclination, to </a:t>
            </a:r>
            <a:r>
              <a:rPr i="1" lang="en"/>
              <a:t>avoid</a:t>
            </a:r>
            <a:r>
              <a:rPr lang="en"/>
              <a:t> what will cost us. Cain couldn’t bear the punishment he knew God would lay on him and tells us that. But we also see that God again, </a:t>
            </a:r>
            <a:r>
              <a:rPr i="1" lang="en" u="sng"/>
              <a:t>cursed the ground</a:t>
            </a:r>
            <a:r>
              <a:rPr lang="en"/>
              <a:t> that Cain would work. That his toils would bear no fruit for him to eat.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type="title"/>
          </p:nvPr>
        </p:nvSpPr>
        <p:spPr>
          <a:xfrm>
            <a:off x="2400250" y="3473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flood of sin</a:t>
            </a:r>
            <a:endParaRPr/>
          </a:p>
        </p:txBody>
      </p:sp>
      <p:sp>
        <p:nvSpPr>
          <p:cNvPr id="127" name="Google Shape;127;p22"/>
          <p:cNvSpPr txBox="1"/>
          <p:nvPr>
            <p:ph idx="1" type="body"/>
          </p:nvPr>
        </p:nvSpPr>
        <p:spPr>
          <a:xfrm>
            <a:off x="2410100" y="757575"/>
            <a:ext cx="6321600" cy="39318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lang="en"/>
              <a:t>[Gen 6:17 NKJV] And behold, I Myself am bringing floodwaters on the earth, to destroy from under heaven all flesh in which [is] the breath of life; everything that [is] on the earth shall die.</a:t>
            </a:r>
            <a:endParaRPr/>
          </a:p>
          <a:p>
            <a:pPr indent="0" lvl="0" marL="0" rtl="0" algn="l">
              <a:spcBef>
                <a:spcPts val="1200"/>
              </a:spcBef>
              <a:spcAft>
                <a:spcPts val="0"/>
              </a:spcAft>
              <a:buNone/>
            </a:pPr>
            <a:r>
              <a:rPr lang="en"/>
              <a:t>The purpose of the flood was </a:t>
            </a:r>
            <a:r>
              <a:rPr i="1" lang="en"/>
              <a:t>not only</a:t>
            </a:r>
            <a:r>
              <a:rPr lang="en"/>
              <a:t> to destroy the wicked and by his mercy save mankind through Noah - it was to </a:t>
            </a:r>
            <a:r>
              <a:rPr i="1" lang="en"/>
              <a:t>cleanse the defiled Earth</a:t>
            </a:r>
            <a:r>
              <a:rPr lang="en"/>
              <a:t>.</a:t>
            </a:r>
            <a:endParaRPr/>
          </a:p>
          <a:p>
            <a:pPr indent="0" lvl="0" marL="0" rtl="0" algn="l">
              <a:spcBef>
                <a:spcPts val="1200"/>
              </a:spcBef>
              <a:spcAft>
                <a:spcPts val="0"/>
              </a:spcAft>
              <a:buNone/>
            </a:pPr>
            <a:r>
              <a:rPr lang="en"/>
              <a:t>[Gen 8:21 NKJV] And the LORD smelled a soothing aroma. Then the LORD said in His heart, "</a:t>
            </a:r>
            <a:r>
              <a:rPr b="1" lang="en"/>
              <a:t>I will never again curse the ground for man's sake</a:t>
            </a:r>
            <a:r>
              <a:rPr lang="en"/>
              <a:t>, although the imagination of man's heart [is] evil from his youth; nor will I again destroy every living thing as I have done.</a:t>
            </a:r>
            <a:endParaRPr/>
          </a:p>
          <a:p>
            <a:pPr indent="0" lvl="0" marL="0" rtl="0" algn="l">
              <a:spcBef>
                <a:spcPts val="1200"/>
              </a:spcBef>
              <a:spcAft>
                <a:spcPts val="0"/>
              </a:spcAft>
              <a:buNone/>
            </a:pPr>
            <a:r>
              <a:rPr lang="en"/>
              <a:t>If we connect this too Cain, it likely got </a:t>
            </a:r>
            <a:r>
              <a:rPr i="1" lang="en"/>
              <a:t>so bad</a:t>
            </a:r>
            <a:r>
              <a:rPr lang="en"/>
              <a:t> that no one was able to grow food any longer. Lamech who killed a man, took on the curse of Cain to a multiplication. 70 times 7 - and the ground was </a:t>
            </a:r>
            <a:r>
              <a:rPr lang="en"/>
              <a:t>also</a:t>
            </a:r>
            <a:r>
              <a:rPr lang="en"/>
              <a:t> cursed for his sake, just as Yah said. That’s why Yehowah pronounced a new way to deal with murder.</a:t>
            </a:r>
            <a:endParaRPr/>
          </a:p>
          <a:p>
            <a:pPr indent="0" lvl="0" marL="0" rtl="0" algn="l">
              <a:spcBef>
                <a:spcPts val="1200"/>
              </a:spcBef>
              <a:spcAft>
                <a:spcPts val="0"/>
              </a:spcAft>
              <a:buNone/>
            </a:pPr>
            <a:r>
              <a:rPr lang="en"/>
              <a:t>[Gen 9:5 NKJV] Surely for your lifeblood I will demand [a reckoning]; from the hand of every beast I will require it, and from the hand of man. From the hand of every man's brother I will require the life of man.</a:t>
            </a:r>
            <a:endParaRPr/>
          </a:p>
          <a:p>
            <a:pPr indent="0" lvl="0" marL="0" rtl="0" algn="l">
              <a:spcBef>
                <a:spcPts val="1200"/>
              </a:spcBef>
              <a:spcAft>
                <a:spcPts val="1200"/>
              </a:spcAft>
              <a:buNone/>
            </a:pPr>
            <a:r>
              <a:rPr lang="en"/>
              <a:t>The men who take the life of men, will have their life ended by men so the ground will not be cursed any longer. It’s also important to note, (and this again is </a:t>
            </a:r>
            <a:r>
              <a:rPr i="1" lang="en"/>
              <a:t>my</a:t>
            </a:r>
            <a:r>
              <a:rPr lang="en"/>
              <a:t> interpretation) that I believe he’s talking about the </a:t>
            </a:r>
            <a:r>
              <a:rPr i="1" lang="en"/>
              <a:t>whole earth</a:t>
            </a:r>
            <a:r>
              <a:rPr lang="en"/>
              <a:t> - not that the ground or land will no longer be cursed from sin, as that happens still.</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3"/>
          <p:cNvSpPr txBox="1"/>
          <p:nvPr>
            <p:ph type="title"/>
          </p:nvPr>
        </p:nvSpPr>
        <p:spPr>
          <a:xfrm>
            <a:off x="2400250" y="3473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curse of Canaan</a:t>
            </a:r>
            <a:endParaRPr/>
          </a:p>
        </p:txBody>
      </p:sp>
      <p:sp>
        <p:nvSpPr>
          <p:cNvPr id="133" name="Google Shape;133;p23"/>
          <p:cNvSpPr txBox="1"/>
          <p:nvPr>
            <p:ph idx="1" type="body"/>
          </p:nvPr>
        </p:nvSpPr>
        <p:spPr>
          <a:xfrm>
            <a:off x="2410100" y="757575"/>
            <a:ext cx="6321600" cy="39096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Now, it would be incomplete of this study to not also discuss the </a:t>
            </a:r>
            <a:r>
              <a:rPr i="1" lang="en"/>
              <a:t>exceptions</a:t>
            </a:r>
            <a:r>
              <a:rPr lang="en"/>
              <a:t> where a family or tribe, </a:t>
            </a:r>
            <a:r>
              <a:rPr i="1" lang="en"/>
              <a:t>is</a:t>
            </a:r>
            <a:r>
              <a:rPr lang="en"/>
              <a:t> cursed. It’s important to note, that the tribe of Israel (Jacob) was never cursed.</a:t>
            </a:r>
            <a:endParaRPr/>
          </a:p>
          <a:p>
            <a:pPr indent="0" lvl="0" marL="0" rtl="0" algn="l">
              <a:spcBef>
                <a:spcPts val="1200"/>
              </a:spcBef>
              <a:spcAft>
                <a:spcPts val="0"/>
              </a:spcAft>
              <a:buClr>
                <a:schemeClr val="dk2"/>
              </a:buClr>
              <a:buSzPct val="61111"/>
              <a:buFont typeface="Arial"/>
              <a:buNone/>
            </a:pPr>
            <a:r>
              <a:rPr lang="en"/>
              <a:t>[Gen 9:25-27 CSB] he said: Canaan is cursed. He will be the lowest of slaves to his brothers.  He also said: Blessed be the LORD, the God of Shem; Let Canaan be Shem's slave.  Let God extend Japheth; let Japheth dwell in the tents of Shem; let Canaan be Shem's slave.</a:t>
            </a:r>
            <a:endParaRPr/>
          </a:p>
          <a:p>
            <a:pPr indent="0" lvl="0" marL="0" rtl="0" algn="l">
              <a:spcBef>
                <a:spcPts val="1200"/>
              </a:spcBef>
              <a:spcAft>
                <a:spcPts val="1200"/>
              </a:spcAft>
              <a:buNone/>
            </a:pPr>
            <a:r>
              <a:rPr lang="en"/>
              <a:t>Canaan was </a:t>
            </a:r>
            <a:r>
              <a:rPr i="1" lang="en"/>
              <a:t>cursed</a:t>
            </a:r>
            <a:r>
              <a:rPr lang="en"/>
              <a:t> for the sin of Cham. There are many theories on this, it’s likely Canaanwas the result of consummation with Noah’s wife. Later on in Torah, it says that if the son reveals the nakedness of the mother, it’s like revealing the nakedness of the Father. Canaan was the </a:t>
            </a:r>
            <a:r>
              <a:rPr lang="en"/>
              <a:t>only</a:t>
            </a:r>
            <a:r>
              <a:rPr lang="en"/>
              <a:t> son of Cham that was cursed, and Noach did not curse Cham himself.</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4"/>
          <p:cNvSpPr txBox="1"/>
          <p:nvPr>
            <p:ph type="title"/>
          </p:nvPr>
        </p:nvSpPr>
        <p:spPr>
          <a:xfrm>
            <a:off x="2400250" y="3473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There are many other examples</a:t>
            </a:r>
            <a:endParaRPr/>
          </a:p>
        </p:txBody>
      </p:sp>
      <p:sp>
        <p:nvSpPr>
          <p:cNvPr id="139" name="Google Shape;139;p24"/>
          <p:cNvSpPr txBox="1"/>
          <p:nvPr>
            <p:ph idx="1" type="body"/>
          </p:nvPr>
        </p:nvSpPr>
        <p:spPr>
          <a:xfrm>
            <a:off x="2410100" y="1062375"/>
            <a:ext cx="6321600" cy="3627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I could show many other examples, but I also want to cover other aspects of this. Not </a:t>
            </a:r>
            <a:r>
              <a:rPr lang="en"/>
              <a:t>just</a:t>
            </a:r>
            <a:r>
              <a:rPr lang="en"/>
              <a:t> the curses, but Yah’s promises to restore the land and the people. This is part of the promises connected to the messiah in Tanak. That Yah will send his anointed (Messiah) to restore his people to the land, and </a:t>
            </a:r>
            <a:r>
              <a:rPr i="1" lang="en"/>
              <a:t>restore</a:t>
            </a:r>
            <a:r>
              <a:rPr lang="en"/>
              <a:t> the defiled land.</a:t>
            </a:r>
            <a:endParaRPr/>
          </a:p>
          <a:p>
            <a:pPr indent="0" lvl="0" marL="0" rtl="0" algn="l">
              <a:spcBef>
                <a:spcPts val="1200"/>
              </a:spcBef>
              <a:spcAft>
                <a:spcPts val="1200"/>
              </a:spcAft>
              <a:buNone/>
            </a:pPr>
            <a:r>
              <a:rPr lang="en"/>
              <a:t>But it’s important to understand the purpose of the curses, and what he lays out the curses for. NT Christianity teaches the curse is an awful thing, and the only way to be lifted is for Jesus to be cursed in proxy for you. This is impossible. Ex 23:7 tells us the death of a righteous man is an abomination, that he will not acquit the guilty.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5"/>
          <p:cNvSpPr txBox="1"/>
          <p:nvPr>
            <p:ph type="title"/>
          </p:nvPr>
        </p:nvSpPr>
        <p:spPr>
          <a:xfrm>
            <a:off x="2400250" y="3473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curse of the land</a:t>
            </a:r>
            <a:endParaRPr/>
          </a:p>
        </p:txBody>
      </p:sp>
      <p:sp>
        <p:nvSpPr>
          <p:cNvPr id="145" name="Google Shape;145;p25"/>
          <p:cNvSpPr txBox="1"/>
          <p:nvPr>
            <p:ph idx="1" type="body"/>
          </p:nvPr>
        </p:nvSpPr>
        <p:spPr>
          <a:xfrm>
            <a:off x="2410100" y="1062375"/>
            <a:ext cx="6321600" cy="35898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a:t>[Deu 29:23-27 NKJV] 'The whole land [is] brimstone, salt, and burning; it is not sown, nor does it bear, nor does any grass grow there, like the overthrow of Sodom and Gomorrah, Admah, and Zeboiim, which the LORD overthrew in His anger and His wrath.' "All nations would say, 'Why has the LORD done so to this land? What does the heat of this great anger mean?' "Then [people] would say: 'Because they have forsaken the covenant of the LORD God of their fathers, which He made with them when He brought them out of the land of Egypt; 'for they went and served other gods and worshiped them, gods that they did not know and that He had not given to them. 'Then the anger of the LORD was aroused against this land, to bring on it every curse that is written in this book.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6"/>
          <p:cNvSpPr txBox="1"/>
          <p:nvPr>
            <p:ph type="title"/>
          </p:nvPr>
        </p:nvSpPr>
        <p:spPr>
          <a:xfrm>
            <a:off x="2410100" y="4047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 the next part of this series </a:t>
            </a:r>
            <a:endParaRPr/>
          </a:p>
        </p:txBody>
      </p:sp>
      <p:sp>
        <p:nvSpPr>
          <p:cNvPr id="151" name="Google Shape;151;p26"/>
          <p:cNvSpPr txBox="1"/>
          <p:nvPr>
            <p:ph idx="1" type="body"/>
          </p:nvPr>
        </p:nvSpPr>
        <p:spPr>
          <a:xfrm>
            <a:off x="2410100" y="908125"/>
            <a:ext cx="6321600" cy="3690000"/>
          </a:xfrm>
          <a:prstGeom prst="rect">
            <a:avLst/>
          </a:prstGeom>
        </p:spPr>
        <p:txBody>
          <a:bodyPr anchorCtr="0" anchor="t" bIns="91425" lIns="91425" spcFirstLastPara="1" rIns="91425" wrap="square" tIns="91425">
            <a:normAutofit fontScale="70000"/>
          </a:bodyPr>
          <a:lstStyle/>
          <a:p>
            <a:pPr indent="0" lvl="0" marL="0" rtl="0" algn="l">
              <a:spcBef>
                <a:spcPts val="0"/>
              </a:spcBef>
              <a:spcAft>
                <a:spcPts val="0"/>
              </a:spcAft>
              <a:buNone/>
            </a:pPr>
            <a:r>
              <a:rPr lang="en"/>
              <a:t>I’m going to be covering redemption - why did Yah promise to curse the land for our sakes?</a:t>
            </a:r>
            <a:endParaRPr/>
          </a:p>
          <a:p>
            <a:pPr indent="0" lvl="0" marL="0" rtl="0" algn="l">
              <a:spcBef>
                <a:spcPts val="1200"/>
              </a:spcBef>
              <a:spcAft>
                <a:spcPts val="0"/>
              </a:spcAft>
              <a:buNone/>
            </a:pPr>
            <a:r>
              <a:rPr lang="en"/>
              <a:t>This is also why hanging on a tree is not the solution to sin…</a:t>
            </a:r>
            <a:endParaRPr/>
          </a:p>
          <a:p>
            <a:pPr indent="0" lvl="0" marL="0" rtl="0" algn="l">
              <a:spcBef>
                <a:spcPts val="1200"/>
              </a:spcBef>
              <a:spcAft>
                <a:spcPts val="0"/>
              </a:spcAft>
              <a:buNone/>
            </a:pPr>
            <a:r>
              <a:rPr lang="en"/>
              <a:t>[Deu 21:22-23 NKJV] "If a man has committed a sin deserving of death, and he is put to death, and you hang him on a tree, "his body shall not remain overnight on the tree, but you shall surely bury him that day, so that you do not defile the land which the LORD your God is giving you [as] an inheritance; for he who is hanged [is] accursed of God.</a:t>
            </a:r>
            <a:endParaRPr/>
          </a:p>
          <a:p>
            <a:pPr indent="0" lvl="0" marL="0" rtl="0" algn="l">
              <a:spcBef>
                <a:spcPts val="1200"/>
              </a:spcBef>
              <a:spcAft>
                <a:spcPts val="0"/>
              </a:spcAft>
              <a:buNone/>
            </a:pPr>
            <a:r>
              <a:rPr lang="en"/>
              <a:t>The one hanging from the tree is cursed - and Jesus now being cursed, how does that </a:t>
            </a:r>
            <a:r>
              <a:rPr i="1" lang="en"/>
              <a:t>free you</a:t>
            </a:r>
            <a:r>
              <a:rPr lang="en"/>
              <a:t> from the curse over the land? In order to keep the land from being defiled (cursed) the body had to be removed. </a:t>
            </a:r>
            <a:endParaRPr/>
          </a:p>
          <a:p>
            <a:pPr indent="0" lvl="0" marL="0" rtl="0" algn="l">
              <a:spcBef>
                <a:spcPts val="1200"/>
              </a:spcBef>
              <a:spcAft>
                <a:spcPts val="1200"/>
              </a:spcAft>
              <a:buNone/>
            </a:pPr>
            <a:r>
              <a:rPr lang="en"/>
              <a:t>Yah lays out plans for our redemption, and for the land’s restoration - and none of them have to do with someone hanging from a tree for our sake or for the sake of the land. Everything in the NT is a curse on the people and land that believe it.</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