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Playfair Display"/>
      <p:regular r:id="rId26"/>
      <p:bold r:id="rId27"/>
      <p:italic r:id="rId28"/>
      <p:boldItalic r:id="rId29"/>
    </p:embeddedFont>
    <p:embeddedFont>
      <p:font typeface="Montserrat"/>
      <p:regular r:id="rId30"/>
      <p:bold r:id="rId31"/>
      <p:italic r:id="rId32"/>
      <p:boldItalic r:id="rId33"/>
    </p:embeddedFont>
    <p:embeddedFont>
      <p:font typeface="Oswald"/>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ayfairDisplay-regular.fntdata"/><Relationship Id="rId25" Type="http://schemas.openxmlformats.org/officeDocument/2006/relationships/slide" Target="slides/slide20.xml"/><Relationship Id="rId28" Type="http://schemas.openxmlformats.org/officeDocument/2006/relationships/font" Target="fonts/PlayfairDisplay-italic.fntdata"/><Relationship Id="rId27" Type="http://schemas.openxmlformats.org/officeDocument/2006/relationships/font" Target="fonts/PlayfairDisplay-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layfairDisplay-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bold.fntdata"/><Relationship Id="rId30" Type="http://schemas.openxmlformats.org/officeDocument/2006/relationships/font" Target="fonts/Montserrat-regular.fntdata"/><Relationship Id="rId11" Type="http://schemas.openxmlformats.org/officeDocument/2006/relationships/slide" Target="slides/slide6.xml"/><Relationship Id="rId33" Type="http://schemas.openxmlformats.org/officeDocument/2006/relationships/font" Target="fonts/Montserrat-boldItalic.fntdata"/><Relationship Id="rId10" Type="http://schemas.openxmlformats.org/officeDocument/2006/relationships/slide" Target="slides/slide5.xml"/><Relationship Id="rId32" Type="http://schemas.openxmlformats.org/officeDocument/2006/relationships/font" Target="fonts/Montserrat-italic.fntdata"/><Relationship Id="rId13" Type="http://schemas.openxmlformats.org/officeDocument/2006/relationships/slide" Target="slides/slide8.xml"/><Relationship Id="rId35" Type="http://schemas.openxmlformats.org/officeDocument/2006/relationships/font" Target="fonts/Oswald-bold.fntdata"/><Relationship Id="rId12" Type="http://schemas.openxmlformats.org/officeDocument/2006/relationships/slide" Target="slides/slide7.xml"/><Relationship Id="rId34" Type="http://schemas.openxmlformats.org/officeDocument/2006/relationships/font" Target="fonts/Oswald-regular.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bba079b92a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bba079b92a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1c52878bec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1c52878be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1c52878bec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1c52878bec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c52878bec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1c52878bec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c52878bec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c52878bec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e9c18cb0b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e9c18cb0b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e9c18cb0b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1e9c18cb0b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e9c18cb0b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e9c18cb0b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e9c18cb0b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e9c18cb0b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e9c18cb0ba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e9c18cb0b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e9c18cb0b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e9c18cb0ba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e9c18cb0ba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e9c18cb0ba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e9c18cb0b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e9c18cb0b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e9c18cb0ba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e9c18cb0ba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b68aeff5f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b68aeff5f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was </a:t>
            </a:r>
            <a:r>
              <a:rPr lang="en"/>
              <a:t>watching a Christian movie last night with my wife and one of the Characters stated they would rather not teach morality if it had not basis in their idol Jesus. The problems we are facing today are because THEY DID connect morality to their idol Jesus and now a critical study of the Bible has revealed to them that Jesus is false (and most of them do not have a foundation in Torah to understand it from that perspective) and thusly they throw out their morality and Jesus together. The doctrines they teach ARE NOT IN THE NT, and that’s why I believe YHWH is leading me to share these things with you. It’s better to teach someone to be moral, and to teach them the foundation of that morality. TORAH.</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b68aeff5f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b68aeff5f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b68aeff5f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b68aeff5f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last verse is why teaching righteousness separately from Jesus is so important, along with a verse directly targeting the Gentiles. Jonah 3:10. Yah relented from destroying them, </a:t>
            </a:r>
            <a:r>
              <a:rPr lang="en"/>
              <a:t>because</a:t>
            </a:r>
            <a:r>
              <a:rPr lang="en"/>
              <a:t> of their righteousness. They were not imputed righteousness by their faith in God or Jesus.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b68aeff5fd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b68aeff5fd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b68aeff5f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b68aeff5f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4286250" y="0"/>
            <a:ext cx="7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4358475" y="0"/>
            <a:ext cx="3853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6800"/>
              <a:buFont typeface="Playfair Display"/>
              <a:buNone/>
              <a:defRPr b="1" sz="6800">
                <a:latin typeface="Playfair Display"/>
                <a:ea typeface="Playfair Display"/>
                <a:cs typeface="Playfair Display"/>
                <a:sym typeface="Playfair Display"/>
              </a:defRPr>
            </a:lvl1pPr>
            <a:lvl2pPr lvl="1" algn="ctr">
              <a:spcBef>
                <a:spcPts val="0"/>
              </a:spcBef>
              <a:spcAft>
                <a:spcPts val="0"/>
              </a:spcAft>
              <a:buSzPts val="6800"/>
              <a:buFont typeface="Playfair Display"/>
              <a:buNone/>
              <a:defRPr b="1" sz="6800">
                <a:latin typeface="Playfair Display"/>
                <a:ea typeface="Playfair Display"/>
                <a:cs typeface="Playfair Display"/>
                <a:sym typeface="Playfair Display"/>
              </a:defRPr>
            </a:lvl2pPr>
            <a:lvl3pPr lvl="2" algn="ctr">
              <a:spcBef>
                <a:spcPts val="0"/>
              </a:spcBef>
              <a:spcAft>
                <a:spcPts val="0"/>
              </a:spcAft>
              <a:buSzPts val="6800"/>
              <a:buFont typeface="Playfair Display"/>
              <a:buNone/>
              <a:defRPr b="1" sz="6800">
                <a:latin typeface="Playfair Display"/>
                <a:ea typeface="Playfair Display"/>
                <a:cs typeface="Playfair Display"/>
                <a:sym typeface="Playfair Display"/>
              </a:defRPr>
            </a:lvl3pPr>
            <a:lvl4pPr lvl="3" algn="ctr">
              <a:spcBef>
                <a:spcPts val="0"/>
              </a:spcBef>
              <a:spcAft>
                <a:spcPts val="0"/>
              </a:spcAft>
              <a:buSzPts val="6800"/>
              <a:buFont typeface="Playfair Display"/>
              <a:buNone/>
              <a:defRPr b="1" sz="6800">
                <a:latin typeface="Playfair Display"/>
                <a:ea typeface="Playfair Display"/>
                <a:cs typeface="Playfair Display"/>
                <a:sym typeface="Playfair Display"/>
              </a:defRPr>
            </a:lvl4pPr>
            <a:lvl5pPr lvl="4" algn="ctr">
              <a:spcBef>
                <a:spcPts val="0"/>
              </a:spcBef>
              <a:spcAft>
                <a:spcPts val="0"/>
              </a:spcAft>
              <a:buSzPts val="6800"/>
              <a:buFont typeface="Playfair Display"/>
              <a:buNone/>
              <a:defRPr b="1" sz="6800">
                <a:latin typeface="Playfair Display"/>
                <a:ea typeface="Playfair Display"/>
                <a:cs typeface="Playfair Display"/>
                <a:sym typeface="Playfair Display"/>
              </a:defRPr>
            </a:lvl5pPr>
            <a:lvl6pPr lvl="5" algn="ctr">
              <a:spcBef>
                <a:spcPts val="0"/>
              </a:spcBef>
              <a:spcAft>
                <a:spcPts val="0"/>
              </a:spcAft>
              <a:buSzPts val="6800"/>
              <a:buFont typeface="Playfair Display"/>
              <a:buNone/>
              <a:defRPr b="1" sz="6800">
                <a:latin typeface="Playfair Display"/>
                <a:ea typeface="Playfair Display"/>
                <a:cs typeface="Playfair Display"/>
                <a:sym typeface="Playfair Display"/>
              </a:defRPr>
            </a:lvl6pPr>
            <a:lvl7pPr lvl="6" algn="ctr">
              <a:spcBef>
                <a:spcPts val="0"/>
              </a:spcBef>
              <a:spcAft>
                <a:spcPts val="0"/>
              </a:spcAft>
              <a:buSzPts val="6800"/>
              <a:buFont typeface="Playfair Display"/>
              <a:buNone/>
              <a:defRPr b="1" sz="6800">
                <a:latin typeface="Playfair Display"/>
                <a:ea typeface="Playfair Display"/>
                <a:cs typeface="Playfair Display"/>
                <a:sym typeface="Playfair Display"/>
              </a:defRPr>
            </a:lvl7pPr>
            <a:lvl8pPr lvl="7" algn="ctr">
              <a:spcBef>
                <a:spcPts val="0"/>
              </a:spcBef>
              <a:spcAft>
                <a:spcPts val="0"/>
              </a:spcAft>
              <a:buSzPts val="6800"/>
              <a:buFont typeface="Playfair Display"/>
              <a:buNone/>
              <a:defRPr b="1" sz="6800">
                <a:latin typeface="Playfair Display"/>
                <a:ea typeface="Playfair Display"/>
                <a:cs typeface="Playfair Display"/>
                <a:sym typeface="Playfair Display"/>
              </a:defRPr>
            </a:lvl8pPr>
            <a:lvl9pPr lvl="8" algn="ctr">
              <a:spcBef>
                <a:spcPts val="0"/>
              </a:spcBef>
              <a:spcAft>
                <a:spcPts val="0"/>
              </a:spcAft>
              <a:buSzPts val="6800"/>
              <a:buFont typeface="Playfair Display"/>
              <a:buNone/>
              <a:defRPr b="1" sz="6800">
                <a:latin typeface="Playfair Display"/>
                <a:ea typeface="Playfair Display"/>
                <a:cs typeface="Playfair Display"/>
                <a:sym typeface="Playfair Display"/>
              </a:defRPr>
            </a:lvl9pPr>
          </a:lstStyle>
          <a:p/>
        </p:txBody>
      </p:sp>
      <p:sp>
        <p:nvSpPr>
          <p:cNvPr id="13" name="Google Shape;13;p2"/>
          <p:cNvSpPr txBox="1"/>
          <p:nvPr>
            <p:ph idx="1" type="subTitle"/>
          </p:nvPr>
        </p:nvSpPr>
        <p:spPr>
          <a:xfrm>
            <a:off x="344250" y="3550650"/>
            <a:ext cx="4910100" cy="577800"/>
          </a:xfrm>
          <a:prstGeom prst="rect">
            <a:avLst/>
          </a:prstGeom>
          <a:solidFill>
            <a:schemeClr val="dk2"/>
          </a:solidFill>
        </p:spPr>
        <p:txBody>
          <a:bodyPr anchorCtr="0" anchor="ctr" bIns="91425" lIns="91425" spcFirstLastPara="1" rIns="91425" wrap="square" tIns="91425">
            <a:normAutofit/>
          </a:bodyPr>
          <a:lstStyle>
            <a:lvl1pPr lv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1pPr>
            <a:lvl2pPr lvl="1">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2pPr>
            <a:lvl3pPr lvl="2">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3pPr>
            <a:lvl4pPr lvl="3">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4pPr>
            <a:lvl5pPr lvl="4">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5pPr>
            <a:lvl6pPr lvl="5">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6pPr>
            <a:lvl7pPr lvl="6">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7pPr>
            <a:lvl8pPr lvl="7">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8pPr>
            <a:lvl9pPr lvl="8">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9pPr>
          </a:lstStyle>
          <a:p/>
        </p:txBody>
      </p:sp>
      <p:sp>
        <p:nvSpPr>
          <p:cNvPr id="14" name="Google Shape;14;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4"/>
        </a:solidFill>
      </p:bgPr>
    </p:bg>
    <p:spTree>
      <p:nvGrpSpPr>
        <p:cNvPr id="15" name="Shape 15"/>
        <p:cNvGrpSpPr/>
        <p:nvPr/>
      </p:nvGrpSpPr>
      <p:grpSpPr>
        <a:xfrm>
          <a:off x="0" y="0"/>
          <a:ext cx="0" cy="0"/>
          <a:chOff x="0" y="0"/>
          <a:chExt cx="0" cy="0"/>
        </a:xfrm>
      </p:grpSpPr>
      <p:sp>
        <p:nvSpPr>
          <p:cNvPr id="16" name="Google Shape;16;p3"/>
          <p:cNvSpPr/>
          <p:nvPr/>
        </p:nvSpPr>
        <p:spPr>
          <a:xfrm rot="5400000">
            <a:off x="4550700" y="-498600"/>
            <a:ext cx="42600" cy="845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Font typeface="Playfair Display"/>
              <a:buNone/>
              <a:defRPr b="1" sz="4800">
                <a:latin typeface="Playfair Display"/>
                <a:ea typeface="Playfair Display"/>
                <a:cs typeface="Playfair Display"/>
                <a:sym typeface="Playfair Display"/>
              </a:defRPr>
            </a:lvl1pPr>
            <a:lvl2pPr lvl="1" algn="ctr">
              <a:spcBef>
                <a:spcPts val="0"/>
              </a:spcBef>
              <a:spcAft>
                <a:spcPts val="0"/>
              </a:spcAft>
              <a:buSzPts val="4800"/>
              <a:buFont typeface="Playfair Display"/>
              <a:buNone/>
              <a:defRPr b="1" sz="4800">
                <a:latin typeface="Playfair Display"/>
                <a:ea typeface="Playfair Display"/>
                <a:cs typeface="Playfair Display"/>
                <a:sym typeface="Playfair Display"/>
              </a:defRPr>
            </a:lvl2pPr>
            <a:lvl3pPr lvl="2" algn="ctr">
              <a:spcBef>
                <a:spcPts val="0"/>
              </a:spcBef>
              <a:spcAft>
                <a:spcPts val="0"/>
              </a:spcAft>
              <a:buSzPts val="4800"/>
              <a:buFont typeface="Playfair Display"/>
              <a:buNone/>
              <a:defRPr b="1" sz="4800">
                <a:latin typeface="Playfair Display"/>
                <a:ea typeface="Playfair Display"/>
                <a:cs typeface="Playfair Display"/>
                <a:sym typeface="Playfair Display"/>
              </a:defRPr>
            </a:lvl3pPr>
            <a:lvl4pPr lvl="3" algn="ctr">
              <a:spcBef>
                <a:spcPts val="0"/>
              </a:spcBef>
              <a:spcAft>
                <a:spcPts val="0"/>
              </a:spcAft>
              <a:buSzPts val="4800"/>
              <a:buFont typeface="Playfair Display"/>
              <a:buNone/>
              <a:defRPr b="1" sz="4800">
                <a:latin typeface="Playfair Display"/>
                <a:ea typeface="Playfair Display"/>
                <a:cs typeface="Playfair Display"/>
                <a:sym typeface="Playfair Display"/>
              </a:defRPr>
            </a:lvl4pPr>
            <a:lvl5pPr lvl="4" algn="ctr">
              <a:spcBef>
                <a:spcPts val="0"/>
              </a:spcBef>
              <a:spcAft>
                <a:spcPts val="0"/>
              </a:spcAft>
              <a:buSzPts val="4800"/>
              <a:buFont typeface="Playfair Display"/>
              <a:buNone/>
              <a:defRPr b="1" sz="4800">
                <a:latin typeface="Playfair Display"/>
                <a:ea typeface="Playfair Display"/>
                <a:cs typeface="Playfair Display"/>
                <a:sym typeface="Playfair Display"/>
              </a:defRPr>
            </a:lvl5pPr>
            <a:lvl6pPr lvl="5" algn="ctr">
              <a:spcBef>
                <a:spcPts val="0"/>
              </a:spcBef>
              <a:spcAft>
                <a:spcPts val="0"/>
              </a:spcAft>
              <a:buSzPts val="4800"/>
              <a:buFont typeface="Playfair Display"/>
              <a:buNone/>
              <a:defRPr b="1" sz="4800">
                <a:latin typeface="Playfair Display"/>
                <a:ea typeface="Playfair Display"/>
                <a:cs typeface="Playfair Display"/>
                <a:sym typeface="Playfair Display"/>
              </a:defRPr>
            </a:lvl6pPr>
            <a:lvl7pPr lvl="6" algn="ctr">
              <a:spcBef>
                <a:spcPts val="0"/>
              </a:spcBef>
              <a:spcAft>
                <a:spcPts val="0"/>
              </a:spcAft>
              <a:buSzPts val="4800"/>
              <a:buFont typeface="Playfair Display"/>
              <a:buNone/>
              <a:defRPr b="1" sz="4800">
                <a:latin typeface="Playfair Display"/>
                <a:ea typeface="Playfair Display"/>
                <a:cs typeface="Playfair Display"/>
                <a:sym typeface="Playfair Display"/>
              </a:defRPr>
            </a:lvl7pPr>
            <a:lvl8pPr lvl="7" algn="ctr">
              <a:spcBef>
                <a:spcPts val="0"/>
              </a:spcBef>
              <a:spcAft>
                <a:spcPts val="0"/>
              </a:spcAft>
              <a:buSzPts val="4800"/>
              <a:buFont typeface="Playfair Display"/>
              <a:buNone/>
              <a:defRPr b="1" sz="4800">
                <a:latin typeface="Playfair Display"/>
                <a:ea typeface="Playfair Display"/>
                <a:cs typeface="Playfair Display"/>
                <a:sym typeface="Playfair Display"/>
              </a:defRPr>
            </a:lvl8pPr>
            <a:lvl9pPr lvl="8" algn="ctr">
              <a:spcBef>
                <a:spcPts val="0"/>
              </a:spcBef>
              <a:spcAft>
                <a:spcPts val="0"/>
              </a:spcAft>
              <a:buSzPts val="4800"/>
              <a:buFont typeface="Playfair Display"/>
              <a:buNone/>
              <a:defRPr b="1" sz="4800">
                <a:latin typeface="Playfair Display"/>
                <a:ea typeface="Playfair Display"/>
                <a:cs typeface="Playfair Display"/>
                <a:sym typeface="Playfair Display"/>
              </a:defRPr>
            </a:lvl9pPr>
          </a:lstStyle>
          <a:p/>
        </p:txBody>
      </p:sp>
      <p:sp>
        <p:nvSpPr>
          <p:cNvPr id="18" name="Google Shape;18;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 name="Google Shape;21;p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5"/>
          <p:cNvSpPr txBox="1"/>
          <p:nvPr>
            <p:ph idx="1" type="body"/>
          </p:nvPr>
        </p:nvSpPr>
        <p:spPr>
          <a:xfrm>
            <a:off x="3117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1pPr>
            <a:lvl2pPr lvl="1">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2pPr>
            <a:lvl3pPr lvl="2">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3pPr>
            <a:lvl4pPr lvl="3">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4pPr>
            <a:lvl5pPr lvl="4">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5pPr>
            <a:lvl6pPr lvl="5">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6pPr>
            <a:lvl7pPr lvl="6">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7pPr>
            <a:lvl8pPr lvl="7">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8pPr>
            <a:lvl9pPr lvl="8">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9pPr>
          </a:lstStyle>
          <a:p/>
        </p:txBody>
      </p:sp>
      <p:sp>
        <p:nvSpPr>
          <p:cNvPr id="37" name="Google Shape;3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9"/>
          <p:cNvSpPr txBox="1"/>
          <p:nvPr>
            <p:ph type="title"/>
          </p:nvPr>
        </p:nvSpPr>
        <p:spPr>
          <a:xfrm>
            <a:off x="265500" y="10816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highlight>
                  <a:schemeClr val="lt1"/>
                </a:highlight>
              </a:defRPr>
            </a:lvl1pPr>
            <a:lvl2pPr indent="-317500" lvl="1" marL="914400">
              <a:spcBef>
                <a:spcPts val="0"/>
              </a:spcBef>
              <a:spcAft>
                <a:spcPts val="0"/>
              </a:spcAft>
              <a:buSzPts val="1400"/>
              <a:buChar char="○"/>
              <a:defRPr>
                <a:highlight>
                  <a:schemeClr val="lt1"/>
                </a:highlight>
              </a:defRPr>
            </a:lvl2pPr>
            <a:lvl3pPr indent="-317500" lvl="2" marL="1371600">
              <a:spcBef>
                <a:spcPts val="0"/>
              </a:spcBef>
              <a:spcAft>
                <a:spcPts val="0"/>
              </a:spcAft>
              <a:buSzPts val="1400"/>
              <a:buChar char="■"/>
              <a:defRPr>
                <a:highlight>
                  <a:schemeClr val="lt1"/>
                </a:highlight>
              </a:defRPr>
            </a:lvl3pPr>
            <a:lvl4pPr indent="-317500" lvl="3" marL="1828800">
              <a:spcBef>
                <a:spcPts val="0"/>
              </a:spcBef>
              <a:spcAft>
                <a:spcPts val="0"/>
              </a:spcAft>
              <a:buSzPts val="1400"/>
              <a:buChar char="●"/>
              <a:defRPr>
                <a:highlight>
                  <a:schemeClr val="lt1"/>
                </a:highlight>
              </a:defRPr>
            </a:lvl4pPr>
            <a:lvl5pPr indent="-317500" lvl="4" marL="2286000">
              <a:spcBef>
                <a:spcPts val="0"/>
              </a:spcBef>
              <a:spcAft>
                <a:spcPts val="0"/>
              </a:spcAft>
              <a:buSzPts val="1400"/>
              <a:buChar char="○"/>
              <a:defRPr>
                <a:highlight>
                  <a:schemeClr val="lt1"/>
                </a:highlight>
              </a:defRPr>
            </a:lvl5pPr>
            <a:lvl6pPr indent="-317500" lvl="5" marL="2743200">
              <a:spcBef>
                <a:spcPts val="0"/>
              </a:spcBef>
              <a:spcAft>
                <a:spcPts val="0"/>
              </a:spcAft>
              <a:buSzPts val="1400"/>
              <a:buChar char="■"/>
              <a:defRPr>
                <a:highlight>
                  <a:schemeClr val="lt1"/>
                </a:highlight>
              </a:defRPr>
            </a:lvl6pPr>
            <a:lvl7pPr indent="-317500" lvl="6" marL="3200400">
              <a:spcBef>
                <a:spcPts val="0"/>
              </a:spcBef>
              <a:spcAft>
                <a:spcPts val="0"/>
              </a:spcAft>
              <a:buSzPts val="1400"/>
              <a:buChar char="●"/>
              <a:defRPr>
                <a:highlight>
                  <a:schemeClr val="lt1"/>
                </a:highlight>
              </a:defRPr>
            </a:lvl7pPr>
            <a:lvl8pPr indent="-317500" lvl="7" marL="3657600">
              <a:spcBef>
                <a:spcPts val="0"/>
              </a:spcBef>
              <a:spcAft>
                <a:spcPts val="0"/>
              </a:spcAft>
              <a:buSzPts val="1400"/>
              <a:buChar char="○"/>
              <a:defRPr>
                <a:highlight>
                  <a:schemeClr val="lt1"/>
                </a:highlight>
              </a:defRPr>
            </a:lvl8pPr>
            <a:lvl9pPr indent="-317500" lvl="8" marL="4114800">
              <a:spcBef>
                <a:spcPts val="0"/>
              </a:spcBef>
              <a:spcAft>
                <a:spcPts val="0"/>
              </a:spcAft>
              <a:buSzPts val="1400"/>
              <a:buChar char="■"/>
              <a:defRPr>
                <a:highlight>
                  <a:schemeClr val="lt1"/>
                </a:highlight>
              </a:defRPr>
            </a:lvl9pPr>
          </a:lstStyle>
          <a:p/>
        </p:txBody>
      </p:sp>
      <p:sp>
        <p:nvSpPr>
          <p:cNvPr id="44" name="Google Shape;4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highlight>
                  <a:schemeClr val="dk1"/>
                </a:highlight>
              </a:defRPr>
            </a:lvl1pPr>
          </a:lstStyle>
          <a:p/>
        </p:txBody>
      </p:sp>
      <p:sp>
        <p:nvSpPr>
          <p:cNvPr id="47" name="Google Shape;47;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999925"/>
            <a:ext cx="8520600" cy="214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Font typeface="Montserrat"/>
              <a:buNone/>
              <a:defRPr sz="14000">
                <a:latin typeface="Montserrat"/>
                <a:ea typeface="Montserrat"/>
                <a:cs typeface="Montserrat"/>
                <a:sym typeface="Montserrat"/>
              </a:defRPr>
            </a:lvl1pPr>
            <a:lvl2pPr lvl="1" algn="ctr">
              <a:spcBef>
                <a:spcPts val="0"/>
              </a:spcBef>
              <a:spcAft>
                <a:spcPts val="0"/>
              </a:spcAft>
              <a:buSzPts val="14000"/>
              <a:buFont typeface="Montserrat"/>
              <a:buNone/>
              <a:defRPr sz="14000">
                <a:latin typeface="Montserrat"/>
                <a:ea typeface="Montserrat"/>
                <a:cs typeface="Montserrat"/>
                <a:sym typeface="Montserrat"/>
              </a:defRPr>
            </a:lvl2pPr>
            <a:lvl3pPr lvl="2" algn="ctr">
              <a:spcBef>
                <a:spcPts val="0"/>
              </a:spcBef>
              <a:spcAft>
                <a:spcPts val="0"/>
              </a:spcAft>
              <a:buSzPts val="14000"/>
              <a:buFont typeface="Montserrat"/>
              <a:buNone/>
              <a:defRPr sz="14000">
                <a:latin typeface="Montserrat"/>
                <a:ea typeface="Montserrat"/>
                <a:cs typeface="Montserrat"/>
                <a:sym typeface="Montserrat"/>
              </a:defRPr>
            </a:lvl3pPr>
            <a:lvl4pPr lvl="3" algn="ctr">
              <a:spcBef>
                <a:spcPts val="0"/>
              </a:spcBef>
              <a:spcAft>
                <a:spcPts val="0"/>
              </a:spcAft>
              <a:buSzPts val="14000"/>
              <a:buFont typeface="Montserrat"/>
              <a:buNone/>
              <a:defRPr sz="14000">
                <a:latin typeface="Montserrat"/>
                <a:ea typeface="Montserrat"/>
                <a:cs typeface="Montserrat"/>
                <a:sym typeface="Montserrat"/>
              </a:defRPr>
            </a:lvl4pPr>
            <a:lvl5pPr lvl="4" algn="ctr">
              <a:spcBef>
                <a:spcPts val="0"/>
              </a:spcBef>
              <a:spcAft>
                <a:spcPts val="0"/>
              </a:spcAft>
              <a:buSzPts val="14000"/>
              <a:buFont typeface="Montserrat"/>
              <a:buNone/>
              <a:defRPr sz="14000">
                <a:latin typeface="Montserrat"/>
                <a:ea typeface="Montserrat"/>
                <a:cs typeface="Montserrat"/>
                <a:sym typeface="Montserrat"/>
              </a:defRPr>
            </a:lvl5pPr>
            <a:lvl6pPr lvl="5" algn="ctr">
              <a:spcBef>
                <a:spcPts val="0"/>
              </a:spcBef>
              <a:spcAft>
                <a:spcPts val="0"/>
              </a:spcAft>
              <a:buSzPts val="14000"/>
              <a:buFont typeface="Montserrat"/>
              <a:buNone/>
              <a:defRPr sz="14000">
                <a:latin typeface="Montserrat"/>
                <a:ea typeface="Montserrat"/>
                <a:cs typeface="Montserrat"/>
                <a:sym typeface="Montserrat"/>
              </a:defRPr>
            </a:lvl6pPr>
            <a:lvl7pPr lvl="6" algn="ctr">
              <a:spcBef>
                <a:spcPts val="0"/>
              </a:spcBef>
              <a:spcAft>
                <a:spcPts val="0"/>
              </a:spcAft>
              <a:buSzPts val="14000"/>
              <a:buFont typeface="Montserrat"/>
              <a:buNone/>
              <a:defRPr sz="14000">
                <a:latin typeface="Montserrat"/>
                <a:ea typeface="Montserrat"/>
                <a:cs typeface="Montserrat"/>
                <a:sym typeface="Montserrat"/>
              </a:defRPr>
            </a:lvl7pPr>
            <a:lvl8pPr lvl="7" algn="ctr">
              <a:spcBef>
                <a:spcPts val="0"/>
              </a:spcBef>
              <a:spcAft>
                <a:spcPts val="0"/>
              </a:spcAft>
              <a:buSzPts val="14000"/>
              <a:buFont typeface="Montserrat"/>
              <a:buNone/>
              <a:defRPr sz="14000">
                <a:latin typeface="Montserrat"/>
                <a:ea typeface="Montserrat"/>
                <a:cs typeface="Montserrat"/>
                <a:sym typeface="Montserrat"/>
              </a:defRPr>
            </a:lvl8pPr>
            <a:lvl9pPr lvl="8" algn="ctr">
              <a:spcBef>
                <a:spcPts val="0"/>
              </a:spcBef>
              <a:spcAft>
                <a:spcPts val="0"/>
              </a:spcAft>
              <a:buSzPts val="14000"/>
              <a:buFont typeface="Montserrat"/>
              <a:buNone/>
              <a:defRPr sz="14000">
                <a:latin typeface="Montserrat"/>
                <a:ea typeface="Montserrat"/>
                <a:cs typeface="Montserrat"/>
                <a:sym typeface="Montserrat"/>
              </a:defRPr>
            </a:lvl9pPr>
          </a:lstStyle>
          <a:p>
            <a:r>
              <a:t>xx%</a:t>
            </a:r>
          </a:p>
        </p:txBody>
      </p:sp>
      <p:sp>
        <p:nvSpPr>
          <p:cNvPr id="50" name="Google Shape;50;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highlight>
                  <a:schemeClr val="dk1"/>
                </a:highlight>
              </a:defRPr>
            </a:lvl1pPr>
            <a:lvl2pPr indent="-317500" lvl="1" marL="914400" algn="ctr">
              <a:spcBef>
                <a:spcPts val="0"/>
              </a:spcBef>
              <a:spcAft>
                <a:spcPts val="0"/>
              </a:spcAft>
              <a:buSzPts val="1400"/>
              <a:buChar char="○"/>
              <a:defRPr>
                <a:highlight>
                  <a:schemeClr val="dk1"/>
                </a:highlight>
              </a:defRPr>
            </a:lvl2pPr>
            <a:lvl3pPr indent="-317500" lvl="2" marL="1371600" algn="ctr">
              <a:spcBef>
                <a:spcPts val="0"/>
              </a:spcBef>
              <a:spcAft>
                <a:spcPts val="0"/>
              </a:spcAft>
              <a:buSzPts val="1400"/>
              <a:buChar char="■"/>
              <a:defRPr>
                <a:highlight>
                  <a:schemeClr val="dk1"/>
                </a:highlight>
              </a:defRPr>
            </a:lvl3pPr>
            <a:lvl4pPr indent="-317500" lvl="3" marL="1828800" algn="ctr">
              <a:spcBef>
                <a:spcPts val="0"/>
              </a:spcBef>
              <a:spcAft>
                <a:spcPts val="0"/>
              </a:spcAft>
              <a:buSzPts val="1400"/>
              <a:buChar char="●"/>
              <a:defRPr>
                <a:highlight>
                  <a:schemeClr val="dk1"/>
                </a:highlight>
              </a:defRPr>
            </a:lvl4pPr>
            <a:lvl5pPr indent="-317500" lvl="4" marL="2286000" algn="ctr">
              <a:spcBef>
                <a:spcPts val="0"/>
              </a:spcBef>
              <a:spcAft>
                <a:spcPts val="0"/>
              </a:spcAft>
              <a:buSzPts val="1400"/>
              <a:buChar char="○"/>
              <a:defRPr>
                <a:highlight>
                  <a:schemeClr val="dk1"/>
                </a:highlight>
              </a:defRPr>
            </a:lvl5pPr>
            <a:lvl6pPr indent="-317500" lvl="5" marL="2743200" algn="ctr">
              <a:spcBef>
                <a:spcPts val="0"/>
              </a:spcBef>
              <a:spcAft>
                <a:spcPts val="0"/>
              </a:spcAft>
              <a:buSzPts val="1400"/>
              <a:buChar char="■"/>
              <a:defRPr>
                <a:highlight>
                  <a:schemeClr val="dk1"/>
                </a:highlight>
              </a:defRPr>
            </a:lvl6pPr>
            <a:lvl7pPr indent="-317500" lvl="6" marL="3200400" algn="ctr">
              <a:spcBef>
                <a:spcPts val="0"/>
              </a:spcBef>
              <a:spcAft>
                <a:spcPts val="0"/>
              </a:spcAft>
              <a:buSzPts val="1400"/>
              <a:buChar char="●"/>
              <a:defRPr>
                <a:highlight>
                  <a:schemeClr val="dk1"/>
                </a:highlight>
              </a:defRPr>
            </a:lvl7pPr>
            <a:lvl8pPr indent="-317500" lvl="7" marL="3657600" algn="ctr">
              <a:spcBef>
                <a:spcPts val="0"/>
              </a:spcBef>
              <a:spcAft>
                <a:spcPts val="0"/>
              </a:spcAft>
              <a:buSzPts val="1400"/>
              <a:buChar char="○"/>
              <a:defRPr>
                <a:highlight>
                  <a:schemeClr val="dk1"/>
                </a:highlight>
              </a:defRPr>
            </a:lvl8pPr>
            <a:lvl9pPr indent="-317500" lvl="8" marL="4114800" algn="ctr">
              <a:spcBef>
                <a:spcPts val="0"/>
              </a:spcBef>
              <a:spcAft>
                <a:spcPts val="0"/>
              </a:spcAft>
              <a:buSzPts val="1400"/>
              <a:buChar char="■"/>
              <a:defRPr>
                <a:highlight>
                  <a:schemeClr val="dk1"/>
                </a:highlight>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op">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9pPr>
          </a:lstStyle>
          <a:p/>
        </p:txBody>
      </p:sp>
      <p:sp>
        <p:nvSpPr>
          <p:cNvPr id="7" name="Google Shape;7;p1"/>
          <p:cNvSpPr txBox="1"/>
          <p:nvPr>
            <p:ph idx="1" type="body"/>
          </p:nvPr>
        </p:nvSpPr>
        <p:spPr>
          <a:xfrm>
            <a:off x="311700" y="1234075"/>
            <a:ext cx="8520600" cy="33348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layfair Display"/>
              <a:buChar char="●"/>
              <a:defRPr sz="1800">
                <a:solidFill>
                  <a:schemeClr val="dk2"/>
                </a:solidFill>
                <a:latin typeface="Playfair Display"/>
                <a:ea typeface="Playfair Display"/>
                <a:cs typeface="Playfair Display"/>
                <a:sym typeface="Playfair Display"/>
              </a:defRPr>
            </a:lvl1pPr>
            <a:lvl2pPr indent="-317500" lvl="1" marL="914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2pPr>
            <a:lvl3pPr indent="-317500" lvl="2" marL="1371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3pPr>
            <a:lvl4pPr indent="-317500" lvl="3" marL="1828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4pPr>
            <a:lvl5pPr indent="-317500" lvl="4" marL="22860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5pPr>
            <a:lvl6pPr indent="-317500" lvl="5" marL="27432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6pPr>
            <a:lvl7pPr indent="-317500" lvl="6" marL="3200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7pPr>
            <a:lvl8pPr indent="-317500" lvl="7" marL="3657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8pPr>
            <a:lvl9pPr indent="-317500" lvl="8" marL="4114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layfair Display"/>
                <a:ea typeface="Playfair Display"/>
                <a:cs typeface="Playfair Display"/>
                <a:sym typeface="Playfair Display"/>
              </a:defRPr>
            </a:lvl1pPr>
            <a:lvl2pPr lvl="1" algn="r">
              <a:buNone/>
              <a:defRPr sz="1000">
                <a:solidFill>
                  <a:schemeClr val="dk2"/>
                </a:solidFill>
                <a:latin typeface="Playfair Display"/>
                <a:ea typeface="Playfair Display"/>
                <a:cs typeface="Playfair Display"/>
                <a:sym typeface="Playfair Display"/>
              </a:defRPr>
            </a:lvl2pPr>
            <a:lvl3pPr lvl="2" algn="r">
              <a:buNone/>
              <a:defRPr sz="1000">
                <a:solidFill>
                  <a:schemeClr val="dk2"/>
                </a:solidFill>
                <a:latin typeface="Playfair Display"/>
                <a:ea typeface="Playfair Display"/>
                <a:cs typeface="Playfair Display"/>
                <a:sym typeface="Playfair Display"/>
              </a:defRPr>
            </a:lvl3pPr>
            <a:lvl4pPr lvl="3" algn="r">
              <a:buNone/>
              <a:defRPr sz="1000">
                <a:solidFill>
                  <a:schemeClr val="dk2"/>
                </a:solidFill>
                <a:latin typeface="Playfair Display"/>
                <a:ea typeface="Playfair Display"/>
                <a:cs typeface="Playfair Display"/>
                <a:sym typeface="Playfair Display"/>
              </a:defRPr>
            </a:lvl4pPr>
            <a:lvl5pPr lvl="4" algn="r">
              <a:buNone/>
              <a:defRPr sz="1000">
                <a:solidFill>
                  <a:schemeClr val="dk2"/>
                </a:solidFill>
                <a:latin typeface="Playfair Display"/>
                <a:ea typeface="Playfair Display"/>
                <a:cs typeface="Playfair Display"/>
                <a:sym typeface="Playfair Display"/>
              </a:defRPr>
            </a:lvl5pPr>
            <a:lvl6pPr lvl="5" algn="r">
              <a:buNone/>
              <a:defRPr sz="1000">
                <a:solidFill>
                  <a:schemeClr val="dk2"/>
                </a:solidFill>
                <a:latin typeface="Playfair Display"/>
                <a:ea typeface="Playfair Display"/>
                <a:cs typeface="Playfair Display"/>
                <a:sym typeface="Playfair Display"/>
              </a:defRPr>
            </a:lvl6pPr>
            <a:lvl7pPr lvl="6" algn="r">
              <a:buNone/>
              <a:defRPr sz="1000">
                <a:solidFill>
                  <a:schemeClr val="dk2"/>
                </a:solidFill>
                <a:latin typeface="Playfair Display"/>
                <a:ea typeface="Playfair Display"/>
                <a:cs typeface="Playfair Display"/>
                <a:sym typeface="Playfair Display"/>
              </a:defRPr>
            </a:lvl7pPr>
            <a:lvl8pPr lvl="7" algn="r">
              <a:buNone/>
              <a:defRPr sz="1000">
                <a:solidFill>
                  <a:schemeClr val="dk2"/>
                </a:solidFill>
                <a:latin typeface="Playfair Display"/>
                <a:ea typeface="Playfair Display"/>
                <a:cs typeface="Playfair Display"/>
                <a:sym typeface="Playfair Display"/>
              </a:defRPr>
            </a:lvl8pPr>
            <a:lvl9pPr lvl="8" algn="r">
              <a:buNone/>
              <a:defRPr sz="1000">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344250" y="1403850"/>
            <a:ext cx="8455500" cy="2146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The Gospel unto your Salvation</a:t>
            </a:r>
            <a:endParaRPr/>
          </a:p>
        </p:txBody>
      </p:sp>
      <p:sp>
        <p:nvSpPr>
          <p:cNvPr id="59" name="Google Shape;59;p13"/>
          <p:cNvSpPr txBox="1"/>
          <p:nvPr>
            <p:ph idx="1" type="subTitle"/>
          </p:nvPr>
        </p:nvSpPr>
        <p:spPr>
          <a:xfrm>
            <a:off x="344250" y="3550650"/>
            <a:ext cx="4910100" cy="577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What it means to “be saved”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According to modern Christianity there are at least three different forms of Salvation in the NT</a:t>
            </a:r>
            <a:endParaRPr/>
          </a:p>
        </p:txBody>
      </p:sp>
      <p:sp>
        <p:nvSpPr>
          <p:cNvPr id="65" name="Google Shape;65;p14"/>
          <p:cNvSpPr txBox="1"/>
          <p:nvPr>
            <p:ph idx="1" type="body"/>
          </p:nvPr>
        </p:nvSpPr>
        <p:spPr>
          <a:xfrm>
            <a:off x="311700" y="1425225"/>
            <a:ext cx="8520600" cy="3143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Conditional Salvation - you are saved once you confess Jesus, but can lose your salvation by turning from Jesus.</a:t>
            </a:r>
            <a:endParaRPr/>
          </a:p>
          <a:p>
            <a:pPr indent="-342900" lvl="0" marL="457200" rtl="0" algn="l">
              <a:spcBef>
                <a:spcPts val="0"/>
              </a:spcBef>
              <a:spcAft>
                <a:spcPts val="0"/>
              </a:spcAft>
              <a:buSzPts val="1800"/>
              <a:buAutoNum type="arabicPeriod"/>
            </a:pPr>
            <a:r>
              <a:rPr lang="en"/>
              <a:t>Unconditional Salvation - You are saved once you confess Jesus, but cannot lose your salvation.</a:t>
            </a:r>
            <a:endParaRPr/>
          </a:p>
          <a:p>
            <a:pPr indent="-342900" lvl="0" marL="457200" rtl="0" algn="l">
              <a:spcBef>
                <a:spcPts val="0"/>
              </a:spcBef>
              <a:spcAft>
                <a:spcPts val="0"/>
              </a:spcAft>
              <a:buSzPts val="1800"/>
              <a:buAutoNum type="arabicPeriod"/>
            </a:pPr>
            <a:r>
              <a:rPr lang="en"/>
              <a:t>Conditional PLUS your obedience - This is something you see more in Roman Catholicism with it’s rites and rituals, and various offshoot cults, SDA, JW, Mormons, etc. They preach the importance of Jesus but also keeping </a:t>
            </a:r>
            <a:r>
              <a:rPr i="1" lang="en"/>
              <a:t>THEIR</a:t>
            </a:r>
            <a:r>
              <a:rPr lang="en"/>
              <a:t> COMMANDMENTS VOIDING THE COMMANDS OF ELOHIM</a:t>
            </a:r>
            <a:r>
              <a:rPr lang="en"/>
              <a:t>.</a:t>
            </a:r>
            <a:endParaRPr/>
          </a:p>
          <a:p>
            <a:pPr indent="0" lvl="0" marL="0" rtl="0" algn="l">
              <a:spcBef>
                <a:spcPts val="1200"/>
              </a:spcBef>
              <a:spcAft>
                <a:spcPts val="1200"/>
              </a:spcAft>
              <a:buNone/>
            </a:pPr>
            <a:r>
              <a:rPr b="1" lang="en"/>
              <a:t>Why can’t they agree on </a:t>
            </a:r>
            <a:r>
              <a:rPr b="1" i="1" lang="en"/>
              <a:t>how</a:t>
            </a:r>
            <a:r>
              <a:rPr b="1" lang="en"/>
              <a:t> one is saved?</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problem with their interpretation</a:t>
            </a:r>
            <a:endParaRPr/>
          </a:p>
        </p:txBody>
      </p:sp>
      <p:sp>
        <p:nvSpPr>
          <p:cNvPr id="71" name="Google Shape;71;p15"/>
          <p:cNvSpPr txBox="1"/>
          <p:nvPr>
            <p:ph idx="1" type="body"/>
          </p:nvPr>
        </p:nvSpPr>
        <p:spPr>
          <a:xfrm>
            <a:off x="311700" y="1234075"/>
            <a:ext cx="8520600" cy="37917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NT Christians believe they are under the “new covenant” </a:t>
            </a:r>
            <a:r>
              <a:rPr lang="en"/>
              <a:t>which</a:t>
            </a:r>
            <a:r>
              <a:rPr lang="en"/>
              <a:t> the strip out of context from</a:t>
            </a:r>
            <a:r>
              <a:rPr lang="en"/>
              <a:t> Jeremiah 31, and blasphemy about in Hebrews 8. The problem is like ALL of the NT, the author of Hebrews either intentionally or unintentionally due to lack of understanding or their own biases perverted the text of Jeremiah 31 to be anti-Torah.</a:t>
            </a:r>
            <a:endParaRPr/>
          </a:p>
          <a:p>
            <a:pPr indent="0" lvl="0" marL="0" rtl="0" algn="l">
              <a:spcBef>
                <a:spcPts val="1200"/>
              </a:spcBef>
              <a:spcAft>
                <a:spcPts val="0"/>
              </a:spcAft>
              <a:buNone/>
            </a:pPr>
            <a:r>
              <a:rPr lang="en"/>
              <a:t>[Heb 8:7 LSB] For</a:t>
            </a:r>
            <a:r>
              <a:rPr b="1" lang="en"/>
              <a:t> if that first [covenant] had been faultless</a:t>
            </a:r>
            <a:r>
              <a:rPr lang="en"/>
              <a:t>, there would have been no occasion sought for a second.</a:t>
            </a:r>
            <a:endParaRPr/>
          </a:p>
          <a:p>
            <a:pPr indent="0" lvl="0" marL="0" rtl="0" algn="l">
              <a:spcBef>
                <a:spcPts val="1200"/>
              </a:spcBef>
              <a:spcAft>
                <a:spcPts val="0"/>
              </a:spcAft>
              <a:buNone/>
            </a:pPr>
            <a:r>
              <a:rPr lang="en"/>
              <a:t>The covenant </a:t>
            </a:r>
            <a:r>
              <a:rPr i="1" lang="en"/>
              <a:t>IS</a:t>
            </a:r>
            <a:r>
              <a:rPr lang="en"/>
              <a:t> faultless, the fault is with Israel for not heeding the warnings of YHWH.</a:t>
            </a:r>
            <a:endParaRPr/>
          </a:p>
          <a:p>
            <a:pPr indent="0" lvl="0" marL="0" rtl="0" algn="l">
              <a:spcBef>
                <a:spcPts val="1200"/>
              </a:spcBef>
              <a:spcAft>
                <a:spcPts val="0"/>
              </a:spcAft>
              <a:buNone/>
            </a:pPr>
            <a:r>
              <a:rPr lang="en"/>
              <a:t>[Deu 29:19 LSB] "And it will be when he hears the words of this curse, that </a:t>
            </a:r>
            <a:r>
              <a:rPr b="1" lang="en"/>
              <a:t>he will bless himself</a:t>
            </a:r>
            <a:r>
              <a:rPr lang="en"/>
              <a:t> in his heart, saying, '</a:t>
            </a:r>
            <a:r>
              <a:rPr b="1" lang="en"/>
              <a:t>I have peace though I walk in the stubbornness of my heart</a:t>
            </a:r>
            <a:r>
              <a:rPr lang="en"/>
              <a:t> in order to sweep away the watered [land] with the dry.'</a:t>
            </a:r>
            <a:endParaRPr/>
          </a:p>
          <a:p>
            <a:pPr indent="0" lvl="0" marL="0" rtl="0" algn="l">
              <a:spcBef>
                <a:spcPts val="1200"/>
              </a:spcBef>
              <a:spcAft>
                <a:spcPts val="1200"/>
              </a:spcAft>
              <a:buNone/>
            </a:pPr>
            <a:r>
              <a:rPr lang="en"/>
              <a:t>This is Christianity and modern Judaism in a nutshell. Though they have turned their hearts from YHWH and his set apart instructions, they believe that they are YHWH chosen people and will be blessed greatly.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truth about the “second covenant”</a:t>
            </a:r>
            <a:endParaRPr/>
          </a:p>
        </p:txBody>
      </p:sp>
      <p:sp>
        <p:nvSpPr>
          <p:cNvPr id="77" name="Google Shape;77;p16"/>
          <p:cNvSpPr txBox="1"/>
          <p:nvPr>
            <p:ph idx="1" type="body"/>
          </p:nvPr>
        </p:nvSpPr>
        <p:spPr>
          <a:xfrm>
            <a:off x="311700" y="1234075"/>
            <a:ext cx="8520600" cy="3750000"/>
          </a:xfrm>
          <a:prstGeom prst="rect">
            <a:avLst/>
          </a:prstGeom>
        </p:spPr>
        <p:txBody>
          <a:bodyPr anchorCtr="0" anchor="t" bIns="91425" lIns="91425" spcFirstLastPara="1" rIns="91425" wrap="square" tIns="91425">
            <a:normAutofit fontScale="85000" lnSpcReduction="10000"/>
          </a:bodyPr>
          <a:lstStyle/>
          <a:p>
            <a:pPr indent="0" lvl="0" marL="457200" rtl="0" algn="l">
              <a:spcBef>
                <a:spcPts val="0"/>
              </a:spcBef>
              <a:spcAft>
                <a:spcPts val="0"/>
              </a:spcAft>
              <a:buNone/>
            </a:pPr>
            <a:r>
              <a:rPr lang="en"/>
              <a:t>[Heb 8:8 LSB] For finding fault with them, He says, "BEHOLD, DAYS ARE COMING, SAYS THE LORD, WHEN I WILL COMPLETE A </a:t>
            </a:r>
            <a:r>
              <a:rPr lang="en" u="sng"/>
              <a:t>NEW COVENANT</a:t>
            </a:r>
            <a:r>
              <a:rPr lang="en"/>
              <a:t> WITH THE HOUSE OF ISRAEL AND WITH THE HOUSE OF JUDAH;</a:t>
            </a:r>
            <a:endParaRPr/>
          </a:p>
          <a:p>
            <a:pPr indent="0" lvl="0" marL="457200" rtl="0" algn="l">
              <a:spcBef>
                <a:spcPts val="1200"/>
              </a:spcBef>
              <a:spcAft>
                <a:spcPts val="0"/>
              </a:spcAft>
              <a:buNone/>
            </a:pPr>
            <a:r>
              <a:rPr lang="en"/>
              <a:t>Which is from Jeremiah:</a:t>
            </a:r>
            <a:br>
              <a:rPr lang="en"/>
            </a:br>
            <a:r>
              <a:rPr lang="en"/>
              <a:t>[Jer 31:31 LSB] "Behold, days are coming," declares Yahweh, "when I will cut a RENEWED covenant with the house of Israel and with the house of Judah,</a:t>
            </a:r>
            <a:endParaRPr/>
          </a:p>
          <a:p>
            <a:pPr indent="0" lvl="0" marL="0" rtl="0" algn="l">
              <a:spcBef>
                <a:spcPts val="1200"/>
              </a:spcBef>
              <a:spcAft>
                <a:spcPts val="0"/>
              </a:spcAft>
              <a:buNone/>
            </a:pPr>
            <a:r>
              <a:rPr lang="en"/>
              <a:t>It’s interesting what they miss from here to focus on the mistranslation of two words. “NEW COVENANT”. If Jeremiah was really teaching about a “NEW COVENANT”, then by Deut 13:1-9 he is a false prophet and should not be listened to at all. Jeremiah is not teaching replacement theology at all, or that there will be a NEW AND DISTINCT </a:t>
            </a:r>
            <a:r>
              <a:rPr lang="en"/>
              <a:t>covenant for his promised people.</a:t>
            </a:r>
            <a:endParaRPr/>
          </a:p>
          <a:p>
            <a:pPr indent="0" lvl="0" marL="0" rtl="0" algn="l">
              <a:spcBef>
                <a:spcPts val="1200"/>
              </a:spcBef>
              <a:spcAft>
                <a:spcPts val="1200"/>
              </a:spcAft>
              <a:buNone/>
            </a:pPr>
            <a:r>
              <a:rPr lang="en"/>
              <a:t>This portion of Jeremiah’s prophecy is an explanation of the prophecy Moses made in Deut 30 about his people’s return to Torah and YHWH.</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Restoration of the people to the land</a:t>
            </a:r>
            <a:endParaRPr/>
          </a:p>
        </p:txBody>
      </p:sp>
      <p:sp>
        <p:nvSpPr>
          <p:cNvPr id="83" name="Google Shape;83;p17"/>
          <p:cNvSpPr txBox="1"/>
          <p:nvPr>
            <p:ph idx="1" type="body"/>
          </p:nvPr>
        </p:nvSpPr>
        <p:spPr>
          <a:xfrm>
            <a:off x="311700" y="1234075"/>
            <a:ext cx="8520600" cy="33348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This is part of the gross misunderstanding of Christianity. The “covenant” is for the people and the land. And that’s another thing Christians miss reading about this “new” or “second” covenant to come to ALL people. It’s for Israel and Judah, and this is supposed to help point you back to Deut 30.</a:t>
            </a:r>
            <a:endParaRPr/>
          </a:p>
          <a:p>
            <a:pPr indent="0" lvl="0" marL="0" rtl="0" algn="l">
              <a:spcBef>
                <a:spcPts val="1200"/>
              </a:spcBef>
              <a:spcAft>
                <a:spcPts val="0"/>
              </a:spcAft>
              <a:buNone/>
            </a:pPr>
            <a:r>
              <a:rPr lang="en"/>
              <a:t>[Deu 30:1-3 LSB] "So it will be, when all of these things have come upon you, the blessing and the curse which I have set before you, and you cause [these things] to return to your heart in all the nations where Yahweh your God has banished you, and you return to Yahweh your God and listen to His voice with all your heart and soul according to all that I am commanding you today, you and your sons, then </a:t>
            </a:r>
            <a:r>
              <a:rPr b="1" lang="en"/>
              <a:t>Yahweh your God will return you from captivity</a:t>
            </a:r>
            <a:r>
              <a:rPr lang="en"/>
              <a:t> and return [His] compassion on you, and He will gather you again from all the peoples where Yahweh your God has scattered you.</a:t>
            </a:r>
            <a:endParaRPr/>
          </a:p>
          <a:p>
            <a:pPr indent="0" lvl="0" marL="0" rtl="0" algn="l">
              <a:spcBef>
                <a:spcPts val="1200"/>
              </a:spcBef>
              <a:spcAft>
                <a:spcPts val="0"/>
              </a:spcAft>
              <a:buNone/>
            </a:pPr>
            <a:r>
              <a:rPr lang="en"/>
              <a:t>There is no covenant for an alien people in all lands, like John says blaspheming YHWH - “A time is coming when people will worship in spirit and truth, not here or in Jerusalem.”</a:t>
            </a:r>
            <a:endParaRPr/>
          </a:p>
          <a:p>
            <a:pPr indent="0" lvl="0" marL="0" rtl="0" algn="l">
              <a:spcBef>
                <a:spcPts val="1200"/>
              </a:spcBef>
              <a:spcAft>
                <a:spcPts val="0"/>
              </a:spcAft>
              <a:buNone/>
            </a:pPr>
            <a:r>
              <a:rPr lang="en"/>
              <a:t>This is an absolute lie and makes every prophet of YHWH before the NT a liar.</a:t>
            </a:r>
            <a:endParaRPr/>
          </a:p>
          <a:p>
            <a:pPr indent="0" lvl="0" marL="0" rtl="0" algn="l">
              <a:spcBef>
                <a:spcPts val="1200"/>
              </a:spcBef>
              <a:spcAft>
                <a:spcPts val="1200"/>
              </a:spcAft>
              <a:buNone/>
            </a:pPr>
            <a:r>
              <a:rPr lang="en"/>
              <a:t>The covenant, even the restored covenant is about the people and the land.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RENEWED vow of YHWH</a:t>
            </a:r>
            <a:endParaRPr/>
          </a:p>
        </p:txBody>
      </p:sp>
      <p:sp>
        <p:nvSpPr>
          <p:cNvPr id="89" name="Google Shape;89;p18"/>
          <p:cNvSpPr txBox="1"/>
          <p:nvPr>
            <p:ph idx="1" type="body"/>
          </p:nvPr>
        </p:nvSpPr>
        <p:spPr>
          <a:xfrm>
            <a:off x="311700" y="1017725"/>
            <a:ext cx="8520600" cy="40080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a:t>A better way to think of the word used by Jeremiah in Hebrew is that YHWH is going to RENEW his covenant promise with Israel when Israel RENEWS their vow to Him. (see Deut 30:1-6)</a:t>
            </a:r>
            <a:endParaRPr/>
          </a:p>
          <a:p>
            <a:pPr indent="0" lvl="0" marL="0" rtl="0" algn="l">
              <a:spcBef>
                <a:spcPts val="1200"/>
              </a:spcBef>
              <a:spcAft>
                <a:spcPts val="0"/>
              </a:spcAft>
              <a:buNone/>
            </a:pPr>
            <a:r>
              <a:rPr lang="en"/>
              <a:t>[Jer 31:32-33 LSB] not like the covenant which I cut with their fathers in the day I took them by the hand to bring them out of the land of Egypt, My covenant which they broke, but I was a husband to them," declares Yahweh. "But this is the covenant which I will cut with the house of Israel after those days," declares Yahweh: "</a:t>
            </a:r>
            <a:r>
              <a:rPr b="1" lang="en"/>
              <a:t>I will put My torah within them</a:t>
            </a:r>
            <a:r>
              <a:rPr lang="en"/>
              <a:t>, and </a:t>
            </a:r>
            <a:r>
              <a:rPr b="1" lang="en"/>
              <a:t>on their heart I will write it</a:t>
            </a:r>
            <a:r>
              <a:rPr lang="en"/>
              <a:t>; and I will be their God, and they shall be My people.</a:t>
            </a:r>
            <a:endParaRPr/>
          </a:p>
          <a:p>
            <a:pPr indent="0" lvl="0" marL="0" rtl="0" algn="l">
              <a:spcBef>
                <a:spcPts val="1200"/>
              </a:spcBef>
              <a:spcAft>
                <a:spcPts val="0"/>
              </a:spcAft>
              <a:buNone/>
            </a:pPr>
            <a:r>
              <a:rPr lang="en"/>
              <a:t>[Deu 30:6 LSB] "Moreover </a:t>
            </a:r>
            <a:r>
              <a:rPr b="1" lang="en"/>
              <a:t>Yahweh your God will</a:t>
            </a:r>
            <a:r>
              <a:rPr lang="en"/>
              <a:t> </a:t>
            </a:r>
            <a:r>
              <a:rPr b="1" lang="en"/>
              <a:t>circumcise your heart</a:t>
            </a:r>
            <a:r>
              <a:rPr lang="en"/>
              <a:t> and the heart of your seed, to love Yahweh your God with all your heart and with all your soul, so that you may live.</a:t>
            </a:r>
            <a:endParaRPr/>
          </a:p>
          <a:p>
            <a:pPr indent="0" lvl="0" marL="0" rtl="0" algn="l">
              <a:spcBef>
                <a:spcPts val="1200"/>
              </a:spcBef>
              <a:spcAft>
                <a:spcPts val="0"/>
              </a:spcAft>
              <a:buNone/>
            </a:pPr>
            <a:r>
              <a:rPr lang="en"/>
              <a:t>Which makes the Hebrews interpretation absolutely bizarre:</a:t>
            </a:r>
            <a:endParaRPr/>
          </a:p>
          <a:p>
            <a:pPr indent="0" lvl="0" marL="0" rtl="0" algn="l">
              <a:spcBef>
                <a:spcPts val="1200"/>
              </a:spcBef>
              <a:spcAft>
                <a:spcPts val="0"/>
              </a:spcAft>
              <a:buNone/>
            </a:pPr>
            <a:r>
              <a:rPr lang="en"/>
              <a:t>[Heb 8:13 LSB] When He said, "A new [covenant]," </a:t>
            </a:r>
            <a:r>
              <a:rPr b="1" lang="en"/>
              <a:t>He has made the first obsolete</a:t>
            </a:r>
            <a:r>
              <a:rPr lang="en"/>
              <a:t>. But whatever is becoming obsolete and </a:t>
            </a:r>
            <a:r>
              <a:rPr b="1" lang="en"/>
              <a:t>growing old is ready to disappear</a:t>
            </a:r>
            <a:r>
              <a:rPr lang="en"/>
              <a:t>.</a:t>
            </a:r>
            <a:endParaRPr/>
          </a:p>
          <a:p>
            <a:pPr indent="0" lvl="0" marL="0" rtl="0" algn="l">
              <a:spcBef>
                <a:spcPts val="1200"/>
              </a:spcBef>
              <a:spcAft>
                <a:spcPts val="0"/>
              </a:spcAft>
              <a:buNone/>
            </a:pPr>
            <a:r>
              <a:rPr lang="en"/>
              <a:t>Where in Jeremiah’s text did he make the first covenant obsolete? Where does it say the TORAH the point of the author in sacrifice and offering and Paul on circumcision, say that it will DISAPPEAR??</a:t>
            </a:r>
            <a:endParaRPr/>
          </a:p>
          <a:p>
            <a:pPr indent="0" lvl="0" marL="0" rtl="0" algn="l">
              <a:spcBef>
                <a:spcPts val="1200"/>
              </a:spcBef>
              <a:spcAft>
                <a:spcPts val="0"/>
              </a:spcAft>
              <a:buNone/>
            </a:pPr>
            <a:r>
              <a:rPr lang="en"/>
              <a:t>NOWHERE. This is the warning of Deut 13:1-9. The NT is leading us to a different God, a different covenant and using the text of the prophets to lead us there.</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Making yourself like God</a:t>
            </a:r>
            <a:endParaRPr/>
          </a:p>
        </p:txBody>
      </p:sp>
      <p:sp>
        <p:nvSpPr>
          <p:cNvPr id="95" name="Google Shape;95;p19"/>
          <p:cNvSpPr txBox="1"/>
          <p:nvPr>
            <p:ph idx="1" type="body"/>
          </p:nvPr>
        </p:nvSpPr>
        <p:spPr>
          <a:xfrm>
            <a:off x="311700" y="1234075"/>
            <a:ext cx="8520600" cy="37848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I’ve seen many good intentioned people teaching that we have to write His Torah on our heart. This isn’t what the text says, not in any manuscript. And it’s backed up by the second witness of Torah.</a:t>
            </a:r>
            <a:endParaRPr/>
          </a:p>
          <a:p>
            <a:pPr indent="0" lvl="0" marL="0" rtl="0" algn="l">
              <a:spcBef>
                <a:spcPts val="1200"/>
              </a:spcBef>
              <a:spcAft>
                <a:spcPts val="0"/>
              </a:spcAft>
              <a:buNone/>
            </a:pPr>
            <a:r>
              <a:rPr lang="en"/>
              <a:t>But it’s also backed up by a </a:t>
            </a:r>
            <a:r>
              <a:rPr b="1" lang="en"/>
              <a:t>third witness</a:t>
            </a:r>
            <a:r>
              <a:rPr lang="en"/>
              <a:t>.</a:t>
            </a:r>
            <a:endParaRPr/>
          </a:p>
          <a:p>
            <a:pPr indent="0" lvl="0" marL="0" rtl="0" algn="l">
              <a:spcBef>
                <a:spcPts val="1200"/>
              </a:spcBef>
              <a:spcAft>
                <a:spcPts val="0"/>
              </a:spcAft>
              <a:buNone/>
            </a:pPr>
            <a:r>
              <a:rPr lang="en"/>
              <a:t>[Eze 36:26 LSB] "Moreover, </a:t>
            </a:r>
            <a:r>
              <a:rPr b="1" lang="en"/>
              <a:t>I will give you a new heart</a:t>
            </a:r>
            <a:r>
              <a:rPr lang="en"/>
              <a:t> and put a new spirit within you; and I will remove the heart of stone from your flesh and give you a heart of flesh.</a:t>
            </a:r>
            <a:endParaRPr/>
          </a:p>
          <a:p>
            <a:pPr indent="0" lvl="0" marL="0" rtl="0" algn="l">
              <a:spcBef>
                <a:spcPts val="1200"/>
              </a:spcBef>
              <a:spcAft>
                <a:spcPts val="1200"/>
              </a:spcAft>
              <a:buNone/>
            </a:pPr>
            <a:r>
              <a:rPr lang="en"/>
              <a:t>This is also about the renewed covenant, when YHWH </a:t>
            </a:r>
            <a:r>
              <a:rPr b="1" lang="en"/>
              <a:t>RESTORES </a:t>
            </a:r>
            <a:r>
              <a:rPr lang="en"/>
              <a:t>Israel and Judah to the promised land, and his kingdom reigns from there. When he does that YHWH will give them a new heart, and write His Torah upon it </a:t>
            </a:r>
            <a:r>
              <a:rPr lang="en"/>
              <a:t>circumcising it. It is NOT SOMETHING YOU CAN DO.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Now that we understand what’s wrong, let’s learn what’s right</a:t>
            </a:r>
            <a:endParaRPr/>
          </a:p>
        </p:txBody>
      </p:sp>
      <p:sp>
        <p:nvSpPr>
          <p:cNvPr id="101" name="Google Shape;101;p20"/>
          <p:cNvSpPr txBox="1"/>
          <p:nvPr>
            <p:ph idx="1" type="body"/>
          </p:nvPr>
        </p:nvSpPr>
        <p:spPr>
          <a:xfrm>
            <a:off x="311700" y="1234075"/>
            <a:ext cx="8520600" cy="37500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As we have seen - salvation to a Christian means being saved from hell, living in heaven with God and avoiding being tormented in Hell forever. Some of these could possibly be extrapolated from the NT - but most of them are doctrines of men that have formed around two passages in the NT.</a:t>
            </a:r>
            <a:endParaRPr/>
          </a:p>
          <a:p>
            <a:pPr indent="0" lvl="0" marL="0" rtl="0" algn="l">
              <a:spcBef>
                <a:spcPts val="1200"/>
              </a:spcBef>
              <a:spcAft>
                <a:spcPts val="0"/>
              </a:spcAft>
              <a:buNone/>
            </a:pPr>
            <a:r>
              <a:rPr lang="en"/>
              <a:t>[Act 4:12 LSB] "And there is salvation in no one else, for there is </a:t>
            </a:r>
            <a:r>
              <a:rPr b="1" lang="en"/>
              <a:t>no other name</a:t>
            </a:r>
            <a:r>
              <a:rPr lang="en"/>
              <a:t> under heaven that has been given among men by which we must be saved."</a:t>
            </a:r>
            <a:endParaRPr/>
          </a:p>
          <a:p>
            <a:pPr indent="0" lvl="0" marL="0" rtl="0" algn="l">
              <a:spcBef>
                <a:spcPts val="1200"/>
              </a:spcBef>
              <a:spcAft>
                <a:spcPts val="0"/>
              </a:spcAft>
              <a:buNone/>
            </a:pPr>
            <a:r>
              <a:rPr lang="en"/>
              <a:t>Which of course as I discussed in a prior study is based upon the passage from Joel that Paul also twists and misuses.</a:t>
            </a:r>
            <a:endParaRPr/>
          </a:p>
          <a:p>
            <a:pPr indent="0" lvl="0" marL="0" rtl="0" algn="l">
              <a:spcBef>
                <a:spcPts val="1200"/>
              </a:spcBef>
              <a:spcAft>
                <a:spcPts val="0"/>
              </a:spcAft>
              <a:buNone/>
            </a:pPr>
            <a:r>
              <a:rPr lang="en"/>
              <a:t>[Rom 10:13 LSB] for "WHOEVER CALLS ON THE NAME OF THE LORD WILL BE SAVED."</a:t>
            </a:r>
            <a:endParaRPr/>
          </a:p>
          <a:p>
            <a:pPr indent="0" lvl="0" marL="0" rtl="0" algn="l">
              <a:spcBef>
                <a:spcPts val="1200"/>
              </a:spcBef>
              <a:spcAft>
                <a:spcPts val="0"/>
              </a:spcAft>
              <a:buNone/>
            </a:pPr>
            <a:r>
              <a:rPr lang="en"/>
              <a:t>The thing is neither of these tell you what it means “to be saved” just that, “whoever calls on the name of the “LORD” (Which they interpret as “JESUS” because of the NT) will be saved.”</a:t>
            </a:r>
            <a:endParaRPr/>
          </a:p>
          <a:p>
            <a:pPr indent="0" lvl="0" marL="0" rtl="0" algn="l">
              <a:spcBef>
                <a:spcPts val="1200"/>
              </a:spcBef>
              <a:spcAft>
                <a:spcPts val="1200"/>
              </a:spcAft>
              <a:buNone/>
            </a:pPr>
            <a:r>
              <a:rPr lang="en"/>
              <a:t>So the first thing we need to do is dig into what they are </a:t>
            </a:r>
            <a:r>
              <a:rPr lang="en"/>
              <a:t>quoting and it will tell us what it means to be saved. Relying on a bad translation, and pretext from the NT authors is only going to lead to errors.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Exegeting Joel for your salvation</a:t>
            </a:r>
            <a:endParaRPr/>
          </a:p>
        </p:txBody>
      </p:sp>
      <p:sp>
        <p:nvSpPr>
          <p:cNvPr id="107" name="Google Shape;107;p21"/>
          <p:cNvSpPr txBox="1"/>
          <p:nvPr>
            <p:ph idx="1" type="body"/>
          </p:nvPr>
        </p:nvSpPr>
        <p:spPr>
          <a:xfrm>
            <a:off x="311700" y="1234075"/>
            <a:ext cx="8520600" cy="33348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[Joe 1:1 LSB] The word of Yahweh that came to Joel, the son of Pethuel:</a:t>
            </a:r>
            <a:endParaRPr/>
          </a:p>
          <a:p>
            <a:pPr indent="0" lvl="0" marL="0" rtl="0" algn="l">
              <a:spcBef>
                <a:spcPts val="1200"/>
              </a:spcBef>
              <a:spcAft>
                <a:spcPts val="0"/>
              </a:spcAft>
              <a:buNone/>
            </a:pPr>
            <a:r>
              <a:rPr lang="en"/>
              <a:t>This is the context of who was speaking and this is important as Joel wasn’t written to us, but we can still learn from it.</a:t>
            </a:r>
            <a:endParaRPr/>
          </a:p>
          <a:p>
            <a:pPr indent="0" lvl="0" marL="0" rtl="0" algn="l">
              <a:spcBef>
                <a:spcPts val="1200"/>
              </a:spcBef>
              <a:spcAft>
                <a:spcPts val="0"/>
              </a:spcAft>
              <a:buNone/>
            </a:pPr>
            <a:r>
              <a:rPr lang="en"/>
              <a:t>[Joe 1:13-14 LSB] Gird yourselves [with sackcloth] And lament, O priests; Wail, O ministers of the altar! Come, spend the night in sackcloth, O ministers of my God; For the grain offering and the drink offering Are withheld from the house of your God. Set apart a fast as holy, Call for a solemn assembly; Gather the elders [And] all the inhabitants of the land To the house of Yahweh your God, And cry out to Yahweh.</a:t>
            </a:r>
            <a:endParaRPr/>
          </a:p>
          <a:p>
            <a:pPr indent="0" lvl="0" marL="0" rtl="0" algn="l">
              <a:spcBef>
                <a:spcPts val="1200"/>
              </a:spcBef>
              <a:spcAft>
                <a:spcPts val="1200"/>
              </a:spcAft>
              <a:buNone/>
            </a:pPr>
            <a:r>
              <a:rPr lang="en"/>
              <a:t>This is what he is telling those </a:t>
            </a:r>
            <a:r>
              <a:rPr lang="en"/>
              <a:t>whom he was speaking to. This is what it means to “call on the name of YHWH” - or “LORD” - and it is Yahweh, not Jesus. But it’s MORE than just calling out his name, he’s looking for your heart to surrender and change.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day of YHWH is _NEAR_</a:t>
            </a:r>
            <a:endParaRPr/>
          </a:p>
        </p:txBody>
      </p:sp>
      <p:sp>
        <p:nvSpPr>
          <p:cNvPr id="113" name="Google Shape;113;p22"/>
          <p:cNvSpPr txBox="1"/>
          <p:nvPr>
            <p:ph idx="1" type="body"/>
          </p:nvPr>
        </p:nvSpPr>
        <p:spPr>
          <a:xfrm>
            <a:off x="311700" y="1234075"/>
            <a:ext cx="8520600" cy="378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[Joe 2:1 LSB] Blow a trumpet in Zion, And make a loud shout on My holy mountain! Let all the inhabitants of the land tremble, For the day of Yahweh is coming; Surely it is near,</a:t>
            </a:r>
            <a:endParaRPr/>
          </a:p>
          <a:p>
            <a:pPr indent="0" lvl="0" marL="0" rtl="0" algn="l">
              <a:spcBef>
                <a:spcPts val="1200"/>
              </a:spcBef>
              <a:spcAft>
                <a:spcPts val="1200"/>
              </a:spcAft>
              <a:buNone/>
            </a:pPr>
            <a:r>
              <a:rPr lang="en"/>
              <a:t>This is one way we know Peter and Paul were misusing and quoting out of context Joel 2:32 to support salvation by calling on the name of Jesus. The day of YHWH was </a:t>
            </a:r>
            <a:r>
              <a:rPr i="1" lang="en"/>
              <a:t>near</a:t>
            </a:r>
            <a:r>
              <a:rPr lang="en"/>
              <a:t> when Joel was prophesying to these people. If it wasn’t then just like with the book of Revelation claiming, “i am coming quickly” then Joel is a false prophet, not speaking for YHWH. If these things didn’t happen in his lifetime, then you cannot rely on them. It didn’t apply to the first century - but the ideas and concepts can be understood by us, and used by us today.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Babylon exile	</a:t>
            </a:r>
            <a:endParaRPr/>
          </a:p>
        </p:txBody>
      </p:sp>
      <p:sp>
        <p:nvSpPr>
          <p:cNvPr id="119" name="Google Shape;119;p23"/>
          <p:cNvSpPr txBox="1"/>
          <p:nvPr>
            <p:ph idx="1" type="body"/>
          </p:nvPr>
        </p:nvSpPr>
        <p:spPr>
          <a:xfrm>
            <a:off x="311700" y="1234075"/>
            <a:ext cx="8520600" cy="38055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This prophesy like many of them which I’ve detailed was about Jerusalem being sacked by Babylon.</a:t>
            </a:r>
            <a:endParaRPr/>
          </a:p>
          <a:p>
            <a:pPr indent="0" lvl="0" marL="0" rtl="0" algn="l">
              <a:spcBef>
                <a:spcPts val="1200"/>
              </a:spcBef>
              <a:spcAft>
                <a:spcPts val="0"/>
              </a:spcAft>
              <a:buNone/>
            </a:pPr>
            <a:r>
              <a:rPr lang="en"/>
              <a:t>[Joe 2:3 LSB] A fire consumes before them, And behind them a flame burns. The land is like the garden of Eden before them But a desolate wilderness behind them, And nothing at all escapes them.</a:t>
            </a:r>
            <a:endParaRPr/>
          </a:p>
          <a:p>
            <a:pPr indent="0" lvl="0" marL="0" rtl="0" algn="l">
              <a:spcBef>
                <a:spcPts val="1200"/>
              </a:spcBef>
              <a:spcAft>
                <a:spcPts val="0"/>
              </a:spcAft>
              <a:buNone/>
            </a:pPr>
            <a:r>
              <a:rPr lang="en"/>
              <a:t>Joel was one of the last prophets to warn them to repent, to save the LAND. This is an important concept as it relates to the Hebraic idea of what salvation is. It’s not about saving you from eternal torment. The second time the word is used is where?</a:t>
            </a:r>
            <a:endParaRPr/>
          </a:p>
          <a:p>
            <a:pPr indent="0" lvl="0" marL="0" rtl="0" algn="l">
              <a:spcBef>
                <a:spcPts val="1200"/>
              </a:spcBef>
              <a:spcAft>
                <a:spcPts val="0"/>
              </a:spcAft>
              <a:buNone/>
            </a:pPr>
            <a:r>
              <a:rPr lang="en"/>
              <a:t>[Exo 14:13 LSB] But Moses said to the people, "Do not fear! Stand by and see the salvation of Yahweh which He will accomplish for you today; for the Egyptians whom you have seen today, you will never see them again forever.</a:t>
            </a:r>
            <a:endParaRPr/>
          </a:p>
          <a:p>
            <a:pPr indent="0" lvl="0" marL="0" rtl="0" algn="l">
              <a:spcBef>
                <a:spcPts val="1200"/>
              </a:spcBef>
              <a:spcAft>
                <a:spcPts val="1200"/>
              </a:spcAft>
              <a:buNone/>
            </a:pPr>
            <a:r>
              <a:rPr lang="en"/>
              <a:t>Moses was used by YHWH to save his people from slavery in Egypt and give them the Torah, and to bring them to the land promised Abraham. This is the </a:t>
            </a:r>
            <a:r>
              <a:rPr b="1" lang="en"/>
              <a:t>consistent</a:t>
            </a:r>
            <a:r>
              <a:rPr lang="en"/>
              <a:t> message of salvation in the Torah and the Prophets and Messianics, Christians of all stripes try to spiritualize these messages to replace the physical promises to physical Israel to spiritual promises to spiritual Israel.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Yah is the unchanging one</a:t>
            </a:r>
            <a:endParaRPr/>
          </a:p>
        </p:txBody>
      </p:sp>
      <p:sp>
        <p:nvSpPr>
          <p:cNvPr id="125" name="Google Shape;125;p24"/>
          <p:cNvSpPr txBox="1"/>
          <p:nvPr>
            <p:ph idx="1" type="body"/>
          </p:nvPr>
        </p:nvSpPr>
        <p:spPr>
          <a:xfrm>
            <a:off x="311700" y="1234075"/>
            <a:ext cx="8520600" cy="37848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[Mal 3:6 LSB] "For I, Yahweh, do not change; therefore you, O sons of Jacob, are not consumed.</a:t>
            </a:r>
            <a:endParaRPr/>
          </a:p>
          <a:p>
            <a:pPr indent="0" lvl="0" marL="0" rtl="0" algn="l">
              <a:spcBef>
                <a:spcPts val="1200"/>
              </a:spcBef>
              <a:spcAft>
                <a:spcPts val="0"/>
              </a:spcAft>
              <a:buNone/>
            </a:pPr>
            <a:r>
              <a:rPr lang="en"/>
              <a:t>Though man changes, Yah does not ever nor will ever change. He is eternal and perfect. He is not learning with us (the blasphemy of open theism) nor did he need to send his begotten son, or a part of himself to understand and save us. He didn’t have to do that for all the times he delivered Israel from their affliction.</a:t>
            </a:r>
            <a:endParaRPr/>
          </a:p>
          <a:p>
            <a:pPr indent="0" lvl="0" marL="0" rtl="0" algn="l">
              <a:spcBef>
                <a:spcPts val="1200"/>
              </a:spcBef>
              <a:spcAft>
                <a:spcPts val="0"/>
              </a:spcAft>
              <a:buNone/>
            </a:pPr>
            <a:r>
              <a:rPr lang="en"/>
              <a:t>[Jdg 6:6-7 LSB] So Israel was brought very low because of Midian, and the sons of Israel cried out to Yahweh. Now it happened when the sons of Israel cried out to Yahweh on account of Midian,</a:t>
            </a:r>
            <a:endParaRPr/>
          </a:p>
          <a:p>
            <a:pPr indent="0" lvl="0" marL="0" rtl="0" algn="l">
              <a:spcBef>
                <a:spcPts val="1200"/>
              </a:spcBef>
              <a:spcAft>
                <a:spcPts val="1200"/>
              </a:spcAft>
              <a:buNone/>
            </a:pPr>
            <a:r>
              <a:rPr lang="en"/>
              <a:t>The purpose of the affliction is to bring you low, to humble you so you will put sackcloth and ashes on, fast and repent turn from your wicked ways and learn to do what is right. But when you simply tell someone, “you are saved - you called on Jesus, the battle is over” you leave that person PROUD. This is the problem I see in Christianity and Judaism. Orthodox Jews preach they are gods chosen people even though for 2000 years YHWH did not restore them to the land. (and he still hasn’t, the modern state of Israel is in the general area, but it is not of YHWH.)  This is why Christianity has existed for over 2000 years, without truly changing most men’s hearts.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Humble yourself before YHWH alone</a:t>
            </a:r>
            <a:endParaRPr/>
          </a:p>
        </p:txBody>
      </p:sp>
      <p:sp>
        <p:nvSpPr>
          <p:cNvPr id="131" name="Google Shape;131;p25"/>
          <p:cNvSpPr txBox="1"/>
          <p:nvPr>
            <p:ph idx="1" type="body"/>
          </p:nvPr>
        </p:nvSpPr>
        <p:spPr>
          <a:xfrm>
            <a:off x="311700" y="1234075"/>
            <a:ext cx="8520600" cy="38193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lang="en"/>
              <a:t>[Joe 2:12-17 LSB] "Yet even now," declares Yahweh, "</a:t>
            </a:r>
            <a:r>
              <a:rPr b="1" lang="en"/>
              <a:t>Return to Me with all your heart</a:t>
            </a:r>
            <a:r>
              <a:rPr lang="en"/>
              <a:t> And </a:t>
            </a:r>
            <a:r>
              <a:rPr b="1" lang="en"/>
              <a:t>with fasting, weeping, and wailing</a:t>
            </a:r>
            <a:r>
              <a:rPr lang="en"/>
              <a:t>; And </a:t>
            </a:r>
            <a:r>
              <a:rPr b="1" lang="en"/>
              <a:t>tear your heart and not your garments</a:t>
            </a:r>
            <a:r>
              <a:rPr lang="en"/>
              <a:t>." Now </a:t>
            </a:r>
            <a:r>
              <a:rPr b="1" lang="en"/>
              <a:t>return to Yahweh your God</a:t>
            </a:r>
            <a:r>
              <a:rPr lang="en"/>
              <a:t>, For He is gracious and compassionate, Slow to anger, abounding in lovingkindness, And relenting concerning evil. Who knows whether He will [not] turn and relent And leave a blessing behind Him, [Even] a grain offering and a drink offering For Yahweh your God? Blow a trumpet in Zion, Set apart a fast as holy, call for a solemn assembly, Gather the people, set apart the congregation as holy, Assemble the elders, Gather the infants and the nursing babies. Let the bridegroom come out of his room And the bride out of her [bridal] chamber. Let the priests, the ministers of Yahweh, Weep between the porch and the altar, And let them say, "Pity Your people, O Yahweh, And do not make Your inheritance a reproach, A byword among the nations. Why should they among the peoples say, 'Where is their God?'"</a:t>
            </a:r>
            <a:endParaRPr/>
          </a:p>
          <a:p>
            <a:pPr indent="0" lvl="0" marL="0" rtl="0" algn="l">
              <a:spcBef>
                <a:spcPts val="1200"/>
              </a:spcBef>
              <a:spcAft>
                <a:spcPts val="0"/>
              </a:spcAft>
              <a:buNone/>
            </a:pPr>
            <a:r>
              <a:rPr lang="en"/>
              <a:t>This is something else you see in common. When affliction comes what do people do? They go to the most righteous person they know and ask them to mediate for them. Christians who say they “know Jesus” still call on elders of the faith that they believe are more righteous to intercede for them in </a:t>
            </a:r>
            <a:r>
              <a:rPr lang="en"/>
              <a:t>prayer</a:t>
            </a:r>
            <a:r>
              <a:rPr lang="en"/>
              <a:t>. The rabbinic Jews do the same, but also (like Christians) revere dead men for their dead and stale wisdom.</a:t>
            </a:r>
            <a:endParaRPr/>
          </a:p>
          <a:p>
            <a:pPr indent="0" lvl="0" marL="0" rtl="0" algn="l">
              <a:spcBef>
                <a:spcPts val="1200"/>
              </a:spcBef>
              <a:spcAft>
                <a:spcPts val="1200"/>
              </a:spcAft>
              <a:buNone/>
            </a:pPr>
            <a:r>
              <a:rPr lang="en"/>
              <a:t>You want mercy, fast, mourn, repent, cease from doing evil, cease from following the desires of your wicked heart and return to YHWH alone as your God, and Savior. I believe this is what will lead to actual </a:t>
            </a:r>
            <a:r>
              <a:rPr lang="en"/>
              <a:t>salvation</a:t>
            </a:r>
            <a:r>
              <a:rPr lang="en"/>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Restore us to the land!</a:t>
            </a:r>
            <a:endParaRPr/>
          </a:p>
        </p:txBody>
      </p:sp>
      <p:sp>
        <p:nvSpPr>
          <p:cNvPr id="137" name="Google Shape;137;p26"/>
          <p:cNvSpPr txBox="1"/>
          <p:nvPr>
            <p:ph idx="1" type="body"/>
          </p:nvPr>
        </p:nvSpPr>
        <p:spPr>
          <a:xfrm>
            <a:off x="311700" y="1081375"/>
            <a:ext cx="8520600" cy="3978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[Joe 2:18-22 LSB] Then Yahweh will be zealous for His land And will spare His people. Then Yahweh will answer and say to His people, "Behold, I am going to send you grain, new wine, and oil, And you will be satisfied [in full] with them; And I will never again make you a reproach among the nations. "But I will remove the northern [military force] far from you, And I will drive it into a parched and desolate land, And its vanguard into the eastern sea, And its rear guard into the western sea. And its stench will rise up, and its foul smell will rise up, For it has done great things." Do not fear, O land, rejoice and be glad, For Yahweh has done great things. Do not fear, beasts of the field, For the pastures of the wilderness have turned green, For the tree has borne its fruit; The fig tree and the vine have yielded their full force.</a:t>
            </a:r>
            <a:endParaRPr/>
          </a:p>
          <a:p>
            <a:pPr indent="0" lvl="0" marL="0" rtl="0" algn="l">
              <a:spcBef>
                <a:spcPts val="1200"/>
              </a:spcBef>
              <a:spcAft>
                <a:spcPts val="1200"/>
              </a:spcAft>
              <a:buNone/>
            </a:pPr>
            <a:r>
              <a:rPr lang="en"/>
              <a:t>YHWH promises if we return to Him he will restore the land, and restore us to the land. THAT is what SALVATION means. It’s not about calling on the name of YHWH or the NT idol. It’s about repenting, fasting and changing your ACTIONS. This is what it means IN CONTEXT to as Joel says better than me: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Whoever calls on the name of YHWH</a:t>
            </a:r>
            <a:endParaRPr/>
          </a:p>
        </p:txBody>
      </p:sp>
      <p:sp>
        <p:nvSpPr>
          <p:cNvPr id="143" name="Google Shape;143;p27"/>
          <p:cNvSpPr txBox="1"/>
          <p:nvPr>
            <p:ph idx="1" type="body"/>
          </p:nvPr>
        </p:nvSpPr>
        <p:spPr>
          <a:xfrm>
            <a:off x="311700" y="1234075"/>
            <a:ext cx="8520600" cy="38262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[Joe 2:28-32 LSB] And it will be afterwards That I will pour out My Spirit on all mankind; And your sons and your daughters shall prophesy; Your old men will dream dreams; Your young men will see visions. "Even on the male slaves and female slaves I will in those days pour out My Spirit. "And I will put wonders in the sky and on the earth, Blood, fire, and columns of smoke. "The sun will be turned into darkness And the moon into blood Before the great and awesome day of Yahweh comes. "And it will be that everyone who calls on the name of Yahweh Will be delivered; For on Mount Zion and in Jerusalem There will be those who escape, As Yahweh has said, Even among the survivors whom Yahweh calls.</a:t>
            </a:r>
            <a:endParaRPr/>
          </a:p>
          <a:p>
            <a:pPr indent="0" lvl="0" marL="0" rtl="0" algn="l">
              <a:spcBef>
                <a:spcPts val="1200"/>
              </a:spcBef>
              <a:spcAft>
                <a:spcPts val="0"/>
              </a:spcAft>
              <a:buNone/>
            </a:pPr>
            <a:r>
              <a:rPr lang="en"/>
              <a:t>The pouring out of His Ruach happened during the exile, and restoration which the other prophets talk about. What’s important here is </a:t>
            </a:r>
            <a:r>
              <a:rPr b="1" lang="en"/>
              <a:t>context - </a:t>
            </a:r>
            <a:r>
              <a:rPr lang="en"/>
              <a:t>what did Joel mean by saying, “everyone who calls on the name of Yahweh will be delivered”? If you have a broken and contrite heart, are humble before YHWH act in justice and love mercy, you will be delivered from affliction. PHYSICAL AND SPIRITUAL.</a:t>
            </a:r>
            <a:endParaRPr/>
          </a:p>
          <a:p>
            <a:pPr indent="0" lvl="0" marL="0" rtl="0" algn="l">
              <a:spcBef>
                <a:spcPts val="1200"/>
              </a:spcBef>
              <a:spcAft>
                <a:spcPts val="1200"/>
              </a:spcAft>
              <a:buNone/>
            </a:pPr>
            <a:r>
              <a:rPr lang="en"/>
              <a:t>When YHWH restores the people to the land, the righteous will also be restored. Salvation is not about going up to heaven, or avoiding eternal hell fire. This is the wicked Greek imagination twisting scripture. Salvation is about restoring your relationship to YHWH through the Torah and restoring Israel and Judah to the promised land.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Dealing with lies that lead to idolatry</a:t>
            </a:r>
            <a:endParaRPr/>
          </a:p>
        </p:txBody>
      </p:sp>
      <p:sp>
        <p:nvSpPr>
          <p:cNvPr id="149" name="Google Shape;149;p28"/>
          <p:cNvSpPr txBox="1"/>
          <p:nvPr>
            <p:ph idx="1" type="body"/>
          </p:nvPr>
        </p:nvSpPr>
        <p:spPr>
          <a:xfrm>
            <a:off x="311700" y="1102175"/>
            <a:ext cx="8520600" cy="39027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en"/>
              <a:t>Some of the pervasive lies come from hyper interpretation of Pauline points. </a:t>
            </a:r>
            <a:endParaRPr/>
          </a:p>
          <a:p>
            <a:pPr indent="-308610" lvl="0" marL="457200" rtl="0" algn="l">
              <a:spcBef>
                <a:spcPts val="1200"/>
              </a:spcBef>
              <a:spcAft>
                <a:spcPts val="0"/>
              </a:spcAft>
              <a:buSzPct val="100000"/>
              <a:buAutoNum type="arabicPeriod"/>
            </a:pPr>
            <a:r>
              <a:rPr lang="en"/>
              <a:t>Original sin, which comes from Romans 5 and 7. That we have inherited Adam’s original sin in the Garden and that is why we need the profanity of human sacrifice to free us, to replace our crime.</a:t>
            </a:r>
            <a:endParaRPr/>
          </a:p>
          <a:p>
            <a:pPr indent="0" lvl="0" marL="0" rtl="0" algn="l">
              <a:spcBef>
                <a:spcPts val="1200"/>
              </a:spcBef>
              <a:spcAft>
                <a:spcPts val="0"/>
              </a:spcAft>
              <a:buNone/>
            </a:pPr>
            <a:r>
              <a:rPr lang="en"/>
              <a:t>Let’s deal with that, first what does the Torah say about you inheriting your Father’s sin?</a:t>
            </a:r>
            <a:endParaRPr/>
          </a:p>
          <a:p>
            <a:pPr indent="0" lvl="0" marL="0" rtl="0" algn="l">
              <a:spcBef>
                <a:spcPts val="1200"/>
              </a:spcBef>
              <a:spcAft>
                <a:spcPts val="0"/>
              </a:spcAft>
              <a:buNone/>
            </a:pPr>
            <a:r>
              <a:rPr lang="en"/>
              <a:t>[Deu 24:16 LSB] "Fathers shall not be put to death for [their] sons, nor shall sons be put to death for [their] fathers; each shall be put to death for his own sin.</a:t>
            </a:r>
            <a:endParaRPr/>
          </a:p>
          <a:p>
            <a:pPr indent="0" lvl="0" marL="0" rtl="0" algn="l">
              <a:spcBef>
                <a:spcPts val="1200"/>
              </a:spcBef>
              <a:spcAft>
                <a:spcPts val="0"/>
              </a:spcAft>
              <a:buNone/>
            </a:pPr>
            <a:r>
              <a:rPr lang="en"/>
              <a:t>You as a son of Adam (Son of man / B’nei Adam) can’t be put to death for the sins of Adam. You aren’t guilty of Adam’s sin thusly, Paul’s whole argument in Romans 5 is destroyed by this one verse. But there is another witness in Deuteronomy.</a:t>
            </a:r>
            <a:endParaRPr/>
          </a:p>
          <a:p>
            <a:pPr indent="0" lvl="0" marL="0" rtl="0" algn="l">
              <a:spcBef>
                <a:spcPts val="1200"/>
              </a:spcBef>
              <a:spcAft>
                <a:spcPts val="0"/>
              </a:spcAft>
              <a:buNone/>
            </a:pPr>
            <a:r>
              <a:rPr lang="en"/>
              <a:t>[Deu 1:39 LSB] 'Moreover, your little ones who you said would become plunder, and your sons, who this day have no knowledge of good or evil, shall enter there, and I will give it to them, and they shall possess it.</a:t>
            </a:r>
            <a:endParaRPr/>
          </a:p>
          <a:p>
            <a:pPr indent="0" lvl="0" marL="0" rtl="0" algn="l">
              <a:spcBef>
                <a:spcPts val="1200"/>
              </a:spcBef>
              <a:spcAft>
                <a:spcPts val="1200"/>
              </a:spcAft>
              <a:buNone/>
            </a:pPr>
            <a:r>
              <a:rPr lang="en"/>
              <a:t>The youth do not have knowledge of good and evil. As I said in the prior study on Isaiah 7:11-16, this doesn’t mean they are not doing what is evil - it means they literally don’t know the difference yet in their mind and heart.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More lies that lead your heart to build the idol</a:t>
            </a:r>
            <a:endParaRPr/>
          </a:p>
        </p:txBody>
      </p:sp>
      <p:sp>
        <p:nvSpPr>
          <p:cNvPr id="155" name="Google Shape;155;p29"/>
          <p:cNvSpPr txBox="1"/>
          <p:nvPr>
            <p:ph idx="1" type="body"/>
          </p:nvPr>
        </p:nvSpPr>
        <p:spPr>
          <a:xfrm>
            <a:off x="311700" y="1081375"/>
            <a:ext cx="8520600" cy="39720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a:t>2. That you cannot be righteous, this lie comes from Paul as well built off of Galatians and Romans</a:t>
            </a:r>
            <a:endParaRPr/>
          </a:p>
          <a:p>
            <a:pPr indent="0" lvl="0" marL="0" rtl="0" algn="l">
              <a:spcBef>
                <a:spcPts val="1200"/>
              </a:spcBef>
              <a:spcAft>
                <a:spcPts val="0"/>
              </a:spcAft>
              <a:buNone/>
            </a:pPr>
            <a:r>
              <a:rPr lang="en"/>
              <a:t>Of course this lie is built on the prior one, and the next lies are built off the first two. If you could be righteous in Paul’s words:</a:t>
            </a:r>
            <a:endParaRPr/>
          </a:p>
          <a:p>
            <a:pPr indent="0" lvl="0" marL="0" rtl="0" algn="l">
              <a:spcBef>
                <a:spcPts val="1200"/>
              </a:spcBef>
              <a:spcAft>
                <a:spcPts val="0"/>
              </a:spcAft>
              <a:buNone/>
            </a:pPr>
            <a:r>
              <a:rPr lang="en"/>
              <a:t>[Gal 2:21 LSB] "I do not set aside the grace of God, for if righteousness [comes] through the Law, then Christ died needlessly."</a:t>
            </a:r>
            <a:endParaRPr/>
          </a:p>
          <a:p>
            <a:pPr indent="0" lvl="0" marL="0" rtl="0" algn="l">
              <a:spcBef>
                <a:spcPts val="1200"/>
              </a:spcBef>
              <a:spcAft>
                <a:spcPts val="0"/>
              </a:spcAft>
              <a:buNone/>
            </a:pPr>
            <a:r>
              <a:rPr lang="en"/>
              <a:t>If righteousness could come through the Torah/Instructions/law then Christos (and Paul’s </a:t>
            </a:r>
            <a:r>
              <a:rPr lang="en"/>
              <a:t>misuse</a:t>
            </a:r>
            <a:r>
              <a:rPr lang="en"/>
              <a:t> of this word shows he did not understand it’s meaning) died in vain, needlessly. This is why I think those of you that return to Torah have so much trouble rejecting the lies of the NT, is you cling to your inability to live righteously. In Paul’s own words, the death of Jesus is vanity if one can live righteously.</a:t>
            </a:r>
            <a:endParaRPr/>
          </a:p>
          <a:p>
            <a:pPr indent="0" lvl="0" marL="0" rtl="0" algn="l">
              <a:spcBef>
                <a:spcPts val="1200"/>
              </a:spcBef>
              <a:spcAft>
                <a:spcPts val="0"/>
              </a:spcAft>
              <a:buNone/>
            </a:pPr>
            <a:r>
              <a:rPr lang="en"/>
              <a:t>[Luk 1:5-6 LSB] In the days of Herod, king of Judea, there was a priest named Zechariah, of the division of Abijah, and he had a wife from the daughters of Aaron, and her name was Elizabeth. And they were both righteous in the sight of God, walking blamelessly in all the commandments and righteous requirements of the Lord.</a:t>
            </a:r>
            <a:endParaRPr/>
          </a:p>
          <a:p>
            <a:pPr indent="0" lvl="0" marL="0" rtl="0" algn="l">
              <a:spcBef>
                <a:spcPts val="1200"/>
              </a:spcBef>
              <a:spcAft>
                <a:spcPts val="0"/>
              </a:spcAft>
              <a:buNone/>
            </a:pPr>
            <a:r>
              <a:rPr lang="en"/>
              <a:t>[Act 10:1-2, 34-35 LSB] Now [there was] a man at Caesarea named Cornelius, a centurion of what was called the Italian cohort, a devout man and one who feared God with all his household, and gave many alms to the people and prayed to God continually. ... And opening his mouth, Peter said: "I most truly comprehend [now] that God is not one to show partiality, but in every nation the one who fears Him and does righteousness is welcome to Him.</a:t>
            </a:r>
            <a:endParaRPr/>
          </a:p>
          <a:p>
            <a:pPr indent="0" lvl="0" marL="0" rtl="0" algn="l">
              <a:spcBef>
                <a:spcPts val="1200"/>
              </a:spcBef>
              <a:spcAft>
                <a:spcPts val="1200"/>
              </a:spcAft>
              <a:buNone/>
            </a:pPr>
            <a:r>
              <a:rPr lang="en"/>
              <a:t>This is one of the many ways you know Paul’s letters were not distributed with the writings attributed to Luke as Luke shows us men can live </a:t>
            </a:r>
            <a:r>
              <a:rPr lang="en"/>
              <a:t>righteously</a:t>
            </a:r>
            <a:r>
              <a:rPr lang="en"/>
              <a:t> by the Torah. It is possible to do what’s right, to obey Yah’s Torah. Now according to Paul this means Jesus died in vain. If you have rejected Paul, why did Jesus die?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Because of your inability you need Christ’s perfect righteousness</a:t>
            </a:r>
            <a:endParaRPr/>
          </a:p>
        </p:txBody>
      </p:sp>
      <p:sp>
        <p:nvSpPr>
          <p:cNvPr id="161" name="Google Shape;161;p30"/>
          <p:cNvSpPr txBox="1"/>
          <p:nvPr>
            <p:ph idx="1" type="body"/>
          </p:nvPr>
        </p:nvSpPr>
        <p:spPr>
          <a:xfrm>
            <a:off x="311700" y="1234075"/>
            <a:ext cx="8520600" cy="38331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3. This is one of the Reformers favorites - imputation. His righteousness by faith is imputed to you.</a:t>
            </a:r>
            <a:endParaRPr/>
          </a:p>
          <a:p>
            <a:pPr indent="0" lvl="0" marL="0" rtl="0" algn="l">
              <a:spcBef>
                <a:spcPts val="1200"/>
              </a:spcBef>
              <a:spcAft>
                <a:spcPts val="0"/>
              </a:spcAft>
              <a:buNone/>
            </a:pPr>
            <a:r>
              <a:rPr lang="en"/>
              <a:t>If the sin of Adam is not imputed to you, why would the so called righteousness of the second Adam be imputed to you?</a:t>
            </a:r>
            <a:endParaRPr/>
          </a:p>
          <a:p>
            <a:pPr indent="0" lvl="0" marL="0" rtl="0" algn="l">
              <a:spcBef>
                <a:spcPts val="1200"/>
              </a:spcBef>
              <a:spcAft>
                <a:spcPts val="0"/>
              </a:spcAft>
              <a:buNone/>
            </a:pPr>
            <a:r>
              <a:rPr lang="en"/>
              <a:t>[Exo 32:33 LSB] And Yahweh said to Moses, "Whoever has sinned against Me, I will blot him out of My book.</a:t>
            </a:r>
            <a:endParaRPr/>
          </a:p>
          <a:p>
            <a:pPr indent="0" lvl="0" marL="0" rtl="0" algn="l">
              <a:spcBef>
                <a:spcPts val="1200"/>
              </a:spcBef>
              <a:spcAft>
                <a:spcPts val="0"/>
              </a:spcAft>
              <a:buNone/>
            </a:pPr>
            <a:r>
              <a:rPr lang="en"/>
              <a:t>Your righteousness is your righteousness and your sin is your sin. You don’t pay (and cannot) pay for someone else’s crimes against Yah - neither can your righteousness or Jesus’ righteousness be imputed to another man on the day of judgement.</a:t>
            </a:r>
            <a:endParaRPr/>
          </a:p>
          <a:p>
            <a:pPr indent="0" lvl="0" marL="0" rtl="0" algn="l">
              <a:spcBef>
                <a:spcPts val="1200"/>
              </a:spcBef>
              <a:spcAft>
                <a:spcPts val="1200"/>
              </a:spcAft>
              <a:buNone/>
            </a:pPr>
            <a:r>
              <a:rPr lang="en"/>
              <a:t>[Eze 14:13-14 LSB] "Son of man, if a country sins against Me by committing unfaithfulness, and I stretch out My hand against it, break its staff of bread, send famine against it, and cut off from it both man and beast, even [though] these three men, Noah, Daniel, and Job were in its midst, by their [own] righteousness they could [only] deliver themselves," declares Lord Yahweh.</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Substitution for our sin?</a:t>
            </a:r>
            <a:endParaRPr/>
          </a:p>
        </p:txBody>
      </p:sp>
      <p:sp>
        <p:nvSpPr>
          <p:cNvPr id="167" name="Google Shape;167;p31"/>
          <p:cNvSpPr txBox="1"/>
          <p:nvPr>
            <p:ph idx="1" type="body"/>
          </p:nvPr>
        </p:nvSpPr>
        <p:spPr>
          <a:xfrm>
            <a:off x="311700" y="1234075"/>
            <a:ext cx="8520600" cy="38331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4. And the culmination of all that, being born a sinner, being unable to obey, having to accept the imputation of another man’s righteousness also means we need to believe in his substitutionary death on the cross.</a:t>
            </a:r>
            <a:endParaRPr/>
          </a:p>
          <a:p>
            <a:pPr indent="0" lvl="0" marL="0" rtl="0" algn="l">
              <a:spcBef>
                <a:spcPts val="1200"/>
              </a:spcBef>
              <a:spcAft>
                <a:spcPts val="0"/>
              </a:spcAft>
              <a:buNone/>
            </a:pPr>
            <a:r>
              <a:rPr lang="en"/>
              <a:t>But this is impossible - and the interesting thing is it’s already been destroyed by </a:t>
            </a:r>
            <a:r>
              <a:rPr lang="en"/>
              <a:t>the</a:t>
            </a:r>
            <a:r>
              <a:rPr lang="en"/>
              <a:t> verses present. However Yah gave us </a:t>
            </a:r>
            <a:r>
              <a:rPr lang="en"/>
              <a:t>another</a:t>
            </a:r>
            <a:r>
              <a:rPr lang="en"/>
              <a:t> witness to destroy this idea as well.</a:t>
            </a:r>
            <a:endParaRPr/>
          </a:p>
          <a:p>
            <a:pPr indent="0" lvl="0" marL="0" rtl="0" algn="l">
              <a:spcBef>
                <a:spcPts val="1200"/>
              </a:spcBef>
              <a:spcAft>
                <a:spcPts val="0"/>
              </a:spcAft>
              <a:buNone/>
            </a:pPr>
            <a:r>
              <a:rPr lang="en"/>
              <a:t>[Exo 32:30 LSB] Now it happened on the next day, that Moses said to the people, "You yourselves have committed a great sin; but now I am going up to Yahweh, perhaps I can make atonement for your sin."</a:t>
            </a:r>
            <a:endParaRPr/>
          </a:p>
          <a:p>
            <a:pPr indent="0" lvl="0" marL="0" rtl="0" algn="l">
              <a:spcBef>
                <a:spcPts val="1200"/>
              </a:spcBef>
              <a:spcAft>
                <a:spcPts val="0"/>
              </a:spcAft>
              <a:buNone/>
            </a:pPr>
            <a:r>
              <a:rPr lang="en"/>
              <a:t>Moses (and this was before he had sinned) went up to YHWH to see if he could make atonement for him, replacing his life for the life of Israel.</a:t>
            </a:r>
            <a:endParaRPr/>
          </a:p>
          <a:p>
            <a:pPr indent="0" lvl="0" marL="0" rtl="0" algn="l">
              <a:spcBef>
                <a:spcPts val="1200"/>
              </a:spcBef>
              <a:spcAft>
                <a:spcPts val="1200"/>
              </a:spcAft>
              <a:buNone/>
            </a:pPr>
            <a:r>
              <a:rPr lang="en"/>
              <a:t>YHWH </a:t>
            </a:r>
            <a:r>
              <a:rPr i="1" lang="en"/>
              <a:t>REJECTED</a:t>
            </a:r>
            <a:r>
              <a:rPr lang="en"/>
              <a:t> the substitutionary atonement offered by Moses. This wasn’t because he was waiting for the atonement to be offered by “his son” - it’s because he doesn’t REQUIRE IT AT ALL. He wants us to be broken of spirit, contrite in our hearts and turn from our wicked ways and turn to doing right. If we do that, he will overlook our former sin, </a:t>
            </a:r>
            <a:r>
              <a:rPr b="1" lang="en"/>
              <a:t>without any sacrifice</a:t>
            </a:r>
            <a:r>
              <a:rPr lang="en"/>
              <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SALVATION IF YOU KEEP IT</a:t>
            </a:r>
            <a:endParaRPr/>
          </a:p>
        </p:txBody>
      </p:sp>
      <p:sp>
        <p:nvSpPr>
          <p:cNvPr id="173" name="Google Shape;173;p32"/>
          <p:cNvSpPr txBox="1"/>
          <p:nvPr>
            <p:ph idx="1" type="body"/>
          </p:nvPr>
        </p:nvSpPr>
        <p:spPr>
          <a:xfrm>
            <a:off x="311700" y="1234075"/>
            <a:ext cx="8520600" cy="37986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a:t>Now we know what Salvation is and isn’t, we understand we aren’t presently saved and delivered but will be if we keep the promises of Yah and hold fast to what is true. </a:t>
            </a:r>
            <a:endParaRPr/>
          </a:p>
          <a:p>
            <a:pPr indent="0" lvl="0" marL="0" rtl="0" algn="l">
              <a:spcBef>
                <a:spcPts val="1200"/>
              </a:spcBef>
              <a:spcAft>
                <a:spcPts val="0"/>
              </a:spcAft>
              <a:buNone/>
            </a:pPr>
            <a:r>
              <a:rPr lang="en"/>
              <a:t>This is the message I believe Yehudah/Yeshua was teaching. But he died, not as an example as obedience does not lead to death - but because he was not trusting 100% in the deliverance of Yahweh. He was a zealot, he died trying to battle Rome in his own strength. When his mission failed, they like the Maccabees began to spread the idea that his death and his blood was necessary for the atonement of Israel’s sins. They likely misused passages like Isaiah 53 to understand this, why did he die - why did God forsake his mission on the cross cursing him? (Deut 21:23) </a:t>
            </a:r>
            <a:endParaRPr/>
          </a:p>
          <a:p>
            <a:pPr indent="0" lvl="0" marL="0" rtl="0" algn="l">
              <a:spcBef>
                <a:spcPts val="1200"/>
              </a:spcBef>
              <a:spcAft>
                <a:spcPts val="1200"/>
              </a:spcAft>
              <a:buNone/>
            </a:pPr>
            <a:r>
              <a:rPr lang="en"/>
              <a:t>The answer is because He had forsaken Torah and turned from trusting YHWH alone.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1AFD1"/>
      </a:accent4>
      <a:accent5>
        <a:srgbClr val="0F9D58"/>
      </a:accent5>
      <a:accent6>
        <a:srgbClr val="9C27B0"/>
      </a:accent6>
      <a:hlink>
        <a:srgbClr val="0F9D58"/>
      </a:hlink>
      <a:folHlink>
        <a:srgbClr val="0F9D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