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5143500" cx="9144000"/>
  <p:notesSz cx="6858000" cy="9144000"/>
  <p:embeddedFontLst>
    <p:embeddedFont>
      <p:font typeface="Playfair Display"/>
      <p:regular r:id="rId23"/>
      <p:bold r:id="rId24"/>
      <p:italic r:id="rId25"/>
      <p:boldItalic r:id="rId26"/>
    </p:embeddedFont>
    <p:embeddedFont>
      <p:font typeface="Montserrat"/>
      <p:regular r:id="rId27"/>
      <p:bold r:id="rId28"/>
      <p:italic r:id="rId29"/>
      <p:boldItalic r:id="rId30"/>
    </p:embeddedFont>
    <p:embeddedFont>
      <p:font typeface="Oswald"/>
      <p:regular r:id="rId31"/>
      <p:bold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PlayfairDisplay-bold.fntdata"/><Relationship Id="rId23" Type="http://schemas.openxmlformats.org/officeDocument/2006/relationships/font" Target="fonts/PlayfairDisplay-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layfairDisplay-boldItalic.fntdata"/><Relationship Id="rId25" Type="http://schemas.openxmlformats.org/officeDocument/2006/relationships/font" Target="fonts/PlayfairDisplay-italic.fntdata"/><Relationship Id="rId28" Type="http://schemas.openxmlformats.org/officeDocument/2006/relationships/font" Target="fonts/Montserrat-bold.fntdata"/><Relationship Id="rId27" Type="http://schemas.openxmlformats.org/officeDocument/2006/relationships/font" Target="fonts/Montserra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Oswald-regular.fntdata"/><Relationship Id="rId30" Type="http://schemas.openxmlformats.org/officeDocument/2006/relationships/font" Target="fonts/Montserrat-boldItalic.fntdata"/><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font" Target="fonts/Oswald-bold.fnt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239faae7ab8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239faae7ab8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239faae7ab8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239faae7ab8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39faae7ab8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239faae7ab8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239faae7ab8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239faae7ab8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239faae7ab8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239faae7ab8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239faae7ab8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239faae7ab8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39faae7ab8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239faae7ab8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239faae7ab8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239faae7ab8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239faae7ab8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239faae7ab8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239faae7ab8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239faae7ab8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239faae7ab8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239faae7ab8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239faae7ab8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239faae7ab8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26da18afd9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26da18afd9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6da18afd9a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6da18afd9a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26da18afd9a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26da18afd9a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26da18afd9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26da18afd9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4286250" y="0"/>
            <a:ext cx="723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a:off x="4358475" y="0"/>
            <a:ext cx="38532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6800"/>
              <a:buFont typeface="Playfair Display"/>
              <a:buNone/>
              <a:defRPr b="1" sz="6800">
                <a:latin typeface="Playfair Display"/>
                <a:ea typeface="Playfair Display"/>
                <a:cs typeface="Playfair Display"/>
                <a:sym typeface="Playfair Display"/>
              </a:defRPr>
            </a:lvl1pPr>
            <a:lvl2pPr lvl="1" algn="ctr">
              <a:spcBef>
                <a:spcPts val="0"/>
              </a:spcBef>
              <a:spcAft>
                <a:spcPts val="0"/>
              </a:spcAft>
              <a:buSzPts val="6800"/>
              <a:buFont typeface="Playfair Display"/>
              <a:buNone/>
              <a:defRPr b="1" sz="6800">
                <a:latin typeface="Playfair Display"/>
                <a:ea typeface="Playfair Display"/>
                <a:cs typeface="Playfair Display"/>
                <a:sym typeface="Playfair Display"/>
              </a:defRPr>
            </a:lvl2pPr>
            <a:lvl3pPr lvl="2" algn="ctr">
              <a:spcBef>
                <a:spcPts val="0"/>
              </a:spcBef>
              <a:spcAft>
                <a:spcPts val="0"/>
              </a:spcAft>
              <a:buSzPts val="6800"/>
              <a:buFont typeface="Playfair Display"/>
              <a:buNone/>
              <a:defRPr b="1" sz="6800">
                <a:latin typeface="Playfair Display"/>
                <a:ea typeface="Playfair Display"/>
                <a:cs typeface="Playfair Display"/>
                <a:sym typeface="Playfair Display"/>
              </a:defRPr>
            </a:lvl3pPr>
            <a:lvl4pPr lvl="3" algn="ctr">
              <a:spcBef>
                <a:spcPts val="0"/>
              </a:spcBef>
              <a:spcAft>
                <a:spcPts val="0"/>
              </a:spcAft>
              <a:buSzPts val="6800"/>
              <a:buFont typeface="Playfair Display"/>
              <a:buNone/>
              <a:defRPr b="1" sz="6800">
                <a:latin typeface="Playfair Display"/>
                <a:ea typeface="Playfair Display"/>
                <a:cs typeface="Playfair Display"/>
                <a:sym typeface="Playfair Display"/>
              </a:defRPr>
            </a:lvl4pPr>
            <a:lvl5pPr lvl="4" algn="ctr">
              <a:spcBef>
                <a:spcPts val="0"/>
              </a:spcBef>
              <a:spcAft>
                <a:spcPts val="0"/>
              </a:spcAft>
              <a:buSzPts val="6800"/>
              <a:buFont typeface="Playfair Display"/>
              <a:buNone/>
              <a:defRPr b="1" sz="6800">
                <a:latin typeface="Playfair Display"/>
                <a:ea typeface="Playfair Display"/>
                <a:cs typeface="Playfair Display"/>
                <a:sym typeface="Playfair Display"/>
              </a:defRPr>
            </a:lvl5pPr>
            <a:lvl6pPr lvl="5" algn="ctr">
              <a:spcBef>
                <a:spcPts val="0"/>
              </a:spcBef>
              <a:spcAft>
                <a:spcPts val="0"/>
              </a:spcAft>
              <a:buSzPts val="6800"/>
              <a:buFont typeface="Playfair Display"/>
              <a:buNone/>
              <a:defRPr b="1" sz="6800">
                <a:latin typeface="Playfair Display"/>
                <a:ea typeface="Playfair Display"/>
                <a:cs typeface="Playfair Display"/>
                <a:sym typeface="Playfair Display"/>
              </a:defRPr>
            </a:lvl6pPr>
            <a:lvl7pPr lvl="6" algn="ctr">
              <a:spcBef>
                <a:spcPts val="0"/>
              </a:spcBef>
              <a:spcAft>
                <a:spcPts val="0"/>
              </a:spcAft>
              <a:buSzPts val="6800"/>
              <a:buFont typeface="Playfair Display"/>
              <a:buNone/>
              <a:defRPr b="1" sz="6800">
                <a:latin typeface="Playfair Display"/>
                <a:ea typeface="Playfair Display"/>
                <a:cs typeface="Playfair Display"/>
                <a:sym typeface="Playfair Display"/>
              </a:defRPr>
            </a:lvl7pPr>
            <a:lvl8pPr lvl="7" algn="ctr">
              <a:spcBef>
                <a:spcPts val="0"/>
              </a:spcBef>
              <a:spcAft>
                <a:spcPts val="0"/>
              </a:spcAft>
              <a:buSzPts val="6800"/>
              <a:buFont typeface="Playfair Display"/>
              <a:buNone/>
              <a:defRPr b="1" sz="6800">
                <a:latin typeface="Playfair Display"/>
                <a:ea typeface="Playfair Display"/>
                <a:cs typeface="Playfair Display"/>
                <a:sym typeface="Playfair Display"/>
              </a:defRPr>
            </a:lvl8pPr>
            <a:lvl9pPr lvl="8" algn="ctr">
              <a:spcBef>
                <a:spcPts val="0"/>
              </a:spcBef>
              <a:spcAft>
                <a:spcPts val="0"/>
              </a:spcAft>
              <a:buSzPts val="6800"/>
              <a:buFont typeface="Playfair Display"/>
              <a:buNone/>
              <a:defRPr b="1" sz="6800">
                <a:latin typeface="Playfair Display"/>
                <a:ea typeface="Playfair Display"/>
                <a:cs typeface="Playfair Display"/>
                <a:sym typeface="Playfair Display"/>
              </a:defRPr>
            </a:lvl9pPr>
          </a:lstStyle>
          <a:p/>
        </p:txBody>
      </p:sp>
      <p:sp>
        <p:nvSpPr>
          <p:cNvPr id="13" name="Google Shape;13;p2"/>
          <p:cNvSpPr txBox="1"/>
          <p:nvPr>
            <p:ph idx="1" type="subTitle"/>
          </p:nvPr>
        </p:nvSpPr>
        <p:spPr>
          <a:xfrm>
            <a:off x="344250" y="3550650"/>
            <a:ext cx="4910100" cy="577800"/>
          </a:xfrm>
          <a:prstGeom prst="rect">
            <a:avLst/>
          </a:prstGeom>
          <a:solidFill>
            <a:schemeClr val="dk2"/>
          </a:solidFill>
        </p:spPr>
        <p:txBody>
          <a:bodyPr anchorCtr="0" anchor="ctr" bIns="91425" lIns="91425" spcFirstLastPara="1" rIns="91425" wrap="square" tIns="91425">
            <a:normAutofit/>
          </a:bodyPr>
          <a:lstStyle>
            <a:lvl1pPr lvl="0">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1pPr>
            <a:lvl2pPr lvl="1">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2pPr>
            <a:lvl3pPr lvl="2">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3pPr>
            <a:lvl4pPr lvl="3">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4pPr>
            <a:lvl5pPr lvl="4">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5pPr>
            <a:lvl6pPr lvl="5">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6pPr>
            <a:lvl7pPr lvl="6">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7pPr>
            <a:lvl8pPr lvl="7">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8pPr>
            <a:lvl9pPr lvl="8">
              <a:lnSpc>
                <a:spcPct val="100000"/>
              </a:lnSpc>
              <a:spcBef>
                <a:spcPts val="0"/>
              </a:spcBef>
              <a:spcAft>
                <a:spcPts val="0"/>
              </a:spcAft>
              <a:buClr>
                <a:schemeClr val="lt1"/>
              </a:buClr>
              <a:buSzPts val="2400"/>
              <a:buFont typeface="Montserrat"/>
              <a:buNone/>
              <a:defRPr b="1" sz="2400">
                <a:solidFill>
                  <a:schemeClr val="lt1"/>
                </a:solidFill>
                <a:latin typeface="Montserrat"/>
                <a:ea typeface="Montserrat"/>
                <a:cs typeface="Montserrat"/>
                <a:sym typeface="Montserrat"/>
              </a:defRPr>
            </a:lvl9pPr>
          </a:lstStyle>
          <a:p/>
        </p:txBody>
      </p:sp>
      <p:sp>
        <p:nvSpPr>
          <p:cNvPr id="14" name="Google Shape;14;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4"/>
        </a:solidFill>
      </p:bgPr>
    </p:bg>
    <p:spTree>
      <p:nvGrpSpPr>
        <p:cNvPr id="15" name="Shape 15"/>
        <p:cNvGrpSpPr/>
        <p:nvPr/>
      </p:nvGrpSpPr>
      <p:grpSpPr>
        <a:xfrm>
          <a:off x="0" y="0"/>
          <a:ext cx="0" cy="0"/>
          <a:chOff x="0" y="0"/>
          <a:chExt cx="0" cy="0"/>
        </a:xfrm>
      </p:grpSpPr>
      <p:sp>
        <p:nvSpPr>
          <p:cNvPr id="16" name="Google Shape;16;p3"/>
          <p:cNvSpPr/>
          <p:nvPr/>
        </p:nvSpPr>
        <p:spPr>
          <a:xfrm rot="5400000">
            <a:off x="4550700" y="-498600"/>
            <a:ext cx="42600" cy="84558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txBox="1"/>
          <p:nvPr>
            <p:ph type="title"/>
          </p:nvPr>
        </p:nvSpPr>
        <p:spPr>
          <a:xfrm>
            <a:off x="344250" y="1403850"/>
            <a:ext cx="8455500" cy="21468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Font typeface="Playfair Display"/>
              <a:buNone/>
              <a:defRPr b="1" sz="4800">
                <a:latin typeface="Playfair Display"/>
                <a:ea typeface="Playfair Display"/>
                <a:cs typeface="Playfair Display"/>
                <a:sym typeface="Playfair Display"/>
              </a:defRPr>
            </a:lvl1pPr>
            <a:lvl2pPr lvl="1" algn="ctr">
              <a:spcBef>
                <a:spcPts val="0"/>
              </a:spcBef>
              <a:spcAft>
                <a:spcPts val="0"/>
              </a:spcAft>
              <a:buSzPts val="4800"/>
              <a:buFont typeface="Playfair Display"/>
              <a:buNone/>
              <a:defRPr b="1" sz="4800">
                <a:latin typeface="Playfair Display"/>
                <a:ea typeface="Playfair Display"/>
                <a:cs typeface="Playfair Display"/>
                <a:sym typeface="Playfair Display"/>
              </a:defRPr>
            </a:lvl2pPr>
            <a:lvl3pPr lvl="2" algn="ctr">
              <a:spcBef>
                <a:spcPts val="0"/>
              </a:spcBef>
              <a:spcAft>
                <a:spcPts val="0"/>
              </a:spcAft>
              <a:buSzPts val="4800"/>
              <a:buFont typeface="Playfair Display"/>
              <a:buNone/>
              <a:defRPr b="1" sz="4800">
                <a:latin typeface="Playfair Display"/>
                <a:ea typeface="Playfair Display"/>
                <a:cs typeface="Playfair Display"/>
                <a:sym typeface="Playfair Display"/>
              </a:defRPr>
            </a:lvl3pPr>
            <a:lvl4pPr lvl="3" algn="ctr">
              <a:spcBef>
                <a:spcPts val="0"/>
              </a:spcBef>
              <a:spcAft>
                <a:spcPts val="0"/>
              </a:spcAft>
              <a:buSzPts val="4800"/>
              <a:buFont typeface="Playfair Display"/>
              <a:buNone/>
              <a:defRPr b="1" sz="4800">
                <a:latin typeface="Playfair Display"/>
                <a:ea typeface="Playfair Display"/>
                <a:cs typeface="Playfair Display"/>
                <a:sym typeface="Playfair Display"/>
              </a:defRPr>
            </a:lvl4pPr>
            <a:lvl5pPr lvl="4" algn="ctr">
              <a:spcBef>
                <a:spcPts val="0"/>
              </a:spcBef>
              <a:spcAft>
                <a:spcPts val="0"/>
              </a:spcAft>
              <a:buSzPts val="4800"/>
              <a:buFont typeface="Playfair Display"/>
              <a:buNone/>
              <a:defRPr b="1" sz="4800">
                <a:latin typeface="Playfair Display"/>
                <a:ea typeface="Playfair Display"/>
                <a:cs typeface="Playfair Display"/>
                <a:sym typeface="Playfair Display"/>
              </a:defRPr>
            </a:lvl5pPr>
            <a:lvl6pPr lvl="5" algn="ctr">
              <a:spcBef>
                <a:spcPts val="0"/>
              </a:spcBef>
              <a:spcAft>
                <a:spcPts val="0"/>
              </a:spcAft>
              <a:buSzPts val="4800"/>
              <a:buFont typeface="Playfair Display"/>
              <a:buNone/>
              <a:defRPr b="1" sz="4800">
                <a:latin typeface="Playfair Display"/>
                <a:ea typeface="Playfair Display"/>
                <a:cs typeface="Playfair Display"/>
                <a:sym typeface="Playfair Display"/>
              </a:defRPr>
            </a:lvl6pPr>
            <a:lvl7pPr lvl="6" algn="ctr">
              <a:spcBef>
                <a:spcPts val="0"/>
              </a:spcBef>
              <a:spcAft>
                <a:spcPts val="0"/>
              </a:spcAft>
              <a:buSzPts val="4800"/>
              <a:buFont typeface="Playfair Display"/>
              <a:buNone/>
              <a:defRPr b="1" sz="4800">
                <a:latin typeface="Playfair Display"/>
                <a:ea typeface="Playfair Display"/>
                <a:cs typeface="Playfair Display"/>
                <a:sym typeface="Playfair Display"/>
              </a:defRPr>
            </a:lvl7pPr>
            <a:lvl8pPr lvl="7" algn="ctr">
              <a:spcBef>
                <a:spcPts val="0"/>
              </a:spcBef>
              <a:spcAft>
                <a:spcPts val="0"/>
              </a:spcAft>
              <a:buSzPts val="4800"/>
              <a:buFont typeface="Playfair Display"/>
              <a:buNone/>
              <a:defRPr b="1" sz="4800">
                <a:latin typeface="Playfair Display"/>
                <a:ea typeface="Playfair Display"/>
                <a:cs typeface="Playfair Display"/>
                <a:sym typeface="Playfair Display"/>
              </a:defRPr>
            </a:lvl8pPr>
            <a:lvl9pPr lvl="8" algn="ctr">
              <a:spcBef>
                <a:spcPts val="0"/>
              </a:spcBef>
              <a:spcAft>
                <a:spcPts val="0"/>
              </a:spcAft>
              <a:buSzPts val="4800"/>
              <a:buFont typeface="Playfair Display"/>
              <a:buNone/>
              <a:defRPr b="1" sz="4800">
                <a:latin typeface="Playfair Display"/>
                <a:ea typeface="Playfair Display"/>
                <a:cs typeface="Playfair Display"/>
                <a:sym typeface="Playfair Display"/>
              </a:defRPr>
            </a:lvl9pPr>
          </a:lstStyle>
          <a:p/>
        </p:txBody>
      </p:sp>
      <p:sp>
        <p:nvSpPr>
          <p:cNvPr id="18" name="Google Shape;18;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1" name="Google Shape;21;p4"/>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 name="Google Shape;25;p5"/>
          <p:cNvSpPr txBox="1"/>
          <p:nvPr>
            <p:ph idx="1" type="body"/>
          </p:nvPr>
        </p:nvSpPr>
        <p:spPr>
          <a:xfrm>
            <a:off x="311700" y="1234050"/>
            <a:ext cx="3999900" cy="3334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234050"/>
            <a:ext cx="3999900" cy="33348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0" name="Google Shape;30;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1pPr>
            <a:lvl2pPr lvl="1">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2pPr>
            <a:lvl3pPr lvl="2">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3pPr>
            <a:lvl4pPr lvl="3">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4pPr>
            <a:lvl5pPr lvl="4">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5pPr>
            <a:lvl6pPr lvl="5">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6pPr>
            <a:lvl7pPr lvl="6">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7pPr>
            <a:lvl8pPr lvl="7">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8pPr>
            <a:lvl9pPr lvl="8">
              <a:spcBef>
                <a:spcPts val="0"/>
              </a:spcBef>
              <a:spcAft>
                <a:spcPts val="0"/>
              </a:spcAft>
              <a:buClr>
                <a:schemeClr val="lt1"/>
              </a:buClr>
              <a:buSzPts val="5400"/>
              <a:buFont typeface="Playfair Display"/>
              <a:buNone/>
              <a:defRPr sz="5400">
                <a:solidFill>
                  <a:schemeClr val="lt1"/>
                </a:solidFill>
                <a:latin typeface="Playfair Display"/>
                <a:ea typeface="Playfair Display"/>
                <a:cs typeface="Playfair Display"/>
                <a:sym typeface="Playfair Display"/>
              </a:defRPr>
            </a:lvl9pPr>
          </a:lstStyle>
          <a:p/>
        </p:txBody>
      </p:sp>
      <p:sp>
        <p:nvSpPr>
          <p:cNvPr id="37" name="Google Shape;37;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9"/>
          <p:cNvSpPr txBox="1"/>
          <p:nvPr>
            <p:ph type="title"/>
          </p:nvPr>
        </p:nvSpPr>
        <p:spPr>
          <a:xfrm>
            <a:off x="265500" y="1081675"/>
            <a:ext cx="4045200" cy="17862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9214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highlight>
                  <a:schemeClr val="lt1"/>
                </a:highlight>
              </a:defRPr>
            </a:lvl1pPr>
            <a:lvl2pPr indent="-317500" lvl="1" marL="914400">
              <a:spcBef>
                <a:spcPts val="0"/>
              </a:spcBef>
              <a:spcAft>
                <a:spcPts val="0"/>
              </a:spcAft>
              <a:buSzPts val="1400"/>
              <a:buChar char="○"/>
              <a:defRPr>
                <a:highlight>
                  <a:schemeClr val="lt1"/>
                </a:highlight>
              </a:defRPr>
            </a:lvl2pPr>
            <a:lvl3pPr indent="-317500" lvl="2" marL="1371600">
              <a:spcBef>
                <a:spcPts val="0"/>
              </a:spcBef>
              <a:spcAft>
                <a:spcPts val="0"/>
              </a:spcAft>
              <a:buSzPts val="1400"/>
              <a:buChar char="■"/>
              <a:defRPr>
                <a:highlight>
                  <a:schemeClr val="lt1"/>
                </a:highlight>
              </a:defRPr>
            </a:lvl3pPr>
            <a:lvl4pPr indent="-317500" lvl="3" marL="1828800">
              <a:spcBef>
                <a:spcPts val="0"/>
              </a:spcBef>
              <a:spcAft>
                <a:spcPts val="0"/>
              </a:spcAft>
              <a:buSzPts val="1400"/>
              <a:buChar char="●"/>
              <a:defRPr>
                <a:highlight>
                  <a:schemeClr val="lt1"/>
                </a:highlight>
              </a:defRPr>
            </a:lvl4pPr>
            <a:lvl5pPr indent="-317500" lvl="4" marL="2286000">
              <a:spcBef>
                <a:spcPts val="0"/>
              </a:spcBef>
              <a:spcAft>
                <a:spcPts val="0"/>
              </a:spcAft>
              <a:buSzPts val="1400"/>
              <a:buChar char="○"/>
              <a:defRPr>
                <a:highlight>
                  <a:schemeClr val="lt1"/>
                </a:highlight>
              </a:defRPr>
            </a:lvl5pPr>
            <a:lvl6pPr indent="-317500" lvl="5" marL="2743200">
              <a:spcBef>
                <a:spcPts val="0"/>
              </a:spcBef>
              <a:spcAft>
                <a:spcPts val="0"/>
              </a:spcAft>
              <a:buSzPts val="1400"/>
              <a:buChar char="■"/>
              <a:defRPr>
                <a:highlight>
                  <a:schemeClr val="lt1"/>
                </a:highlight>
              </a:defRPr>
            </a:lvl6pPr>
            <a:lvl7pPr indent="-317500" lvl="6" marL="3200400">
              <a:spcBef>
                <a:spcPts val="0"/>
              </a:spcBef>
              <a:spcAft>
                <a:spcPts val="0"/>
              </a:spcAft>
              <a:buSzPts val="1400"/>
              <a:buChar char="●"/>
              <a:defRPr>
                <a:highlight>
                  <a:schemeClr val="lt1"/>
                </a:highlight>
              </a:defRPr>
            </a:lvl7pPr>
            <a:lvl8pPr indent="-317500" lvl="7" marL="3657600">
              <a:spcBef>
                <a:spcPts val="0"/>
              </a:spcBef>
              <a:spcAft>
                <a:spcPts val="0"/>
              </a:spcAft>
              <a:buSzPts val="1400"/>
              <a:buChar char="○"/>
              <a:defRPr>
                <a:highlight>
                  <a:schemeClr val="lt1"/>
                </a:highlight>
              </a:defRPr>
            </a:lvl8pPr>
            <a:lvl9pPr indent="-317500" lvl="8" marL="4114800">
              <a:spcBef>
                <a:spcPts val="0"/>
              </a:spcBef>
              <a:spcAft>
                <a:spcPts val="0"/>
              </a:spcAft>
              <a:buSzPts val="1400"/>
              <a:buChar char="■"/>
              <a:defRPr>
                <a:highlight>
                  <a:schemeClr val="lt1"/>
                </a:highlight>
              </a:defRPr>
            </a:lvl9pPr>
          </a:lstStyle>
          <a:p/>
        </p:txBody>
      </p:sp>
      <p:sp>
        <p:nvSpPr>
          <p:cNvPr id="44" name="Google Shape;44;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highlight>
                  <a:schemeClr val="dk1"/>
                </a:highlight>
              </a:defRPr>
            </a:lvl1pPr>
          </a:lstStyle>
          <a:p/>
        </p:txBody>
      </p:sp>
      <p:sp>
        <p:nvSpPr>
          <p:cNvPr id="47" name="Google Shape;47;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txBox="1"/>
          <p:nvPr>
            <p:ph hasCustomPrompt="1" type="title"/>
          </p:nvPr>
        </p:nvSpPr>
        <p:spPr>
          <a:xfrm>
            <a:off x="311700" y="999925"/>
            <a:ext cx="8520600" cy="2146200"/>
          </a:xfrm>
          <a:prstGeom prst="rect">
            <a:avLst/>
          </a:prstGeom>
        </p:spPr>
        <p:txBody>
          <a:bodyPr anchorCtr="0" anchor="b" bIns="91425" lIns="91425" spcFirstLastPara="1" rIns="91425" wrap="square" tIns="91425">
            <a:normAutofit/>
          </a:bodyPr>
          <a:lstStyle>
            <a:lvl1pPr lvl="0" algn="ctr">
              <a:spcBef>
                <a:spcPts val="0"/>
              </a:spcBef>
              <a:spcAft>
                <a:spcPts val="0"/>
              </a:spcAft>
              <a:buSzPts val="14000"/>
              <a:buFont typeface="Montserrat"/>
              <a:buNone/>
              <a:defRPr sz="14000">
                <a:latin typeface="Montserrat"/>
                <a:ea typeface="Montserrat"/>
                <a:cs typeface="Montserrat"/>
                <a:sym typeface="Montserrat"/>
              </a:defRPr>
            </a:lvl1pPr>
            <a:lvl2pPr lvl="1" algn="ctr">
              <a:spcBef>
                <a:spcPts val="0"/>
              </a:spcBef>
              <a:spcAft>
                <a:spcPts val="0"/>
              </a:spcAft>
              <a:buSzPts val="14000"/>
              <a:buFont typeface="Montserrat"/>
              <a:buNone/>
              <a:defRPr sz="14000">
                <a:latin typeface="Montserrat"/>
                <a:ea typeface="Montserrat"/>
                <a:cs typeface="Montserrat"/>
                <a:sym typeface="Montserrat"/>
              </a:defRPr>
            </a:lvl2pPr>
            <a:lvl3pPr lvl="2" algn="ctr">
              <a:spcBef>
                <a:spcPts val="0"/>
              </a:spcBef>
              <a:spcAft>
                <a:spcPts val="0"/>
              </a:spcAft>
              <a:buSzPts val="14000"/>
              <a:buFont typeface="Montserrat"/>
              <a:buNone/>
              <a:defRPr sz="14000">
                <a:latin typeface="Montserrat"/>
                <a:ea typeface="Montserrat"/>
                <a:cs typeface="Montserrat"/>
                <a:sym typeface="Montserrat"/>
              </a:defRPr>
            </a:lvl3pPr>
            <a:lvl4pPr lvl="3" algn="ctr">
              <a:spcBef>
                <a:spcPts val="0"/>
              </a:spcBef>
              <a:spcAft>
                <a:spcPts val="0"/>
              </a:spcAft>
              <a:buSzPts val="14000"/>
              <a:buFont typeface="Montserrat"/>
              <a:buNone/>
              <a:defRPr sz="14000">
                <a:latin typeface="Montserrat"/>
                <a:ea typeface="Montserrat"/>
                <a:cs typeface="Montserrat"/>
                <a:sym typeface="Montserrat"/>
              </a:defRPr>
            </a:lvl4pPr>
            <a:lvl5pPr lvl="4" algn="ctr">
              <a:spcBef>
                <a:spcPts val="0"/>
              </a:spcBef>
              <a:spcAft>
                <a:spcPts val="0"/>
              </a:spcAft>
              <a:buSzPts val="14000"/>
              <a:buFont typeface="Montserrat"/>
              <a:buNone/>
              <a:defRPr sz="14000">
                <a:latin typeface="Montserrat"/>
                <a:ea typeface="Montserrat"/>
                <a:cs typeface="Montserrat"/>
                <a:sym typeface="Montserrat"/>
              </a:defRPr>
            </a:lvl5pPr>
            <a:lvl6pPr lvl="5" algn="ctr">
              <a:spcBef>
                <a:spcPts val="0"/>
              </a:spcBef>
              <a:spcAft>
                <a:spcPts val="0"/>
              </a:spcAft>
              <a:buSzPts val="14000"/>
              <a:buFont typeface="Montserrat"/>
              <a:buNone/>
              <a:defRPr sz="14000">
                <a:latin typeface="Montserrat"/>
                <a:ea typeface="Montserrat"/>
                <a:cs typeface="Montserrat"/>
                <a:sym typeface="Montserrat"/>
              </a:defRPr>
            </a:lvl6pPr>
            <a:lvl7pPr lvl="6" algn="ctr">
              <a:spcBef>
                <a:spcPts val="0"/>
              </a:spcBef>
              <a:spcAft>
                <a:spcPts val="0"/>
              </a:spcAft>
              <a:buSzPts val="14000"/>
              <a:buFont typeface="Montserrat"/>
              <a:buNone/>
              <a:defRPr sz="14000">
                <a:latin typeface="Montserrat"/>
                <a:ea typeface="Montserrat"/>
                <a:cs typeface="Montserrat"/>
                <a:sym typeface="Montserrat"/>
              </a:defRPr>
            </a:lvl7pPr>
            <a:lvl8pPr lvl="7" algn="ctr">
              <a:spcBef>
                <a:spcPts val="0"/>
              </a:spcBef>
              <a:spcAft>
                <a:spcPts val="0"/>
              </a:spcAft>
              <a:buSzPts val="14000"/>
              <a:buFont typeface="Montserrat"/>
              <a:buNone/>
              <a:defRPr sz="14000">
                <a:latin typeface="Montserrat"/>
                <a:ea typeface="Montserrat"/>
                <a:cs typeface="Montserrat"/>
                <a:sym typeface="Montserrat"/>
              </a:defRPr>
            </a:lvl8pPr>
            <a:lvl9pPr lvl="8" algn="ctr">
              <a:spcBef>
                <a:spcPts val="0"/>
              </a:spcBef>
              <a:spcAft>
                <a:spcPts val="0"/>
              </a:spcAft>
              <a:buSzPts val="14000"/>
              <a:buFont typeface="Montserrat"/>
              <a:buNone/>
              <a:defRPr sz="14000">
                <a:latin typeface="Montserrat"/>
                <a:ea typeface="Montserrat"/>
                <a:cs typeface="Montserrat"/>
                <a:sym typeface="Montserrat"/>
              </a:defRPr>
            </a:lvl9pPr>
          </a:lstStyle>
          <a:p>
            <a:r>
              <a:t>xx%</a:t>
            </a:r>
          </a:p>
        </p:txBody>
      </p:sp>
      <p:sp>
        <p:nvSpPr>
          <p:cNvPr id="50" name="Google Shape;50;p11"/>
          <p:cNvSpPr txBox="1"/>
          <p:nvPr>
            <p:ph idx="1" type="body"/>
          </p:nvPr>
        </p:nvSpPr>
        <p:spPr>
          <a:xfrm>
            <a:off x="311700" y="32284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highlight>
                  <a:schemeClr val="dk1"/>
                </a:highlight>
              </a:defRPr>
            </a:lvl1pPr>
            <a:lvl2pPr indent="-317500" lvl="1" marL="914400" algn="ctr">
              <a:spcBef>
                <a:spcPts val="0"/>
              </a:spcBef>
              <a:spcAft>
                <a:spcPts val="0"/>
              </a:spcAft>
              <a:buSzPts val="1400"/>
              <a:buChar char="○"/>
              <a:defRPr>
                <a:highlight>
                  <a:schemeClr val="dk1"/>
                </a:highlight>
              </a:defRPr>
            </a:lvl2pPr>
            <a:lvl3pPr indent="-317500" lvl="2" marL="1371600" algn="ctr">
              <a:spcBef>
                <a:spcPts val="0"/>
              </a:spcBef>
              <a:spcAft>
                <a:spcPts val="0"/>
              </a:spcAft>
              <a:buSzPts val="1400"/>
              <a:buChar char="■"/>
              <a:defRPr>
                <a:highlight>
                  <a:schemeClr val="dk1"/>
                </a:highlight>
              </a:defRPr>
            </a:lvl3pPr>
            <a:lvl4pPr indent="-317500" lvl="3" marL="1828800" algn="ctr">
              <a:spcBef>
                <a:spcPts val="0"/>
              </a:spcBef>
              <a:spcAft>
                <a:spcPts val="0"/>
              </a:spcAft>
              <a:buSzPts val="1400"/>
              <a:buChar char="●"/>
              <a:defRPr>
                <a:highlight>
                  <a:schemeClr val="dk1"/>
                </a:highlight>
              </a:defRPr>
            </a:lvl4pPr>
            <a:lvl5pPr indent="-317500" lvl="4" marL="2286000" algn="ctr">
              <a:spcBef>
                <a:spcPts val="0"/>
              </a:spcBef>
              <a:spcAft>
                <a:spcPts val="0"/>
              </a:spcAft>
              <a:buSzPts val="1400"/>
              <a:buChar char="○"/>
              <a:defRPr>
                <a:highlight>
                  <a:schemeClr val="dk1"/>
                </a:highlight>
              </a:defRPr>
            </a:lvl5pPr>
            <a:lvl6pPr indent="-317500" lvl="5" marL="2743200" algn="ctr">
              <a:spcBef>
                <a:spcPts val="0"/>
              </a:spcBef>
              <a:spcAft>
                <a:spcPts val="0"/>
              </a:spcAft>
              <a:buSzPts val="1400"/>
              <a:buChar char="■"/>
              <a:defRPr>
                <a:highlight>
                  <a:schemeClr val="dk1"/>
                </a:highlight>
              </a:defRPr>
            </a:lvl6pPr>
            <a:lvl7pPr indent="-317500" lvl="6" marL="3200400" algn="ctr">
              <a:spcBef>
                <a:spcPts val="0"/>
              </a:spcBef>
              <a:spcAft>
                <a:spcPts val="0"/>
              </a:spcAft>
              <a:buSzPts val="1400"/>
              <a:buChar char="●"/>
              <a:defRPr>
                <a:highlight>
                  <a:schemeClr val="dk1"/>
                </a:highlight>
              </a:defRPr>
            </a:lvl7pPr>
            <a:lvl8pPr indent="-317500" lvl="7" marL="3657600" algn="ctr">
              <a:spcBef>
                <a:spcPts val="0"/>
              </a:spcBef>
              <a:spcAft>
                <a:spcPts val="0"/>
              </a:spcAft>
              <a:buSzPts val="1400"/>
              <a:buChar char="○"/>
              <a:defRPr>
                <a:highlight>
                  <a:schemeClr val="dk1"/>
                </a:highlight>
              </a:defRPr>
            </a:lvl8pPr>
            <a:lvl9pPr indent="-317500" lvl="8" marL="4114800" algn="ctr">
              <a:spcBef>
                <a:spcPts val="0"/>
              </a:spcBef>
              <a:spcAft>
                <a:spcPts val="0"/>
              </a:spcAft>
              <a:buSzPts val="1400"/>
              <a:buChar char="■"/>
              <a:defRPr>
                <a:highlight>
                  <a:schemeClr val="dk1"/>
                </a:highlight>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op">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1pPr>
            <a:lvl2pPr lvl="1">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2pPr>
            <a:lvl3pPr lvl="2">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3pPr>
            <a:lvl4pPr lvl="3">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4pPr>
            <a:lvl5pPr lvl="4">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5pPr>
            <a:lvl6pPr lvl="5">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6pPr>
            <a:lvl7pPr lvl="6">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7pPr>
            <a:lvl8pPr lvl="7">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8pPr>
            <a:lvl9pPr lvl="8">
              <a:spcBef>
                <a:spcPts val="0"/>
              </a:spcBef>
              <a:spcAft>
                <a:spcPts val="0"/>
              </a:spcAft>
              <a:buClr>
                <a:schemeClr val="dk2"/>
              </a:buClr>
              <a:buSzPts val="3000"/>
              <a:buFont typeface="Oswald"/>
              <a:buNone/>
              <a:defRPr sz="3000">
                <a:solidFill>
                  <a:schemeClr val="dk2"/>
                </a:solidFill>
                <a:highlight>
                  <a:schemeClr val="dk1"/>
                </a:highlight>
                <a:latin typeface="Oswald"/>
                <a:ea typeface="Oswald"/>
                <a:cs typeface="Oswald"/>
                <a:sym typeface="Oswald"/>
              </a:defRPr>
            </a:lvl9pPr>
          </a:lstStyle>
          <a:p/>
        </p:txBody>
      </p:sp>
      <p:sp>
        <p:nvSpPr>
          <p:cNvPr id="7" name="Google Shape;7;p1"/>
          <p:cNvSpPr txBox="1"/>
          <p:nvPr>
            <p:ph idx="1" type="body"/>
          </p:nvPr>
        </p:nvSpPr>
        <p:spPr>
          <a:xfrm>
            <a:off x="311700" y="1234075"/>
            <a:ext cx="8520600" cy="33348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Playfair Display"/>
              <a:buChar char="●"/>
              <a:defRPr sz="1800">
                <a:solidFill>
                  <a:schemeClr val="dk2"/>
                </a:solidFill>
                <a:latin typeface="Playfair Display"/>
                <a:ea typeface="Playfair Display"/>
                <a:cs typeface="Playfair Display"/>
                <a:sym typeface="Playfair Display"/>
              </a:defRPr>
            </a:lvl1pPr>
            <a:lvl2pPr indent="-317500" lvl="1" marL="9144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2pPr>
            <a:lvl3pPr indent="-317500" lvl="2" marL="13716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3pPr>
            <a:lvl4pPr indent="-317500" lvl="3" marL="18288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4pPr>
            <a:lvl5pPr indent="-317500" lvl="4" marL="22860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5pPr>
            <a:lvl6pPr indent="-317500" lvl="5" marL="27432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6pPr>
            <a:lvl7pPr indent="-317500" lvl="6" marL="32004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7pPr>
            <a:lvl8pPr indent="-317500" lvl="7" marL="36576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8pPr>
            <a:lvl9pPr indent="-317500" lvl="8" marL="4114800">
              <a:lnSpc>
                <a:spcPct val="115000"/>
              </a:lnSpc>
              <a:spcBef>
                <a:spcPts val="0"/>
              </a:spcBef>
              <a:spcAft>
                <a:spcPts val="0"/>
              </a:spcAft>
              <a:buClr>
                <a:schemeClr val="dk2"/>
              </a:buClr>
              <a:buSzPts val="1400"/>
              <a:buFont typeface="Playfair Display"/>
              <a:buChar char="■"/>
              <a:defRPr>
                <a:solidFill>
                  <a:schemeClr val="dk2"/>
                </a:solidFill>
                <a:latin typeface="Playfair Display"/>
                <a:ea typeface="Playfair Display"/>
                <a:cs typeface="Playfair Display"/>
                <a:sym typeface="Playfair Display"/>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Playfair Display"/>
                <a:ea typeface="Playfair Display"/>
                <a:cs typeface="Playfair Display"/>
                <a:sym typeface="Playfair Display"/>
              </a:defRPr>
            </a:lvl1pPr>
            <a:lvl2pPr lvl="1" algn="r">
              <a:buNone/>
              <a:defRPr sz="1000">
                <a:solidFill>
                  <a:schemeClr val="dk2"/>
                </a:solidFill>
                <a:latin typeface="Playfair Display"/>
                <a:ea typeface="Playfair Display"/>
                <a:cs typeface="Playfair Display"/>
                <a:sym typeface="Playfair Display"/>
              </a:defRPr>
            </a:lvl2pPr>
            <a:lvl3pPr lvl="2" algn="r">
              <a:buNone/>
              <a:defRPr sz="1000">
                <a:solidFill>
                  <a:schemeClr val="dk2"/>
                </a:solidFill>
                <a:latin typeface="Playfair Display"/>
                <a:ea typeface="Playfair Display"/>
                <a:cs typeface="Playfair Display"/>
                <a:sym typeface="Playfair Display"/>
              </a:defRPr>
            </a:lvl3pPr>
            <a:lvl4pPr lvl="3" algn="r">
              <a:buNone/>
              <a:defRPr sz="1000">
                <a:solidFill>
                  <a:schemeClr val="dk2"/>
                </a:solidFill>
                <a:latin typeface="Playfair Display"/>
                <a:ea typeface="Playfair Display"/>
                <a:cs typeface="Playfair Display"/>
                <a:sym typeface="Playfair Display"/>
              </a:defRPr>
            </a:lvl4pPr>
            <a:lvl5pPr lvl="4" algn="r">
              <a:buNone/>
              <a:defRPr sz="1000">
                <a:solidFill>
                  <a:schemeClr val="dk2"/>
                </a:solidFill>
                <a:latin typeface="Playfair Display"/>
                <a:ea typeface="Playfair Display"/>
                <a:cs typeface="Playfair Display"/>
                <a:sym typeface="Playfair Display"/>
              </a:defRPr>
            </a:lvl5pPr>
            <a:lvl6pPr lvl="5" algn="r">
              <a:buNone/>
              <a:defRPr sz="1000">
                <a:solidFill>
                  <a:schemeClr val="dk2"/>
                </a:solidFill>
                <a:latin typeface="Playfair Display"/>
                <a:ea typeface="Playfair Display"/>
                <a:cs typeface="Playfair Display"/>
                <a:sym typeface="Playfair Display"/>
              </a:defRPr>
            </a:lvl6pPr>
            <a:lvl7pPr lvl="6" algn="r">
              <a:buNone/>
              <a:defRPr sz="1000">
                <a:solidFill>
                  <a:schemeClr val="dk2"/>
                </a:solidFill>
                <a:latin typeface="Playfair Display"/>
                <a:ea typeface="Playfair Display"/>
                <a:cs typeface="Playfair Display"/>
                <a:sym typeface="Playfair Display"/>
              </a:defRPr>
            </a:lvl7pPr>
            <a:lvl8pPr lvl="7" algn="r">
              <a:buNone/>
              <a:defRPr sz="1000">
                <a:solidFill>
                  <a:schemeClr val="dk2"/>
                </a:solidFill>
                <a:latin typeface="Playfair Display"/>
                <a:ea typeface="Playfair Display"/>
                <a:cs typeface="Playfair Display"/>
                <a:sym typeface="Playfair Display"/>
              </a:defRPr>
            </a:lvl8pPr>
            <a:lvl9pPr lvl="8" algn="r">
              <a:buNone/>
              <a:defRPr sz="1000">
                <a:solidFill>
                  <a:schemeClr val="dk2"/>
                </a:solidFill>
                <a:latin typeface="Playfair Display"/>
                <a:ea typeface="Playfair Display"/>
                <a:cs typeface="Playfair Display"/>
                <a:sym typeface="Playfair Display"/>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344250" y="1403850"/>
            <a:ext cx="8455500" cy="2146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TIME IS RUNNING OUT!</a:t>
            </a:r>
            <a:endParaRPr/>
          </a:p>
        </p:txBody>
      </p:sp>
      <p:sp>
        <p:nvSpPr>
          <p:cNvPr id="59" name="Google Shape;59;p13"/>
          <p:cNvSpPr txBox="1"/>
          <p:nvPr>
            <p:ph idx="1" type="subTitle"/>
          </p:nvPr>
        </p:nvSpPr>
        <p:spPr>
          <a:xfrm>
            <a:off x="344250" y="3550650"/>
            <a:ext cx="4910100" cy="5778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YOU HAVE TO DO IT NOW!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 want to address the elephant in the NT that everyone ignores</a:t>
            </a:r>
            <a:endParaRPr/>
          </a:p>
        </p:txBody>
      </p:sp>
      <p:sp>
        <p:nvSpPr>
          <p:cNvPr id="65" name="Google Shape;65;p14"/>
          <p:cNvSpPr txBox="1"/>
          <p:nvPr>
            <p:ph idx="1" type="body"/>
          </p:nvPr>
        </p:nvSpPr>
        <p:spPr>
          <a:xfrm>
            <a:off x="311700" y="1234075"/>
            <a:ext cx="8520600" cy="333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The NT writings were clearly written for a first century audience, and this is something </a:t>
            </a:r>
            <a:r>
              <a:rPr b="1" lang="en"/>
              <a:t>nearly</a:t>
            </a:r>
            <a:r>
              <a:rPr lang="en"/>
              <a:t> every apologist ignores. The traditionalists, the Paulinists, the Catholics, the anti-Paulinists. </a:t>
            </a:r>
            <a:br>
              <a:rPr lang="en"/>
            </a:br>
            <a:br>
              <a:rPr lang="en"/>
            </a:br>
            <a:r>
              <a:rPr lang="en"/>
              <a:t>There is of course an exception to this, and we’ll be dealing with that at the end of the study. Every generalization has an exception.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 speak with brevity, because it grows near</a:t>
            </a:r>
            <a:endParaRPr/>
          </a:p>
        </p:txBody>
      </p:sp>
      <p:sp>
        <p:nvSpPr>
          <p:cNvPr id="71" name="Google Shape;71;p15"/>
          <p:cNvSpPr txBox="1"/>
          <p:nvPr>
            <p:ph idx="1" type="body"/>
          </p:nvPr>
        </p:nvSpPr>
        <p:spPr>
          <a:xfrm>
            <a:off x="311700" y="1234075"/>
            <a:ext cx="8520600" cy="33348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[Mat 11:16, 19 LSB] "But to what shall I compare </a:t>
            </a:r>
            <a:r>
              <a:rPr b="1" lang="en"/>
              <a:t>THIS GENERATION</a:t>
            </a:r>
            <a:r>
              <a:rPr lang="en"/>
              <a:t>? It is like children sitting in the marketplaces, who call out to the other [children], ... "The Son of Man came eating and drinking, and they say, 'Behold, a gluttonous man and a drunkard, a friend of tax collectors and sinners!' Yet wisdom is vindicated by her deeds."</a:t>
            </a:r>
            <a:endParaRPr/>
          </a:p>
          <a:p>
            <a:pPr indent="0" lvl="0" marL="0" rtl="0" algn="l">
              <a:spcBef>
                <a:spcPts val="1200"/>
              </a:spcBef>
              <a:spcAft>
                <a:spcPts val="0"/>
              </a:spcAft>
              <a:buNone/>
            </a:pPr>
            <a:r>
              <a:rPr lang="en"/>
              <a:t>Who is he talking to? </a:t>
            </a:r>
            <a:r>
              <a:rPr i="1" lang="en"/>
              <a:t>THAT</a:t>
            </a:r>
            <a:r>
              <a:rPr lang="en"/>
              <a:t> generation. That is how we know when Yesu again uses this phrase in the eschatological formation of the Gospel of Matthew? We know that he meant </a:t>
            </a:r>
            <a:r>
              <a:rPr b="1" lang="en"/>
              <a:t>THAT</a:t>
            </a:r>
            <a:r>
              <a:rPr lang="en"/>
              <a:t> generation.</a:t>
            </a:r>
            <a:endParaRPr/>
          </a:p>
          <a:p>
            <a:pPr indent="0" lvl="0" marL="0" rtl="0" algn="l">
              <a:spcBef>
                <a:spcPts val="1200"/>
              </a:spcBef>
              <a:spcAft>
                <a:spcPts val="0"/>
              </a:spcAft>
              <a:buNone/>
            </a:pPr>
            <a:r>
              <a:rPr lang="en"/>
              <a:t>[Mar 8:12 LSB] And sighing deeply in His spirit, He said, "Why does THIS generation seek a sign? Truly I say to you, no sign will be given to THIS generation."</a:t>
            </a:r>
            <a:endParaRPr/>
          </a:p>
          <a:p>
            <a:pPr indent="0" lvl="0" marL="0" rtl="0" algn="l">
              <a:spcBef>
                <a:spcPts val="1200"/>
              </a:spcBef>
              <a:spcAft>
                <a:spcPts val="1200"/>
              </a:spcAft>
              <a:buNone/>
            </a:pPr>
            <a:r>
              <a:rPr lang="en"/>
              <a:t>The entire message was to </a:t>
            </a:r>
            <a:r>
              <a:rPr b="1" lang="en"/>
              <a:t>THAT</a:t>
            </a:r>
            <a:r>
              <a:rPr lang="en"/>
              <a:t> generation. Not to you, not to me.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Did judgment happen?</a:t>
            </a:r>
            <a:endParaRPr/>
          </a:p>
        </p:txBody>
      </p:sp>
      <p:sp>
        <p:nvSpPr>
          <p:cNvPr id="77" name="Google Shape;77;p16"/>
          <p:cNvSpPr txBox="1"/>
          <p:nvPr>
            <p:ph idx="1" type="body"/>
          </p:nvPr>
        </p:nvSpPr>
        <p:spPr>
          <a:xfrm>
            <a:off x="311700" y="1234075"/>
            <a:ext cx="8520600" cy="37962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a:t>[Mat 12:41-42 LSB] "The men of Nineveh will stand up with </a:t>
            </a:r>
            <a:r>
              <a:rPr b="1" lang="en"/>
              <a:t>this generation</a:t>
            </a:r>
            <a:r>
              <a:rPr lang="en"/>
              <a:t> at the </a:t>
            </a:r>
            <a:r>
              <a:rPr b="1" lang="en"/>
              <a:t>judgment</a:t>
            </a:r>
            <a:r>
              <a:rPr lang="en"/>
              <a:t>, and will condemn it because they repented at the preaching of Jonah; and behold, something greater than Jonah is here. "The Queen of the South will rise up with </a:t>
            </a:r>
            <a:r>
              <a:rPr b="1" lang="en" u="sng"/>
              <a:t>this generation at the judgment</a:t>
            </a:r>
            <a:r>
              <a:rPr b="1" lang="en"/>
              <a:t> and will condemn it</a:t>
            </a:r>
            <a:r>
              <a:rPr lang="en"/>
              <a:t>, because she came from the ends of the earth to hear the wisdom of Solomon; and behold, something greater than Solomon is here.</a:t>
            </a:r>
            <a:endParaRPr/>
          </a:p>
          <a:p>
            <a:pPr indent="0" lvl="0" marL="0" rtl="0" algn="l">
              <a:spcBef>
                <a:spcPts val="1200"/>
              </a:spcBef>
              <a:spcAft>
                <a:spcPts val="0"/>
              </a:spcAft>
              <a:buNone/>
            </a:pPr>
            <a:r>
              <a:rPr lang="en"/>
              <a:t>His condemnation was of </a:t>
            </a:r>
            <a:r>
              <a:rPr b="1" lang="en"/>
              <a:t>THAT</a:t>
            </a:r>
            <a:r>
              <a:rPr lang="en"/>
              <a:t> generation and why would he speak like this to them? Because he like nearly every NT author preached of an </a:t>
            </a:r>
            <a:r>
              <a:rPr i="1" lang="en"/>
              <a:t>imminent</a:t>
            </a:r>
            <a:r>
              <a:rPr lang="en"/>
              <a:t> coming of judgment.</a:t>
            </a:r>
            <a:endParaRPr/>
          </a:p>
          <a:p>
            <a:pPr indent="0" lvl="0" marL="0" rtl="0" algn="l">
              <a:spcBef>
                <a:spcPts val="1200"/>
              </a:spcBef>
              <a:spcAft>
                <a:spcPts val="0"/>
              </a:spcAft>
              <a:buNone/>
            </a:pPr>
            <a:r>
              <a:rPr lang="en"/>
              <a:t>[Mat 23:36 LSB] "Truly I say to you, all these things </a:t>
            </a:r>
            <a:r>
              <a:rPr b="1" lang="en"/>
              <a:t>will come upon </a:t>
            </a:r>
            <a:r>
              <a:rPr b="1" lang="en" u="sng"/>
              <a:t>this generation</a:t>
            </a:r>
            <a:r>
              <a:rPr lang="en"/>
              <a:t>.</a:t>
            </a:r>
            <a:endParaRPr/>
          </a:p>
          <a:p>
            <a:pPr indent="0" lvl="0" marL="0" rtl="0" algn="l">
              <a:spcBef>
                <a:spcPts val="1200"/>
              </a:spcBef>
              <a:spcAft>
                <a:spcPts val="0"/>
              </a:spcAft>
              <a:buNone/>
            </a:pPr>
            <a:r>
              <a:rPr lang="en"/>
              <a:t>Did ALL those things come upon </a:t>
            </a:r>
            <a:r>
              <a:rPr b="1" lang="en" u="sng"/>
              <a:t>THAT</a:t>
            </a:r>
            <a:r>
              <a:rPr lang="en"/>
              <a:t> generation?</a:t>
            </a:r>
            <a:endParaRPr/>
          </a:p>
          <a:p>
            <a:pPr indent="0" lvl="0" marL="0" rtl="0" algn="l">
              <a:spcBef>
                <a:spcPts val="1200"/>
              </a:spcBef>
              <a:spcAft>
                <a:spcPts val="1200"/>
              </a:spcAft>
              <a:buNone/>
            </a:pPr>
            <a:r>
              <a:rPr lang="en"/>
              <a:t>no.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Shall not pass away!	</a:t>
            </a:r>
            <a:endParaRPr/>
          </a:p>
        </p:txBody>
      </p:sp>
      <p:sp>
        <p:nvSpPr>
          <p:cNvPr id="83" name="Google Shape;83;p17"/>
          <p:cNvSpPr txBox="1"/>
          <p:nvPr>
            <p:ph idx="1" type="body"/>
          </p:nvPr>
        </p:nvSpPr>
        <p:spPr>
          <a:xfrm>
            <a:off x="311700" y="1234075"/>
            <a:ext cx="8520600" cy="33348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[Mat 24:34 LSB] "Truly I say to you, </a:t>
            </a:r>
            <a:r>
              <a:rPr b="1" lang="en" u="sng"/>
              <a:t>this generation</a:t>
            </a:r>
            <a:r>
              <a:rPr b="1" lang="en"/>
              <a:t> will NOT pass away</a:t>
            </a:r>
            <a:r>
              <a:rPr lang="en"/>
              <a:t> until all these things take place.</a:t>
            </a:r>
            <a:endParaRPr/>
          </a:p>
          <a:p>
            <a:pPr indent="0" lvl="0" marL="0" rtl="0" algn="l">
              <a:spcBef>
                <a:spcPts val="1200"/>
              </a:spcBef>
              <a:spcAft>
                <a:spcPts val="0"/>
              </a:spcAft>
              <a:buNone/>
            </a:pPr>
            <a:r>
              <a:rPr lang="en"/>
              <a:t>The futurist interpretation of this is completely skewed. Every other time he used it, it was about THAT generation in the past that he was speaking to. The same is true here, he was speaking to </a:t>
            </a:r>
            <a:r>
              <a:rPr b="1" lang="en"/>
              <a:t>his disciples</a:t>
            </a:r>
            <a:r>
              <a:rPr lang="en"/>
              <a:t> and telling them of his </a:t>
            </a:r>
            <a:r>
              <a:rPr b="1" lang="en"/>
              <a:t>IMMINENT</a:t>
            </a:r>
            <a:r>
              <a:rPr lang="en"/>
              <a:t> return. Why do you think they were willing to do this?</a:t>
            </a:r>
            <a:endParaRPr/>
          </a:p>
          <a:p>
            <a:pPr indent="0" lvl="0" marL="0" rtl="0" algn="l">
              <a:spcBef>
                <a:spcPts val="1200"/>
              </a:spcBef>
              <a:spcAft>
                <a:spcPts val="0"/>
              </a:spcAft>
              <a:buNone/>
            </a:pPr>
            <a:r>
              <a:rPr lang="en"/>
              <a:t>[Act 4:32 LSB] And the congregation of those who believed were of one heart and soul, and not one was saying that any of his possessions was his own, but, for them, </a:t>
            </a:r>
            <a:r>
              <a:rPr b="1" lang="en"/>
              <a:t>everything was common</a:t>
            </a:r>
            <a:r>
              <a:rPr lang="en"/>
              <a:t>.</a:t>
            </a:r>
            <a:endParaRPr/>
          </a:p>
          <a:p>
            <a:pPr indent="0" lvl="0" marL="0" rtl="0" algn="l">
              <a:spcBef>
                <a:spcPts val="1200"/>
              </a:spcBef>
              <a:spcAft>
                <a:spcPts val="1200"/>
              </a:spcAft>
              <a:buNone/>
            </a:pPr>
            <a:r>
              <a:rPr lang="en"/>
              <a:t>They sold everything as the end of all things </a:t>
            </a:r>
            <a:r>
              <a:rPr b="1" lang="en"/>
              <a:t>WAS AT HAND</a:t>
            </a:r>
            <a:r>
              <a:rPr lang="en"/>
              <a:t>. They believed it in their heart, and this is the position preterists take today.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Doesn’t this validate John over Matthew, Mark and Luke?</a:t>
            </a:r>
            <a:endParaRPr/>
          </a:p>
        </p:txBody>
      </p:sp>
      <p:sp>
        <p:nvSpPr>
          <p:cNvPr id="89" name="Google Shape;89;p18"/>
          <p:cNvSpPr txBox="1"/>
          <p:nvPr>
            <p:ph idx="1" type="body"/>
          </p:nvPr>
        </p:nvSpPr>
        <p:spPr>
          <a:xfrm>
            <a:off x="311700" y="1234075"/>
            <a:ext cx="8520600" cy="3633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This could be an argument from an </a:t>
            </a:r>
            <a:r>
              <a:rPr lang="en"/>
              <a:t>interlocutor</a:t>
            </a:r>
            <a:r>
              <a:rPr lang="en"/>
              <a:t> who is anti-Pauline and uses the Pauline writings of John’s Gospel for their faith. The fact that John’s Gospel is missing any sort of eschatology surrounding Jerusalem, and has him talking to a Samaritan woman about worship not happening in Jerusalem? It is more definitive proof against John’s Gospel. How?</a:t>
            </a:r>
            <a:endParaRPr/>
          </a:p>
          <a:p>
            <a:pPr indent="0" lvl="0" marL="0" rtl="0" algn="l">
              <a:spcBef>
                <a:spcPts val="1200"/>
              </a:spcBef>
              <a:spcAft>
                <a:spcPts val="0"/>
              </a:spcAft>
              <a:buNone/>
            </a:pPr>
            <a:r>
              <a:rPr lang="en"/>
              <a:t>When the resurrection didn’t happen (and this is witness one against the resurrection happening) early Christians, including two books that were canonized started to reassure their congregants that it was still going to happen. </a:t>
            </a:r>
            <a:endParaRPr/>
          </a:p>
          <a:p>
            <a:pPr indent="0" lvl="0" marL="0" rtl="0" algn="l">
              <a:spcBef>
                <a:spcPts val="1200"/>
              </a:spcBef>
              <a:spcAft>
                <a:spcPts val="1200"/>
              </a:spcAft>
              <a:buNone/>
            </a:pPr>
            <a:r>
              <a:rPr lang="en"/>
              <a:t>We even see this in Paul’s writings, which points to it being a later writing after Paul died.</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Post Pauline Pastoral Epistle</a:t>
            </a:r>
            <a:endParaRPr/>
          </a:p>
        </p:txBody>
      </p:sp>
      <p:sp>
        <p:nvSpPr>
          <p:cNvPr id="95" name="Google Shape;95;p19"/>
          <p:cNvSpPr txBox="1"/>
          <p:nvPr>
            <p:ph idx="1" type="body"/>
          </p:nvPr>
        </p:nvSpPr>
        <p:spPr>
          <a:xfrm>
            <a:off x="311700" y="1234075"/>
            <a:ext cx="8520600" cy="33348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[2Ti 2:18 ESV] who have swerved from the truth, saying </a:t>
            </a:r>
            <a:r>
              <a:rPr b="1" lang="en"/>
              <a:t>that the resurrection has already happened</a:t>
            </a:r>
            <a:r>
              <a:rPr lang="en"/>
              <a:t>. They are upsetting the faith of some.</a:t>
            </a:r>
            <a:endParaRPr/>
          </a:p>
          <a:p>
            <a:pPr indent="-342900" lvl="0" marL="457200" rtl="0" algn="l">
              <a:spcBef>
                <a:spcPts val="1200"/>
              </a:spcBef>
              <a:spcAft>
                <a:spcPts val="0"/>
              </a:spcAft>
              <a:buSzPts val="1800"/>
              <a:buAutoNum type="arabicPeriod"/>
            </a:pPr>
            <a:r>
              <a:rPr lang="en"/>
              <a:t>There were some in the early second century teaching the same thing that Preterists teach today. </a:t>
            </a:r>
            <a:r>
              <a:rPr b="1" lang="en"/>
              <a:t>That the resurrection happened</a:t>
            </a:r>
            <a:r>
              <a:rPr lang="en"/>
              <a:t>, some of the full preterists teach this. </a:t>
            </a:r>
            <a:endParaRPr/>
          </a:p>
          <a:p>
            <a:pPr indent="-342900" lvl="0" marL="457200" rtl="0" algn="l">
              <a:spcBef>
                <a:spcPts val="0"/>
              </a:spcBef>
              <a:spcAft>
                <a:spcPts val="0"/>
              </a:spcAft>
              <a:buSzPts val="1800"/>
              <a:buAutoNum type="arabicPeriod"/>
            </a:pPr>
            <a:r>
              <a:rPr lang="en"/>
              <a:t>The problem is described in the second stanza - if the resurrection happened? </a:t>
            </a:r>
            <a:r>
              <a:rPr b="1" lang="en"/>
              <a:t>Then you have no hope</a:t>
            </a:r>
            <a:r>
              <a:rPr lang="en"/>
              <a:t>. And we’ll get to the reason this is a huge issue as we go on. The RESURRECTION </a:t>
            </a:r>
            <a:r>
              <a:rPr i="1" lang="en"/>
              <a:t>IS</a:t>
            </a:r>
            <a:r>
              <a:rPr lang="en"/>
              <a:t> the HOPE in the NT. It is not about going to Heaven. This was what Rome did later to assauge concerns about the unfulfilled promises!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 saved from THAT crooked generation</a:t>
            </a:r>
            <a:endParaRPr/>
          </a:p>
        </p:txBody>
      </p:sp>
      <p:sp>
        <p:nvSpPr>
          <p:cNvPr id="101" name="Google Shape;101;p20"/>
          <p:cNvSpPr txBox="1"/>
          <p:nvPr>
            <p:ph idx="1" type="body"/>
          </p:nvPr>
        </p:nvSpPr>
        <p:spPr>
          <a:xfrm>
            <a:off x="311700" y="1234075"/>
            <a:ext cx="8520600" cy="33348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[Act 2:40 LSB] And with many other words he solemnly bore witness and kept on exhorting them, saying, "</a:t>
            </a:r>
            <a:r>
              <a:rPr b="1" lang="en"/>
              <a:t>Be saved from THIS crooked generation</a:t>
            </a:r>
            <a:r>
              <a:rPr lang="en"/>
              <a:t>!"</a:t>
            </a:r>
            <a:endParaRPr/>
          </a:p>
          <a:p>
            <a:pPr indent="0" lvl="0" marL="0" rtl="0" algn="l">
              <a:spcBef>
                <a:spcPts val="1200"/>
              </a:spcBef>
              <a:spcAft>
                <a:spcPts val="0"/>
              </a:spcAft>
              <a:buNone/>
            </a:pPr>
            <a:r>
              <a:rPr lang="en"/>
              <a:t>Who was Peter speaking to? Was he speaking to you?</a:t>
            </a:r>
            <a:endParaRPr/>
          </a:p>
          <a:p>
            <a:pPr indent="0" lvl="0" marL="0" rtl="0" algn="l">
              <a:spcBef>
                <a:spcPts val="1200"/>
              </a:spcBef>
              <a:spcAft>
                <a:spcPts val="0"/>
              </a:spcAft>
              <a:buNone/>
            </a:pPr>
            <a:r>
              <a:rPr lang="en"/>
              <a:t>No. He was speaking to </a:t>
            </a:r>
            <a:r>
              <a:rPr b="1" lang="en"/>
              <a:t>THAT</a:t>
            </a:r>
            <a:r>
              <a:rPr lang="en"/>
              <a:t> </a:t>
            </a:r>
            <a:r>
              <a:rPr b="1" lang="en"/>
              <a:t>generation</a:t>
            </a:r>
            <a:r>
              <a:rPr lang="en"/>
              <a:t>. This is why he quoted from Joel 2, and said:</a:t>
            </a:r>
            <a:endParaRPr/>
          </a:p>
          <a:p>
            <a:pPr indent="0" lvl="0" marL="0" rtl="0" algn="l">
              <a:spcBef>
                <a:spcPts val="1200"/>
              </a:spcBef>
              <a:spcAft>
                <a:spcPts val="0"/>
              </a:spcAft>
              <a:buNone/>
            </a:pPr>
            <a:r>
              <a:rPr lang="en"/>
              <a:t>[Act 2:15-16 LSB] "For these men are not drunk, as you suppose, for it is the third hour of the day; but this is what was spoken through the prophet Joel:</a:t>
            </a:r>
            <a:endParaRPr/>
          </a:p>
          <a:p>
            <a:pPr indent="0" lvl="0" marL="0" rtl="0" algn="l">
              <a:spcBef>
                <a:spcPts val="1200"/>
              </a:spcBef>
              <a:spcAft>
                <a:spcPts val="0"/>
              </a:spcAft>
              <a:buNone/>
            </a:pPr>
            <a:r>
              <a:rPr lang="en"/>
              <a:t>What is that prophecy from Joel?</a:t>
            </a:r>
            <a:endParaRPr/>
          </a:p>
          <a:p>
            <a:pPr indent="0" lvl="0" marL="0" rtl="0" algn="l">
              <a:spcBef>
                <a:spcPts val="1200"/>
              </a:spcBef>
              <a:spcAft>
                <a:spcPts val="1200"/>
              </a:spcAft>
              <a:buNone/>
            </a:pPr>
            <a:r>
              <a:rPr lang="en"/>
              <a:t>[Act 2:17 LSB] 'AND IT SHALL BE </a:t>
            </a:r>
            <a:r>
              <a:rPr b="1" lang="en" u="sng"/>
              <a:t>IN THE LAST DAYS</a:t>
            </a:r>
            <a:r>
              <a:rPr lang="en"/>
              <a:t>,' God says, 'THAT I WILL POUR OUT MY SPIRIT ON ALL MANKIND; AND YOUR SONS AND YOUR DAUGHTERS SHALL PROPHESY, AND YOUR YOUNG MEN SHALL SEE VISIONS, AND YOUR OLD MEN SHALL DREAM DREAMS;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LAST DAYS</a:t>
            </a:r>
            <a:endParaRPr/>
          </a:p>
        </p:txBody>
      </p:sp>
      <p:sp>
        <p:nvSpPr>
          <p:cNvPr id="107" name="Google Shape;107;p21"/>
          <p:cNvSpPr txBox="1"/>
          <p:nvPr>
            <p:ph idx="1" type="body"/>
          </p:nvPr>
        </p:nvSpPr>
        <p:spPr>
          <a:xfrm>
            <a:off x="311700" y="1234075"/>
            <a:ext cx="8520600" cy="3711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Now the way Peter MIS-quoted that passage makes it clear, Peter and the early Christians believed they were </a:t>
            </a:r>
            <a:r>
              <a:rPr i="1" lang="en"/>
              <a:t>living</a:t>
            </a:r>
            <a:r>
              <a:rPr lang="en"/>
              <a:t> </a:t>
            </a:r>
            <a:r>
              <a:rPr b="1" lang="en"/>
              <a:t>in the LAST DAYS</a:t>
            </a:r>
            <a:r>
              <a:rPr lang="en"/>
              <a:t>.</a:t>
            </a:r>
            <a:endParaRPr/>
          </a:p>
          <a:p>
            <a:pPr indent="0" lvl="0" marL="0" rtl="0" algn="l">
              <a:spcBef>
                <a:spcPts val="1200"/>
              </a:spcBef>
              <a:spcAft>
                <a:spcPts val="0"/>
              </a:spcAft>
              <a:buNone/>
            </a:pPr>
            <a:r>
              <a:rPr lang="en"/>
              <a:t>[Joe 2:28 LSB] "And it will be </a:t>
            </a:r>
            <a:r>
              <a:rPr b="1" lang="en" u="sng"/>
              <a:t>afterwards</a:t>
            </a:r>
            <a:r>
              <a:rPr lang="en"/>
              <a:t> That I will pour out My Spirit on all mankind; And your sons and your daughters shall prophesy; Your old men will dream dreams; Your young men will see visions.</a:t>
            </a:r>
            <a:endParaRPr/>
          </a:p>
          <a:p>
            <a:pPr indent="0" lvl="0" marL="0" rtl="0" algn="l">
              <a:spcBef>
                <a:spcPts val="1200"/>
              </a:spcBef>
              <a:spcAft>
                <a:spcPts val="0"/>
              </a:spcAft>
              <a:buNone/>
            </a:pPr>
            <a:r>
              <a:rPr lang="en"/>
              <a:t>But this wasn’t what Joel was saying - and in fact, this prophecy was not about the first century - </a:t>
            </a:r>
            <a:r>
              <a:rPr b="1" lang="en" u="sng"/>
              <a:t>it was about the exile to Babylon</a:t>
            </a:r>
            <a:r>
              <a:rPr lang="en"/>
              <a:t>. The coming destruction </a:t>
            </a:r>
            <a:r>
              <a:rPr lang="en"/>
              <a:t>prophesied</a:t>
            </a:r>
            <a:r>
              <a:rPr lang="en"/>
              <a:t> of in Joel to the people reading his writing, weren’t going to have to wait until after they died, and have their </a:t>
            </a:r>
            <a:r>
              <a:rPr b="1" lang="en"/>
              <a:t>great-great-great-great-great grandchildren</a:t>
            </a:r>
            <a:r>
              <a:rPr lang="en"/>
              <a:t> take that passage out of </a:t>
            </a:r>
            <a:r>
              <a:rPr lang="en"/>
              <a:t>context</a:t>
            </a:r>
            <a:r>
              <a:rPr lang="en"/>
              <a:t> to be about Jesus.</a:t>
            </a:r>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Pauline </a:t>
            </a:r>
            <a:r>
              <a:rPr lang="en"/>
              <a:t>Dilemma</a:t>
            </a:r>
            <a:endParaRPr/>
          </a:p>
        </p:txBody>
      </p:sp>
      <p:sp>
        <p:nvSpPr>
          <p:cNvPr id="113" name="Google Shape;113;p22"/>
          <p:cNvSpPr txBox="1"/>
          <p:nvPr>
            <p:ph idx="1" type="body"/>
          </p:nvPr>
        </p:nvSpPr>
        <p:spPr>
          <a:xfrm>
            <a:off x="311700" y="1234075"/>
            <a:ext cx="8520600" cy="38172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Paul also taught of an imminent return.</a:t>
            </a:r>
            <a:endParaRPr/>
          </a:p>
          <a:p>
            <a:pPr indent="0" lvl="0" marL="0" rtl="0" algn="l">
              <a:spcBef>
                <a:spcPts val="1200"/>
              </a:spcBef>
              <a:spcAft>
                <a:spcPts val="0"/>
              </a:spcAft>
              <a:buNone/>
            </a:pPr>
            <a:r>
              <a:rPr lang="en"/>
              <a:t>[Rom 13:11 KJV] And that, knowing the </a:t>
            </a:r>
            <a:r>
              <a:rPr b="1" lang="en"/>
              <a:t>time</a:t>
            </a:r>
            <a:r>
              <a:rPr lang="en"/>
              <a:t>, that </a:t>
            </a:r>
            <a:r>
              <a:rPr b="1" lang="en"/>
              <a:t>NOW</a:t>
            </a:r>
            <a:r>
              <a:rPr lang="en"/>
              <a:t> [it is] high time to awake out of sleep: for </a:t>
            </a:r>
            <a:r>
              <a:rPr b="1" lang="en" u="sng"/>
              <a:t>NOW</a:t>
            </a:r>
            <a:r>
              <a:rPr lang="en"/>
              <a:t> [is] </a:t>
            </a:r>
            <a:r>
              <a:rPr b="1" lang="en"/>
              <a:t>OUR salvation nearer</a:t>
            </a:r>
            <a:r>
              <a:rPr lang="en"/>
              <a:t> than when we believed.</a:t>
            </a:r>
            <a:endParaRPr/>
          </a:p>
          <a:p>
            <a:pPr indent="0" lvl="0" marL="0" rtl="0" algn="l">
              <a:spcBef>
                <a:spcPts val="1200"/>
              </a:spcBef>
              <a:spcAft>
                <a:spcPts val="0"/>
              </a:spcAft>
              <a:buNone/>
            </a:pPr>
            <a:r>
              <a:rPr lang="en"/>
              <a:t>[1Co 7:29 LSB] But this I say, brothers, the </a:t>
            </a:r>
            <a:r>
              <a:rPr b="1" lang="en"/>
              <a:t>time has been SHORTENED</a:t>
            </a:r>
            <a:r>
              <a:rPr lang="en"/>
              <a:t>, so that from now on those who have wives </a:t>
            </a:r>
            <a:r>
              <a:rPr b="1" lang="en"/>
              <a:t>should be as though they had none</a:t>
            </a:r>
            <a:r>
              <a:rPr lang="en"/>
              <a:t>;</a:t>
            </a:r>
            <a:br>
              <a:rPr lang="en"/>
            </a:br>
            <a:br>
              <a:rPr lang="en"/>
            </a:br>
            <a:r>
              <a:rPr lang="en"/>
              <a:t>WHY would they live as if they had NO WIFE? BECAUSE THE END OF ALL THINGS WAS AT HAND!</a:t>
            </a:r>
            <a:endParaRPr/>
          </a:p>
          <a:p>
            <a:pPr indent="0" lvl="0" marL="0" rtl="0" algn="l">
              <a:spcBef>
                <a:spcPts val="1200"/>
              </a:spcBef>
              <a:spcAft>
                <a:spcPts val="0"/>
              </a:spcAft>
              <a:buNone/>
            </a:pPr>
            <a:r>
              <a:rPr lang="en"/>
              <a:t>[2Co 1:10 LSB] who </a:t>
            </a:r>
            <a:r>
              <a:rPr b="1" lang="en"/>
              <a:t>rescued US</a:t>
            </a:r>
            <a:r>
              <a:rPr lang="en"/>
              <a:t> from so great a [peril of] death, and </a:t>
            </a:r>
            <a:r>
              <a:rPr b="1" lang="en"/>
              <a:t>will rescue [us],</a:t>
            </a:r>
            <a:r>
              <a:rPr lang="en"/>
              <a:t> He on whom </a:t>
            </a:r>
            <a:r>
              <a:rPr b="1" lang="en"/>
              <a:t>we have set our hope</a:t>
            </a:r>
            <a:r>
              <a:rPr lang="en"/>
              <a:t>. And </a:t>
            </a:r>
            <a:r>
              <a:rPr b="1" lang="en"/>
              <a:t>He will yet rescue us</a:t>
            </a:r>
            <a:r>
              <a:rPr lang="en"/>
              <a:t>,</a:t>
            </a:r>
            <a:endParaRPr/>
          </a:p>
          <a:p>
            <a:pPr indent="0" lvl="0" marL="0" rtl="0" algn="l">
              <a:spcBef>
                <a:spcPts val="1200"/>
              </a:spcBef>
              <a:spcAft>
                <a:spcPts val="0"/>
              </a:spcAft>
              <a:buNone/>
            </a:pPr>
            <a:r>
              <a:rPr lang="en"/>
              <a:t>HE DID NOT RESCUE THEM FROM DEATH!</a:t>
            </a:r>
            <a:endParaRPr/>
          </a:p>
          <a:p>
            <a:pPr indent="0" lvl="0" marL="0" rtl="0" algn="l">
              <a:spcBef>
                <a:spcPts val="1200"/>
              </a:spcBef>
              <a:spcAft>
                <a:spcPts val="0"/>
              </a:spcAft>
              <a:buNone/>
            </a:pPr>
            <a:r>
              <a:rPr lang="en"/>
              <a:t>[Gal 6:9 LSB] And </a:t>
            </a:r>
            <a:r>
              <a:rPr b="1" lang="en"/>
              <a:t>let US not lose heart</a:t>
            </a:r>
            <a:r>
              <a:rPr lang="en"/>
              <a:t> in doing good, for in </a:t>
            </a:r>
            <a:r>
              <a:rPr b="1" lang="en"/>
              <a:t>due time </a:t>
            </a:r>
            <a:r>
              <a:rPr b="1" lang="en" u="sng"/>
              <a:t>WE</a:t>
            </a:r>
            <a:r>
              <a:rPr b="1" lang="en"/>
              <a:t> </a:t>
            </a:r>
            <a:r>
              <a:rPr b="1" i="1" lang="en" u="sng"/>
              <a:t>will</a:t>
            </a:r>
            <a:r>
              <a:rPr b="1" lang="en"/>
              <a:t> reap if WE do not grow weary</a:t>
            </a:r>
            <a:r>
              <a:rPr lang="en"/>
              <a:t>.</a:t>
            </a:r>
            <a:endParaRPr/>
          </a:p>
          <a:p>
            <a:pPr indent="0" lvl="0" marL="0" rtl="0" algn="l">
              <a:spcBef>
                <a:spcPts val="1200"/>
              </a:spcBef>
              <a:spcAft>
                <a:spcPts val="1200"/>
              </a:spcAft>
              <a:buNone/>
            </a:pPr>
            <a:r>
              <a:rPr lang="en"/>
              <a:t>Paul wasn’t talking to US, THESE BOOKS ARE NOT WRITTEN TO YOU! He was talking to his disciples in the first century - he promised them (like Jesu) that they would not taste death. Which is why the </a:t>
            </a:r>
            <a:r>
              <a:rPr lang="en"/>
              <a:t>pseudepigrapha</a:t>
            </a:r>
            <a:r>
              <a:rPr lang="en"/>
              <a:t> of 2 Peter 3 exists.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about Revelation!</a:t>
            </a:r>
            <a:endParaRPr/>
          </a:p>
        </p:txBody>
      </p:sp>
      <p:sp>
        <p:nvSpPr>
          <p:cNvPr id="119" name="Google Shape;119;p23"/>
          <p:cNvSpPr txBox="1"/>
          <p:nvPr>
            <p:ph idx="1" type="body"/>
          </p:nvPr>
        </p:nvSpPr>
        <p:spPr>
          <a:xfrm>
            <a:off x="311700" y="1234075"/>
            <a:ext cx="8520600" cy="39447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Indeed, what about the great mysteries of iniquity?</a:t>
            </a:r>
            <a:endParaRPr/>
          </a:p>
          <a:p>
            <a:pPr indent="0" lvl="0" marL="0" rtl="0" algn="l">
              <a:spcBef>
                <a:spcPts val="1200"/>
              </a:spcBef>
              <a:spcAft>
                <a:spcPts val="0"/>
              </a:spcAft>
              <a:buNone/>
            </a:pPr>
            <a:r>
              <a:rPr lang="en"/>
              <a:t>[Rev 1:1-3 LSB] The Revelation of J-sus Christ, which God gave Him to show to His slaves the things </a:t>
            </a:r>
            <a:r>
              <a:rPr b="1" lang="en"/>
              <a:t>which MUST SOON happen</a:t>
            </a:r>
            <a:r>
              <a:rPr lang="en"/>
              <a:t>; and He indicated [this] by sending [it] through His angel to His slave John, who bore witness to the word of God and to the witness of J-sus Christ, [even] to all that he saw. Blessed is he who reads and those who hear the words of the prophecy and keep the things which are written in it, </a:t>
            </a:r>
            <a:r>
              <a:rPr b="1" lang="en"/>
              <a:t>for the time is NEAR</a:t>
            </a:r>
            <a:r>
              <a:rPr lang="en"/>
              <a:t>.</a:t>
            </a:r>
            <a:endParaRPr/>
          </a:p>
          <a:p>
            <a:pPr indent="0" lvl="0" marL="0" rtl="0" algn="l">
              <a:spcBef>
                <a:spcPts val="1200"/>
              </a:spcBef>
              <a:spcAft>
                <a:spcPts val="0"/>
              </a:spcAft>
              <a:buNone/>
            </a:pPr>
            <a:r>
              <a:rPr lang="en"/>
              <a:t>[Rev 22:10, 20 LSB] And he said to me, "Do not seal up the words of the prophecy of this book, </a:t>
            </a:r>
            <a:r>
              <a:rPr b="1" lang="en"/>
              <a:t>for the time is NEAR</a:t>
            </a:r>
            <a:r>
              <a:rPr lang="en"/>
              <a:t>. ... He who bears witness to these things says, "Yes, </a:t>
            </a:r>
            <a:r>
              <a:rPr b="1" lang="en"/>
              <a:t>I am coming QUICKLY</a:t>
            </a:r>
            <a:r>
              <a:rPr lang="en"/>
              <a:t>." Amen. Come, Lord Jesus.</a:t>
            </a:r>
            <a:endParaRPr/>
          </a:p>
          <a:p>
            <a:pPr indent="0" lvl="0" marL="0" rtl="0" algn="l">
              <a:spcBef>
                <a:spcPts val="1200"/>
              </a:spcBef>
              <a:spcAft>
                <a:spcPts val="0"/>
              </a:spcAft>
              <a:buNone/>
            </a:pPr>
            <a:r>
              <a:rPr lang="en"/>
              <a:t>The answer is right there. The things he wrote </a:t>
            </a:r>
            <a:r>
              <a:rPr b="1" lang="en"/>
              <a:t>MUST SOON</a:t>
            </a:r>
            <a:r>
              <a:rPr lang="en"/>
              <a:t> happen. But it didn’t, and </a:t>
            </a:r>
            <a:r>
              <a:rPr lang="en"/>
              <a:t>this is why to cling to their idolatry preterists believe </a:t>
            </a:r>
            <a:r>
              <a:rPr b="1" lang="en"/>
              <a:t>IT DID HAPPEN</a:t>
            </a:r>
            <a:r>
              <a:rPr lang="en"/>
              <a:t>. It is the ONLY WAY to cling to J-sus is to say things happened that didn’t.</a:t>
            </a:r>
            <a:br>
              <a:rPr lang="en"/>
            </a:br>
            <a:br>
              <a:rPr lang="en"/>
            </a:br>
            <a:r>
              <a:rPr lang="en"/>
              <a:t>Which is why in 22:10, “</a:t>
            </a:r>
            <a:r>
              <a:rPr b="1" lang="en"/>
              <a:t>do not seal up the words of the prophecy of this book</a:t>
            </a:r>
            <a:r>
              <a:rPr lang="en"/>
              <a:t>.” Seal them up? For a later generation, as “THE TIME WAS NEAR”.</a:t>
            </a:r>
            <a:br>
              <a:rPr lang="en"/>
            </a:br>
            <a:br>
              <a:rPr lang="en"/>
            </a:br>
            <a:r>
              <a:rPr lang="en"/>
              <a:t>The last sentence is from Jesu himself; “</a:t>
            </a:r>
            <a:r>
              <a:rPr b="1" lang="en"/>
              <a:t>I am coming quickly.</a:t>
            </a:r>
            <a:r>
              <a:rPr lang="en"/>
              <a:t>”</a:t>
            </a:r>
            <a:endParaRPr/>
          </a:p>
          <a:p>
            <a:pPr indent="0" lvl="0" marL="0" rtl="0" algn="l">
              <a:spcBef>
                <a:spcPts val="1200"/>
              </a:spcBef>
              <a:spcAft>
                <a:spcPts val="1200"/>
              </a:spcAft>
              <a:buNone/>
            </a:pPr>
            <a:r>
              <a:rPr lang="en"/>
              <a:t>HE DID NOT COME QUICKLY - and we can DEFINITIVELY PROVE THAT from Canon.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Okay, I know we can trust James the brother of Yesu!</a:t>
            </a:r>
            <a:endParaRPr/>
          </a:p>
        </p:txBody>
      </p:sp>
      <p:sp>
        <p:nvSpPr>
          <p:cNvPr id="125" name="Google Shape;125;p24"/>
          <p:cNvSpPr txBox="1"/>
          <p:nvPr>
            <p:ph idx="1" type="body"/>
          </p:nvPr>
        </p:nvSpPr>
        <p:spPr>
          <a:xfrm>
            <a:off x="311700" y="1234075"/>
            <a:ext cx="8520600" cy="37821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[Jas 5:7 LSB] Therefore </a:t>
            </a:r>
            <a:r>
              <a:rPr b="1" lang="en"/>
              <a:t>be patient, brothers</a:t>
            </a:r>
            <a:r>
              <a:rPr lang="en"/>
              <a:t>, until the coming of the Lord. Behold, the farmer waits for the precious fruit of the soil, being patient about it, until it receives the early and late rains.</a:t>
            </a:r>
            <a:endParaRPr/>
          </a:p>
          <a:p>
            <a:pPr indent="0" lvl="0" marL="0" rtl="0" algn="l">
              <a:spcBef>
                <a:spcPts val="1200"/>
              </a:spcBef>
              <a:spcAft>
                <a:spcPts val="0"/>
              </a:spcAft>
              <a:buNone/>
            </a:pPr>
            <a:r>
              <a:rPr lang="en"/>
              <a:t>Who is James talking to?</a:t>
            </a:r>
            <a:endParaRPr/>
          </a:p>
          <a:p>
            <a:pPr indent="0" lvl="0" marL="0" rtl="0" algn="l">
              <a:spcBef>
                <a:spcPts val="1200"/>
              </a:spcBef>
              <a:spcAft>
                <a:spcPts val="0"/>
              </a:spcAft>
              <a:buNone/>
            </a:pPr>
            <a:r>
              <a:rPr lang="en"/>
              <a:t>To the people he wrote to, the “Jews in diaspora” that is the context. Not you, not me, not anyone outside of the first century.</a:t>
            </a:r>
            <a:endParaRPr/>
          </a:p>
          <a:p>
            <a:pPr indent="0" lvl="0" marL="0" rtl="0" algn="l">
              <a:spcBef>
                <a:spcPts val="1200"/>
              </a:spcBef>
              <a:spcAft>
                <a:spcPts val="0"/>
              </a:spcAft>
              <a:buNone/>
            </a:pPr>
            <a:r>
              <a:rPr lang="en"/>
              <a:t>[Jas 5:8 LSB] </a:t>
            </a:r>
            <a:r>
              <a:rPr b="1" lang="en"/>
              <a:t>You</a:t>
            </a:r>
            <a:r>
              <a:rPr lang="en"/>
              <a:t> too </a:t>
            </a:r>
            <a:r>
              <a:rPr b="1" lang="en"/>
              <a:t>be patient</a:t>
            </a:r>
            <a:r>
              <a:rPr lang="en"/>
              <a:t>; strengthen your hearts, </a:t>
            </a:r>
            <a:r>
              <a:rPr b="1" lang="en"/>
              <a:t>for the coming of the Lord </a:t>
            </a:r>
            <a:r>
              <a:rPr b="1" i="1" lang="en" u="sng"/>
              <a:t>is at hand</a:t>
            </a:r>
            <a:r>
              <a:rPr b="1" lang="en"/>
              <a:t>.</a:t>
            </a:r>
            <a:endParaRPr b="1"/>
          </a:p>
          <a:p>
            <a:pPr indent="0" lvl="0" marL="0" rtl="0" algn="l">
              <a:spcBef>
                <a:spcPts val="1200"/>
              </a:spcBef>
              <a:spcAft>
                <a:spcPts val="0"/>
              </a:spcAft>
              <a:buNone/>
            </a:pPr>
            <a:r>
              <a:rPr b="1" lang="en"/>
              <a:t>Same message.</a:t>
            </a:r>
            <a:endParaRPr/>
          </a:p>
          <a:p>
            <a:pPr indent="0" lvl="0" marL="0" rtl="0" algn="l">
              <a:spcBef>
                <a:spcPts val="1200"/>
              </a:spcBef>
              <a:spcAft>
                <a:spcPts val="1200"/>
              </a:spcAft>
              <a:buNone/>
            </a:pPr>
            <a:r>
              <a:rPr lang="en"/>
              <a:t>The coming of Jesu is at hand, it is not delayed, the time is nearing!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 can live without Paul, without the synoptics, we have John &amp; Jude</a:t>
            </a:r>
            <a:endParaRPr/>
          </a:p>
        </p:txBody>
      </p:sp>
      <p:sp>
        <p:nvSpPr>
          <p:cNvPr id="131" name="Google Shape;131;p25"/>
          <p:cNvSpPr txBox="1"/>
          <p:nvPr>
            <p:ph idx="1" type="body"/>
          </p:nvPr>
        </p:nvSpPr>
        <p:spPr>
          <a:xfrm>
            <a:off x="311700" y="1234075"/>
            <a:ext cx="8520600" cy="37680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t>[1Jo 2:18 LSB] Children, </a:t>
            </a:r>
            <a:r>
              <a:rPr b="1" lang="en"/>
              <a:t>it is the last hour</a:t>
            </a:r>
            <a:r>
              <a:rPr lang="en"/>
              <a:t>; and just as you heard that antichrist is coming, even now many antichrists have appeared. From this we know that </a:t>
            </a:r>
            <a:r>
              <a:rPr b="1" lang="en"/>
              <a:t>it is the last hour.</a:t>
            </a:r>
            <a:endParaRPr b="1"/>
          </a:p>
          <a:p>
            <a:pPr indent="0" lvl="0" marL="0" rtl="0" algn="l">
              <a:spcBef>
                <a:spcPts val="1200"/>
              </a:spcBef>
              <a:spcAft>
                <a:spcPts val="0"/>
              </a:spcAft>
              <a:buNone/>
            </a:pPr>
            <a:r>
              <a:rPr lang="en"/>
              <a:t>This we </a:t>
            </a:r>
            <a:r>
              <a:rPr b="1" lang="en"/>
              <a:t>KNOW</a:t>
            </a:r>
            <a:r>
              <a:rPr lang="en"/>
              <a:t> - it is (PRESENTLY NOW) the LAST HOUR.</a:t>
            </a:r>
            <a:endParaRPr/>
          </a:p>
          <a:p>
            <a:pPr indent="0" lvl="0" marL="0" rtl="0" algn="l">
              <a:spcBef>
                <a:spcPts val="1200"/>
              </a:spcBef>
              <a:spcAft>
                <a:spcPts val="0"/>
              </a:spcAft>
              <a:buNone/>
            </a:pPr>
            <a:r>
              <a:rPr lang="en"/>
              <a:t>[Jde 1:17-18 LSB] But you, beloved, must remember the words that were spoken beforehand by the apostles of our Lord Jesus Christ, that they were saying to you, "</a:t>
            </a:r>
            <a:r>
              <a:rPr b="1" lang="en"/>
              <a:t>In the last time</a:t>
            </a:r>
            <a:r>
              <a:rPr lang="en"/>
              <a:t> there will be mockers, following after their own ungodly lusts."</a:t>
            </a:r>
            <a:endParaRPr/>
          </a:p>
          <a:p>
            <a:pPr indent="0" lvl="0" marL="0" rtl="0" algn="l">
              <a:spcBef>
                <a:spcPts val="1200"/>
              </a:spcBef>
              <a:spcAft>
                <a:spcPts val="0"/>
              </a:spcAft>
              <a:buNone/>
            </a:pPr>
            <a:r>
              <a:rPr lang="en"/>
              <a:t>Jude also firmly believed they were living IN THE LAST TIME, IN THE LAST HOUR.</a:t>
            </a:r>
            <a:endParaRPr/>
          </a:p>
          <a:p>
            <a:pPr indent="0" lvl="0" marL="0" rtl="0" algn="l">
              <a:spcBef>
                <a:spcPts val="1200"/>
              </a:spcBef>
              <a:spcAft>
                <a:spcPts val="0"/>
              </a:spcAft>
              <a:buNone/>
            </a:pPr>
            <a:r>
              <a:rPr lang="en"/>
              <a:t>So, now we are going to deal with some other facts - why Preterism doesn’t solve these problems. Why the resurrection happening in the first century?</a:t>
            </a:r>
            <a:endParaRPr/>
          </a:p>
          <a:p>
            <a:pPr indent="0" lvl="0" marL="0" rtl="0" algn="l">
              <a:spcBef>
                <a:spcPts val="1200"/>
              </a:spcBef>
              <a:spcAft>
                <a:spcPts val="1200"/>
              </a:spcAft>
              <a:buNone/>
            </a:pPr>
            <a:r>
              <a:rPr lang="en"/>
              <a:t>It doesn’t solve any of these problems, and we can prove from the writings the Romans canonized that it didn’t yet happen.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Third Witness</a:t>
            </a:r>
            <a:endParaRPr/>
          </a:p>
        </p:txBody>
      </p:sp>
      <p:sp>
        <p:nvSpPr>
          <p:cNvPr id="137" name="Google Shape;137;p26"/>
          <p:cNvSpPr txBox="1"/>
          <p:nvPr>
            <p:ph idx="1" type="body"/>
          </p:nvPr>
        </p:nvSpPr>
        <p:spPr>
          <a:xfrm>
            <a:off x="311700" y="1234075"/>
            <a:ext cx="8520600" cy="33348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[2Pe 3:4 LSB] and saying, "Where is the promise of His coming? For </a:t>
            </a:r>
            <a:r>
              <a:rPr b="1" lang="en"/>
              <a:t>since the fathers fell asleep</a:t>
            </a:r>
            <a:r>
              <a:rPr lang="en"/>
              <a:t>, all continues just as it was from the beginning of creation."</a:t>
            </a:r>
            <a:endParaRPr/>
          </a:p>
          <a:p>
            <a:pPr indent="0" lvl="0" marL="0" rtl="0" algn="l">
              <a:spcBef>
                <a:spcPts val="1200"/>
              </a:spcBef>
              <a:spcAft>
                <a:spcPts val="0"/>
              </a:spcAft>
              <a:buNone/>
            </a:pPr>
            <a:r>
              <a:rPr lang="en"/>
              <a:t>The “Fathers” are those who started the faith of following the man, yesu. And in fact another line in this epistle points to it </a:t>
            </a:r>
            <a:r>
              <a:rPr lang="en"/>
              <a:t>being</a:t>
            </a:r>
            <a:r>
              <a:rPr lang="en"/>
              <a:t> written in the mid to late second century.</a:t>
            </a:r>
            <a:endParaRPr/>
          </a:p>
          <a:p>
            <a:pPr indent="0" lvl="0" marL="0" rtl="0" algn="l">
              <a:spcBef>
                <a:spcPts val="1200"/>
              </a:spcBef>
              <a:spcAft>
                <a:spcPts val="0"/>
              </a:spcAft>
              <a:buNone/>
            </a:pPr>
            <a:r>
              <a:rPr lang="en"/>
              <a:t>[2Pe 3:15-16 LSB] and consider the patience of our Lord [as] salvation, just as also our </a:t>
            </a:r>
            <a:r>
              <a:rPr b="1" lang="en"/>
              <a:t>beloved brother Paul</a:t>
            </a:r>
            <a:r>
              <a:rPr lang="en"/>
              <a:t>, according to the wisdom given him, wrote to you, as also </a:t>
            </a:r>
            <a:r>
              <a:rPr b="1" lang="en"/>
              <a:t>in ALL [his] letters</a:t>
            </a:r>
            <a:r>
              <a:rPr lang="en"/>
              <a:t>, speaking in them of these things, in which are some things hard to understand, which the untaught and unstable distort, as [they do] also the rest of the writings, to their own destruction.</a:t>
            </a:r>
            <a:endParaRPr/>
          </a:p>
          <a:p>
            <a:pPr indent="0" lvl="0" marL="0" rtl="0" algn="l">
              <a:spcBef>
                <a:spcPts val="1200"/>
              </a:spcBef>
              <a:spcAft>
                <a:spcPts val="1200"/>
              </a:spcAft>
              <a:buNone/>
            </a:pPr>
            <a:r>
              <a:rPr lang="en"/>
              <a:t>Enough time had passed that Paul’s writings had been collected into canon - and in fact the person “twisting” them when this was written? Likely Marcion - who created a collection of Paul’s writings in 150 AD. So by 150 AD? There was no resurrection, no </a:t>
            </a:r>
            <a:r>
              <a:rPr lang="en"/>
              <a:t>millennial</a:t>
            </a:r>
            <a:r>
              <a:rPr lang="en"/>
              <a:t> kingdom.</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But I Know The </a:t>
            </a:r>
            <a:r>
              <a:rPr lang="en"/>
              <a:t>Millennial</a:t>
            </a:r>
            <a:r>
              <a:rPr lang="en"/>
              <a:t> Kingdom Happened!</a:t>
            </a:r>
            <a:endParaRPr/>
          </a:p>
        </p:txBody>
      </p:sp>
      <p:sp>
        <p:nvSpPr>
          <p:cNvPr id="143" name="Google Shape;143;p27"/>
          <p:cNvSpPr txBox="1"/>
          <p:nvPr>
            <p:ph idx="1" type="body"/>
          </p:nvPr>
        </p:nvSpPr>
        <p:spPr>
          <a:xfrm>
            <a:off x="311700" y="1234075"/>
            <a:ext cx="8520600" cy="3692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lang="en"/>
              <a:t>This is what I’ve heard to defend idolatry of the NT, and it’s idol. That it already happened, that now we are in Satan’s kingdom. It is sad what people will do to defend their idolatry and refuse to throw out all of the NT and return to YHVH alone.</a:t>
            </a:r>
            <a:endParaRPr/>
          </a:p>
          <a:p>
            <a:pPr indent="0" lvl="0" marL="0" rtl="0" algn="l">
              <a:spcBef>
                <a:spcPts val="1200"/>
              </a:spcBef>
              <a:spcAft>
                <a:spcPts val="0"/>
              </a:spcAft>
              <a:buNone/>
            </a:pPr>
            <a:r>
              <a:rPr lang="en"/>
              <a:t>[Rev 20:7 LSB] And when the thousand years are finished, Satan will be released from his prison,</a:t>
            </a:r>
            <a:endParaRPr/>
          </a:p>
          <a:p>
            <a:pPr indent="0" lvl="0" marL="0" rtl="0" algn="l">
              <a:spcBef>
                <a:spcPts val="1200"/>
              </a:spcBef>
              <a:spcAft>
                <a:spcPts val="0"/>
              </a:spcAft>
              <a:buNone/>
            </a:pPr>
            <a:r>
              <a:rPr lang="en"/>
              <a:t>Satan was released after a thousand years. Was he given </a:t>
            </a:r>
            <a:r>
              <a:rPr lang="en"/>
              <a:t>hundreds of years? What happens during this time that only the NT talk about?</a:t>
            </a:r>
            <a:endParaRPr/>
          </a:p>
          <a:p>
            <a:pPr indent="0" lvl="0" marL="0" rtl="0" algn="l">
              <a:spcBef>
                <a:spcPts val="1200"/>
              </a:spcBef>
              <a:spcAft>
                <a:spcPts val="0"/>
              </a:spcAft>
              <a:buNone/>
            </a:pPr>
            <a:r>
              <a:rPr lang="en"/>
              <a:t>[Rev 20:8-10 LSB] and will come out to deceive the nations which are in the four corners of the earth, Gog and Magog, </a:t>
            </a:r>
            <a:r>
              <a:rPr b="1" lang="en"/>
              <a:t>to gather them together for the war</a:t>
            </a:r>
            <a:r>
              <a:rPr lang="en"/>
              <a:t>; the number of them is like the sand of the seashore. And they came up on the broad plain of the earth and </a:t>
            </a:r>
            <a:r>
              <a:rPr b="1" lang="en"/>
              <a:t>surrounded the camp of the saints and the </a:t>
            </a:r>
            <a:r>
              <a:rPr b="1" lang="en" u="sng"/>
              <a:t>beloved city</a:t>
            </a:r>
            <a:r>
              <a:rPr lang="en"/>
              <a:t>, and fire came down from heaven and devoured them. And the devil who deceived them was thrown into the lake of fire and brimstone, where the beast and the false prophet are also, and they will be tormented day and night forever and ever.</a:t>
            </a:r>
            <a:endParaRPr/>
          </a:p>
          <a:p>
            <a:pPr indent="0" lvl="0" marL="0" rtl="0" algn="l">
              <a:spcBef>
                <a:spcPts val="1200"/>
              </a:spcBef>
              <a:spcAft>
                <a:spcPts val="0"/>
              </a:spcAft>
              <a:buNone/>
            </a:pPr>
            <a:r>
              <a:rPr lang="en"/>
              <a:t>Nothing about this points to a lengthy period of time, but secondly? THE IDOL IS STILL IN THE CITY! He doesn’t leave the chosen city of Jerusalem during the release of Satan. The Saints and the Idol remain there, waiting for Satan to attack - and then fire and brimstone come down and rain on the beast and the false prophet.</a:t>
            </a:r>
            <a:endParaRPr/>
          </a:p>
          <a:p>
            <a:pPr indent="0" lvl="0" marL="0" rtl="0" algn="l">
              <a:spcBef>
                <a:spcPts val="1200"/>
              </a:spcBef>
              <a:spcAft>
                <a:spcPts val="1200"/>
              </a:spcAft>
              <a:buNone/>
            </a:pPr>
            <a:r>
              <a:rPr lang="en"/>
              <a:t>Saying, “The millennial reign happened”? It doesn’t solve the NT false prophecies.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Prophecy written for the people reading it</a:t>
            </a:r>
            <a:endParaRPr/>
          </a:p>
        </p:txBody>
      </p:sp>
      <p:sp>
        <p:nvSpPr>
          <p:cNvPr id="149" name="Google Shape;149;p28"/>
          <p:cNvSpPr txBox="1"/>
          <p:nvPr>
            <p:ph idx="1" type="body"/>
          </p:nvPr>
        </p:nvSpPr>
        <p:spPr>
          <a:xfrm>
            <a:off x="311700" y="1234075"/>
            <a:ext cx="8520600" cy="3750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[Isa 53:1 LSB] Who has believed </a:t>
            </a:r>
            <a:r>
              <a:rPr b="1" i="1" lang="en"/>
              <a:t>OUR</a:t>
            </a:r>
            <a:r>
              <a:rPr lang="en"/>
              <a:t> report? And to whom has the </a:t>
            </a:r>
            <a:r>
              <a:rPr b="1" lang="en"/>
              <a:t>arm</a:t>
            </a:r>
            <a:r>
              <a:rPr lang="en"/>
              <a:t> of Yahweh been revealed?</a:t>
            </a:r>
            <a:endParaRPr/>
          </a:p>
          <a:p>
            <a:pPr indent="0" lvl="0" marL="0" rtl="0" algn="l">
              <a:spcBef>
                <a:spcPts val="1200"/>
              </a:spcBef>
              <a:spcAft>
                <a:spcPts val="0"/>
              </a:spcAft>
              <a:buNone/>
            </a:pPr>
            <a:r>
              <a:rPr lang="en"/>
              <a:t>I want to discuss this in a future study - as many people fleeing the NT decide that there is no importance in the Prophets and Writings. I do believe the Tanakh is important - but I’m also different from many of those that flee the NT. I do believe the NT is important in </a:t>
            </a:r>
            <a:r>
              <a:rPr lang="en"/>
              <a:t>reaching</a:t>
            </a:r>
            <a:r>
              <a:rPr lang="en"/>
              <a:t> those in idolatry. Who has believed OUR report? This statement shows the immediacy of Isaiah’s </a:t>
            </a:r>
            <a:r>
              <a:rPr lang="en"/>
              <a:t>statement - that it was not written for some future generation, as a warning of what will happen seven hundred years later. And the same is true of the NT writings. They were written for that generation to believe in an immediate return. </a:t>
            </a:r>
            <a:endParaRPr/>
          </a:p>
          <a:p>
            <a:pPr indent="0" lvl="0" marL="0" rtl="0" algn="l">
              <a:spcBef>
                <a:spcPts val="1200"/>
              </a:spcBef>
              <a:spcAft>
                <a:spcPts val="1200"/>
              </a:spcAft>
              <a:buNone/>
            </a:pPr>
            <a:r>
              <a:rPr lang="en"/>
              <a:t>It didn’t happen, and it didn’t happen why? Because YHVH </a:t>
            </a:r>
            <a:r>
              <a:rPr b="1" i="1" lang="en" u="sng"/>
              <a:t>hates human sacrifice</a:t>
            </a:r>
            <a:r>
              <a:rPr lang="en"/>
              <a:t> and </a:t>
            </a:r>
            <a:r>
              <a:rPr b="1" i="1" lang="en" u="sng"/>
              <a:t>hates the consumption of blood</a:t>
            </a:r>
            <a:r>
              <a:rPr lang="en"/>
              <a:t>. He would never use these as images for our redemption.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Find YHVH and He Will Redeem Your Soul</a:t>
            </a:r>
            <a:endParaRPr/>
          </a:p>
        </p:txBody>
      </p:sp>
      <p:sp>
        <p:nvSpPr>
          <p:cNvPr id="155" name="Google Shape;155;p29"/>
          <p:cNvSpPr txBox="1"/>
          <p:nvPr>
            <p:ph idx="1" type="body"/>
          </p:nvPr>
        </p:nvSpPr>
        <p:spPr>
          <a:xfrm>
            <a:off x="311700" y="1234075"/>
            <a:ext cx="8520600" cy="37008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[Mic 6:6-8 LSB] With what shall I come before Yahweh [And] bow myself before the God on high? Shall I come before Him with burnt offerings, With yearling calves? Is Yahweh pleased with thousands of rams, With ten thousand rivers of oil? </a:t>
            </a:r>
            <a:r>
              <a:rPr b="1" lang="en"/>
              <a:t>Shall I give my firstborn [for] my transgression</a:t>
            </a:r>
            <a:r>
              <a:rPr lang="en"/>
              <a:t>, The </a:t>
            </a:r>
            <a:r>
              <a:rPr b="1" lang="en"/>
              <a:t>fruit of my body</a:t>
            </a:r>
            <a:r>
              <a:rPr lang="en"/>
              <a:t> for the </a:t>
            </a:r>
            <a:r>
              <a:rPr b="1" lang="en"/>
              <a:t>sin of my soul</a:t>
            </a:r>
            <a:r>
              <a:rPr lang="en"/>
              <a:t>? He has told you, O man, what is good; And </a:t>
            </a:r>
            <a:r>
              <a:rPr b="1" lang="en"/>
              <a:t>what does Yahweh require</a:t>
            </a:r>
            <a:r>
              <a:rPr lang="en"/>
              <a:t> of you But to </a:t>
            </a:r>
            <a:r>
              <a:rPr b="1" lang="en"/>
              <a:t>do justice</a:t>
            </a:r>
            <a:r>
              <a:rPr lang="en"/>
              <a:t>, to </a:t>
            </a:r>
            <a:r>
              <a:rPr b="1" lang="en"/>
              <a:t>love lovingkindness</a:t>
            </a:r>
            <a:r>
              <a:rPr lang="en"/>
              <a:t>, And to </a:t>
            </a:r>
            <a:r>
              <a:rPr b="1" lang="en"/>
              <a:t>walk humbly</a:t>
            </a:r>
            <a:r>
              <a:rPr lang="en"/>
              <a:t> with your God?</a:t>
            </a:r>
            <a:endParaRPr/>
          </a:p>
          <a:p>
            <a:pPr indent="0" lvl="0" marL="0" rtl="0" algn="l">
              <a:spcBef>
                <a:spcPts val="1200"/>
              </a:spcBef>
              <a:spcAft>
                <a:spcPts val="0"/>
              </a:spcAft>
              <a:buNone/>
            </a:pPr>
            <a:r>
              <a:rPr lang="en"/>
              <a:t>YHVH not only repeatedly tells us that the sacrifice of our innocent sons and </a:t>
            </a:r>
            <a:r>
              <a:rPr lang="en"/>
              <a:t>daughters is an abomination? He tells us it is not required to be reconciled to him. What does he require?</a:t>
            </a:r>
            <a:endParaRPr/>
          </a:p>
          <a:p>
            <a:pPr indent="0" lvl="0" marL="0" rtl="0" algn="l">
              <a:spcBef>
                <a:spcPts val="1200"/>
              </a:spcBef>
              <a:spcAft>
                <a:spcPts val="0"/>
              </a:spcAft>
              <a:buNone/>
            </a:pPr>
            <a:r>
              <a:rPr lang="en"/>
              <a:t>Do what is tsedeqa - what is tsedeqa? Guard Torah - Deut 6:24-25</a:t>
            </a:r>
            <a:endParaRPr/>
          </a:p>
          <a:p>
            <a:pPr indent="0" lvl="0" marL="0" rtl="0" algn="l">
              <a:spcBef>
                <a:spcPts val="1200"/>
              </a:spcBef>
              <a:spcAft>
                <a:spcPts val="0"/>
              </a:spcAft>
              <a:buNone/>
            </a:pPr>
            <a:r>
              <a:rPr lang="en"/>
              <a:t>Love Chesed - what is Chesed? It is what he shows us that obey his ten words - Ex 20:6 and what he expects us to show to others.</a:t>
            </a:r>
            <a:endParaRPr/>
          </a:p>
          <a:p>
            <a:pPr indent="0" lvl="0" marL="0" rtl="0" algn="l">
              <a:spcBef>
                <a:spcPts val="1200"/>
              </a:spcBef>
              <a:spcAft>
                <a:spcPts val="1200"/>
              </a:spcAft>
              <a:buNone/>
            </a:pPr>
            <a:r>
              <a:rPr lang="en"/>
              <a:t>Walk tsawnaw - To be like Moses - when someone confronts you? Fall on your face, be humble like the most humble man that ever lived. Seek YHVH for justice, not your own hand.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op">
  <a:themeElements>
    <a:clrScheme name="Pop">
      <a:dk1>
        <a:srgbClr val="F8E71C"/>
      </a:dk1>
      <a:lt1>
        <a:srgbClr val="FFFFFF"/>
      </a:lt1>
      <a:dk2>
        <a:srgbClr val="000000"/>
      </a:dk2>
      <a:lt2>
        <a:srgbClr val="D9D9D9"/>
      </a:lt2>
      <a:accent1>
        <a:srgbClr val="666666"/>
      </a:accent1>
      <a:accent2>
        <a:srgbClr val="483165"/>
      </a:accent2>
      <a:accent3>
        <a:srgbClr val="EB1E95"/>
      </a:accent3>
      <a:accent4>
        <a:srgbClr val="01AFD1"/>
      </a:accent4>
      <a:accent5>
        <a:srgbClr val="0F9D58"/>
      </a:accent5>
      <a:accent6>
        <a:srgbClr val="9C27B0"/>
      </a:accent6>
      <a:hlink>
        <a:srgbClr val="0F9D58"/>
      </a:hlink>
      <a:folHlink>
        <a:srgbClr val="0F9D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