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Nunito"/>
      <p:regular r:id="rId28"/>
      <p:bold r:id="rId29"/>
      <p:italic r:id="rId30"/>
      <p:boldItalic r:id="rId31"/>
    </p:embeddedFont>
    <p:embeddedFont>
      <p:font typeface="Maven Pro"/>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D1983E-183A-43F4-B5FB-FE882690783D}">
  <a:tblStyle styleId="{26D1983E-183A-43F4-B5FB-FE882690783D}"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Nuni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boldItalic.fntdata"/><Relationship Id="rId30" Type="http://schemas.openxmlformats.org/officeDocument/2006/relationships/font" Target="fonts/Nunito-italic.fntdata"/><Relationship Id="rId11" Type="http://schemas.openxmlformats.org/officeDocument/2006/relationships/slide" Target="slides/slide5.xml"/><Relationship Id="rId33" Type="http://schemas.openxmlformats.org/officeDocument/2006/relationships/font" Target="fonts/MavenPro-bold.fntdata"/><Relationship Id="rId10" Type="http://schemas.openxmlformats.org/officeDocument/2006/relationships/slide" Target="slides/slide4.xml"/><Relationship Id="rId32" Type="http://schemas.openxmlformats.org/officeDocument/2006/relationships/font" Target="fonts/MavenPro-regular.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dff95e199e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dff95e199e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dff95e199e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dff95e199e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dff95e199e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dff95e199e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dff95e199e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dff95e199e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dff95e199e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dff95e199e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dff95e199e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dff95e199e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dff95e199e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dff95e199e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dff95e199e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dff95e199e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dff95e199e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dff95e199e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dff95e199e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dff95e199e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dff95e199e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dff95e199e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dff95e199e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dff95e199e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dff95e199e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dff95e199e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dff95e199e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dff95e199e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dff95e199e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dff95e199e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dff95e199e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dff95e199e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e09adff3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e09adff3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e09adff33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e09adff33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e09adff33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e09adff33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e09adff33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e09adff33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As it is written</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Decoding Paul in a new and truth filled way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Numerous times in the Midrash that the pagan Romans call the “New Testament” -&gt;</a:t>
            </a:r>
            <a:endParaRPr/>
          </a:p>
        </p:txBody>
      </p:sp>
      <p:sp>
        <p:nvSpPr>
          <p:cNvPr id="284" name="Google Shape;284;p1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Before diving into this study, I do want to define my views of the NT. The most </a:t>
            </a:r>
            <a:r>
              <a:rPr i="1" lang="en"/>
              <a:t>conservative</a:t>
            </a:r>
            <a:r>
              <a:rPr lang="en"/>
              <a:t> and logical viewpoint even if you don’t reject the </a:t>
            </a:r>
            <a:r>
              <a:rPr lang="en"/>
              <a:t>apostle</a:t>
            </a:r>
            <a:r>
              <a:rPr lang="en"/>
              <a:t> Paul is that the NT is the equivalent of the Talmud. It is the Christian Oral Torah, recorded down. This means when a writer in the NT says, “as it is written” since we are dealing with </a:t>
            </a:r>
            <a:r>
              <a:rPr i="1" lang="en"/>
              <a:t>commentary</a:t>
            </a:r>
            <a:r>
              <a:rPr lang="en"/>
              <a:t> and not divinely inspired word (which this will prove, since Father is not a liar) we should compare what is written to “how it was actually written”. </a:t>
            </a:r>
            <a:br>
              <a:rPr lang="en"/>
            </a:br>
            <a:br>
              <a:rPr lang="en"/>
            </a:br>
            <a:r>
              <a:rPr lang="en"/>
              <a:t>If more people read the NT and OT simultaneously I believe doors would be open to the truth.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 this study, I’m obviously not going to do the entire NT. Just the epistle of Romans.</a:t>
            </a:r>
            <a:endParaRPr/>
          </a:p>
        </p:txBody>
      </p:sp>
      <p:sp>
        <p:nvSpPr>
          <p:cNvPr id="290" name="Google Shape;290;p1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Since there are already so many commentaries on Galatians - from those saying Paul is a false apostle, to saying Paul defends Torah, to saying Paul attacks Torah - I figured I would go through Romans. But not just do a verse by verse exegete of Romans, but look at where Paul quotes scripture and compare it to the scripture he is quoting from. </a:t>
            </a:r>
            <a:endParaRPr/>
          </a:p>
          <a:p>
            <a:pPr indent="0" lvl="0" marL="0" rtl="0" algn="l">
              <a:spcBef>
                <a:spcPts val="1200"/>
              </a:spcBef>
              <a:spcAft>
                <a:spcPts val="0"/>
              </a:spcAft>
              <a:buNone/>
            </a:pPr>
            <a:r>
              <a:rPr lang="en"/>
              <a:t>Does he properly use the context in his commentary?</a:t>
            </a:r>
            <a:endParaRPr/>
          </a:p>
          <a:p>
            <a:pPr indent="0" lvl="0" marL="0" rtl="0" algn="l">
              <a:spcBef>
                <a:spcPts val="1200"/>
              </a:spcBef>
              <a:spcAft>
                <a:spcPts val="0"/>
              </a:spcAft>
              <a:buNone/>
            </a:pPr>
            <a:r>
              <a:rPr lang="en"/>
              <a:t>Does he properly quote the passage?</a:t>
            </a:r>
            <a:endParaRPr/>
          </a:p>
          <a:p>
            <a:pPr indent="0" lvl="0" marL="0" rtl="0" algn="l">
              <a:spcBef>
                <a:spcPts val="1200"/>
              </a:spcBef>
              <a:spcAft>
                <a:spcPts val="1200"/>
              </a:spcAft>
              <a:buNone/>
            </a:pPr>
            <a:r>
              <a:rPr lang="en"/>
              <a:t>Does he add to or take from the passage to build up his own arguments?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622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Let’s begin</a:t>
            </a:r>
            <a:endParaRPr/>
          </a:p>
        </p:txBody>
      </p:sp>
      <p:sp>
        <p:nvSpPr>
          <p:cNvPr id="296" name="Google Shape;296;p16"/>
          <p:cNvSpPr txBox="1"/>
          <p:nvPr>
            <p:ph idx="1" type="body"/>
          </p:nvPr>
        </p:nvSpPr>
        <p:spPr>
          <a:xfrm>
            <a:off x="1221525" y="1213050"/>
            <a:ext cx="3006000" cy="749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100">
                <a:solidFill>
                  <a:srgbClr val="000000"/>
                </a:solidFill>
                <a:latin typeface="Arial"/>
                <a:ea typeface="Arial"/>
                <a:cs typeface="Arial"/>
                <a:sym typeface="Arial"/>
              </a:rPr>
              <a:t>[Rom 1:17 NKJV] For in it the righteousness of God is revealed from faith to faith; </a:t>
            </a:r>
            <a:r>
              <a:rPr i="1" lang="en" sz="1100">
                <a:solidFill>
                  <a:srgbClr val="000000"/>
                </a:solidFill>
                <a:latin typeface="Arial"/>
                <a:ea typeface="Arial"/>
                <a:cs typeface="Arial"/>
                <a:sym typeface="Arial"/>
              </a:rPr>
              <a:t>as it is written</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"The just shall live by faith."</a:t>
            </a:r>
            <a:endParaRPr b="1"/>
          </a:p>
        </p:txBody>
      </p:sp>
      <p:graphicFrame>
        <p:nvGraphicFramePr>
          <p:cNvPr id="297" name="Google Shape;297;p16"/>
          <p:cNvGraphicFramePr/>
          <p:nvPr/>
        </p:nvGraphicFramePr>
        <p:xfrm>
          <a:off x="4227525" y="1213050"/>
          <a:ext cx="3000000" cy="3000000"/>
        </p:xfrm>
        <a:graphic>
          <a:graphicData uri="http://schemas.openxmlformats.org/drawingml/2006/table">
            <a:tbl>
              <a:tblPr>
                <a:noFill/>
                <a:tableStyleId>{26D1983E-183A-43F4-B5FB-FE882690783D}</a:tableStyleId>
              </a:tblPr>
              <a:tblGrid>
                <a:gridCol w="2933700"/>
              </a:tblGrid>
              <a:tr h="749100">
                <a:tc>
                  <a:txBody>
                    <a:bodyPr/>
                    <a:lstStyle/>
                    <a:p>
                      <a:pPr indent="0" lvl="0" marL="0" rtl="0" algn="l">
                        <a:spcBef>
                          <a:spcPts val="0"/>
                        </a:spcBef>
                        <a:spcAft>
                          <a:spcPts val="0"/>
                        </a:spcAft>
                        <a:buNone/>
                      </a:pPr>
                      <a:r>
                        <a:rPr lang="en" sz="1100"/>
                        <a:t>[Hab 2:4 NKJV] </a:t>
                      </a:r>
                      <a:r>
                        <a:rPr b="1" lang="en" sz="1100"/>
                        <a:t>“Behold the proud, His soul is not upright in him; But</a:t>
                      </a:r>
                      <a:r>
                        <a:rPr lang="en" sz="1100"/>
                        <a:t> the just shall live by his faith.</a:t>
                      </a:r>
                      <a:endParaRPr sz="1100"/>
                    </a:p>
                  </a:txBody>
                  <a:tcPr marT="63500" marB="63500" marR="63500" marL="63500"/>
                </a:tc>
              </a:tr>
            </a:tbl>
          </a:graphicData>
        </a:graphic>
      </p:graphicFrame>
      <p:sp>
        <p:nvSpPr>
          <p:cNvPr id="298" name="Google Shape;298;p16"/>
          <p:cNvSpPr txBox="1"/>
          <p:nvPr/>
        </p:nvSpPr>
        <p:spPr>
          <a:xfrm>
            <a:off x="1228175" y="2039525"/>
            <a:ext cx="71832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a:ea typeface="Nunito"/>
                <a:cs typeface="Nunito"/>
                <a:sym typeface="Nunito"/>
              </a:rPr>
              <a:t>What’s missing?</a:t>
            </a:r>
            <a:endParaRPr>
              <a:latin typeface="Nunito"/>
              <a:ea typeface="Nunito"/>
              <a:cs typeface="Nunito"/>
              <a:sym typeface="Nunito"/>
            </a:endParaRPr>
          </a:p>
          <a:p>
            <a:pPr indent="0" lvl="0" marL="0" rtl="0" algn="l">
              <a:spcBef>
                <a:spcPts val="0"/>
              </a:spcBef>
              <a:spcAft>
                <a:spcPts val="0"/>
              </a:spcAft>
              <a:buNone/>
            </a:pPr>
            <a:r>
              <a:rPr lang="en">
                <a:latin typeface="Nunito"/>
                <a:ea typeface="Nunito"/>
                <a:cs typeface="Nunito"/>
                <a:sym typeface="Nunito"/>
              </a:rPr>
              <a:t>“Behold the proud, His soul is not upright (just / same word as the next part of this verse) But” </a:t>
            </a:r>
            <a:br>
              <a:rPr lang="en">
                <a:latin typeface="Nunito"/>
                <a:ea typeface="Nunito"/>
                <a:cs typeface="Nunito"/>
                <a:sym typeface="Nunito"/>
              </a:rPr>
            </a:br>
            <a:br>
              <a:rPr lang="en">
                <a:latin typeface="Nunito"/>
                <a:ea typeface="Nunito"/>
                <a:cs typeface="Nunito"/>
                <a:sym typeface="Nunito"/>
              </a:rPr>
            </a:br>
            <a:r>
              <a:rPr lang="en">
                <a:latin typeface="Nunito"/>
                <a:ea typeface="Nunito"/>
                <a:cs typeface="Nunito"/>
                <a:sym typeface="Nunito"/>
              </a:rPr>
              <a:t>Why did Paul leave this off about the “proud man” not being righteous?</a:t>
            </a:r>
            <a:endParaRPr>
              <a:latin typeface="Nunito"/>
              <a:ea typeface="Nunito"/>
              <a:cs typeface="Nunito"/>
              <a:sym typeface="Nunito"/>
            </a:endParaRPr>
          </a:p>
          <a:p>
            <a:pPr indent="0" lvl="0" marL="0" rtl="0" algn="l">
              <a:spcBef>
                <a:spcPts val="0"/>
              </a:spcBef>
              <a:spcAft>
                <a:spcPts val="0"/>
              </a:spcAft>
              <a:buNone/>
            </a:pPr>
            <a:r>
              <a:t/>
            </a:r>
            <a:endParaRPr>
              <a:latin typeface="Nunito"/>
              <a:ea typeface="Nunito"/>
              <a:cs typeface="Nunito"/>
              <a:sym typeface="Nunito"/>
            </a:endParaRPr>
          </a:p>
          <a:p>
            <a:pPr indent="0" lvl="0" marL="0" rtl="0" algn="l">
              <a:spcBef>
                <a:spcPts val="0"/>
              </a:spcBef>
              <a:spcAft>
                <a:spcPts val="0"/>
              </a:spcAft>
              <a:buNone/>
            </a:pPr>
            <a:r>
              <a:rPr lang="en">
                <a:latin typeface="Nunito"/>
                <a:ea typeface="Nunito"/>
                <a:cs typeface="Nunito"/>
                <a:sym typeface="Nunito"/>
              </a:rPr>
              <a:t>Well - the presupposition Paul is trying to build is </a:t>
            </a:r>
            <a:r>
              <a:rPr i="1" lang="en">
                <a:latin typeface="Nunito"/>
                <a:ea typeface="Nunito"/>
                <a:cs typeface="Nunito"/>
                <a:sym typeface="Nunito"/>
              </a:rPr>
              <a:t>faith comes before righteousness.</a:t>
            </a:r>
            <a:endParaRPr>
              <a:latin typeface="Nunito"/>
              <a:ea typeface="Nunito"/>
              <a:cs typeface="Nunito"/>
              <a:sym typeface="Nunito"/>
            </a:endParaRPr>
          </a:p>
          <a:p>
            <a:pPr indent="0" lvl="0" marL="0" rtl="0" algn="l">
              <a:spcBef>
                <a:spcPts val="0"/>
              </a:spcBef>
              <a:spcAft>
                <a:spcPts val="0"/>
              </a:spcAft>
              <a:buNone/>
            </a:pPr>
            <a:br>
              <a:rPr lang="en">
                <a:latin typeface="Nunito"/>
                <a:ea typeface="Nunito"/>
                <a:cs typeface="Nunito"/>
                <a:sym typeface="Nunito"/>
              </a:rPr>
            </a:br>
            <a:r>
              <a:rPr lang="en">
                <a:latin typeface="Nunito"/>
                <a:ea typeface="Nunito"/>
                <a:cs typeface="Nunito"/>
                <a:sym typeface="Nunito"/>
              </a:rPr>
              <a:t>Read the passage in it’s clearest form. The righteous (just) </a:t>
            </a:r>
            <a:r>
              <a:rPr i="1" lang="en">
                <a:latin typeface="Nunito"/>
                <a:ea typeface="Nunito"/>
                <a:cs typeface="Nunito"/>
                <a:sym typeface="Nunito"/>
              </a:rPr>
              <a:t>live</a:t>
            </a:r>
            <a:r>
              <a:rPr lang="en">
                <a:latin typeface="Nunito"/>
                <a:ea typeface="Nunito"/>
                <a:cs typeface="Nunito"/>
                <a:sym typeface="Nunito"/>
              </a:rPr>
              <a:t> by their </a:t>
            </a:r>
            <a:r>
              <a:rPr i="1" lang="en">
                <a:latin typeface="Nunito"/>
                <a:ea typeface="Nunito"/>
                <a:cs typeface="Nunito"/>
                <a:sym typeface="Nunito"/>
              </a:rPr>
              <a:t>faithfulness - their trust</a:t>
            </a:r>
            <a:r>
              <a:rPr lang="en">
                <a:latin typeface="Nunito"/>
                <a:ea typeface="Nunito"/>
                <a:cs typeface="Nunito"/>
                <a:sym typeface="Nunito"/>
              </a:rPr>
              <a:t>. It’s not saying that your faith </a:t>
            </a:r>
            <a:r>
              <a:rPr i="1" lang="en">
                <a:latin typeface="Nunito"/>
                <a:ea typeface="Nunito"/>
                <a:cs typeface="Nunito"/>
                <a:sym typeface="Nunito"/>
              </a:rPr>
              <a:t>made</a:t>
            </a:r>
            <a:r>
              <a:rPr lang="en">
                <a:latin typeface="Nunito"/>
                <a:ea typeface="Nunito"/>
                <a:cs typeface="Nunito"/>
                <a:sym typeface="Nunito"/>
              </a:rPr>
              <a:t> you righteous. It’s saying your righteousness leads you to faith (trust) in Father. Do you have eyes to see?</a:t>
            </a:r>
            <a:endParaRPr>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ph type="title"/>
          </p:nvPr>
        </p:nvSpPr>
        <p:spPr>
          <a:xfrm>
            <a:off x="1303800" y="598575"/>
            <a:ext cx="7030500" cy="532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Rendered by our deeds</a:t>
            </a:r>
            <a:endParaRPr/>
          </a:p>
        </p:txBody>
      </p:sp>
      <p:sp>
        <p:nvSpPr>
          <p:cNvPr id="304" name="Google Shape;304;p17"/>
          <p:cNvSpPr txBox="1"/>
          <p:nvPr>
            <p:ph idx="1" type="body"/>
          </p:nvPr>
        </p:nvSpPr>
        <p:spPr>
          <a:xfrm>
            <a:off x="1303800" y="1816225"/>
            <a:ext cx="3061500" cy="271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Paul here again quotes a small portion of the verse - but in context, Romans 2:6-15 actually properly teaches that we will receive eternal life by our righteous deeds, and we are justified by being doers of Torah.</a:t>
            </a:r>
            <a:br>
              <a:rPr lang="en"/>
            </a:br>
            <a:br>
              <a:rPr lang="en"/>
            </a:br>
            <a:r>
              <a:rPr lang="en"/>
              <a:t>The fundamental problem is, that Paul is saying it’s </a:t>
            </a:r>
            <a:r>
              <a:rPr i="1" lang="en"/>
              <a:t>impossible</a:t>
            </a:r>
            <a:r>
              <a:rPr lang="en"/>
              <a:t> to do if you read it in the continuing argument (To Romans 3) </a:t>
            </a:r>
            <a:endParaRPr/>
          </a:p>
        </p:txBody>
      </p:sp>
      <p:sp>
        <p:nvSpPr>
          <p:cNvPr id="305" name="Google Shape;305;p17"/>
          <p:cNvSpPr txBox="1"/>
          <p:nvPr/>
        </p:nvSpPr>
        <p:spPr>
          <a:xfrm>
            <a:off x="1228175" y="11761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[Rom 2:6 NKJV] who "will render to each one according to his deeds":</a:t>
            </a:r>
            <a:endParaRPr/>
          </a:p>
        </p:txBody>
      </p:sp>
      <p:sp>
        <p:nvSpPr>
          <p:cNvPr id="306" name="Google Shape;306;p17"/>
          <p:cNvSpPr txBox="1"/>
          <p:nvPr/>
        </p:nvSpPr>
        <p:spPr>
          <a:xfrm>
            <a:off x="4365450" y="1176100"/>
            <a:ext cx="30000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[Psa 62:12 NKJV] </a:t>
            </a:r>
            <a:r>
              <a:rPr b="1" lang="en" sz="1100"/>
              <a:t>Also to You, O Lord, [belongs] mercy; </a:t>
            </a:r>
            <a:r>
              <a:rPr lang="en" sz="1100"/>
              <a:t>For You render to each one according to his work.</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[Pro 24:12 NKJV] </a:t>
            </a:r>
            <a:r>
              <a:rPr b="1" lang="en" sz="1100"/>
              <a:t>If you say, "Surely we did not know this," Does not He who weighs the hearts consider [it]? He who keeps your soul, does He [not] know [it]? And will He [not] </a:t>
            </a:r>
            <a:r>
              <a:rPr lang="en" sz="1100"/>
              <a:t>render to [each] man according to his deeds?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8"/>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Are the LAW ABIDING Jews blaspheming God?</a:t>
            </a:r>
            <a:endParaRPr/>
          </a:p>
        </p:txBody>
      </p:sp>
      <p:sp>
        <p:nvSpPr>
          <p:cNvPr id="312" name="Google Shape;312;p18"/>
          <p:cNvSpPr txBox="1"/>
          <p:nvPr>
            <p:ph idx="1" type="body"/>
          </p:nvPr>
        </p:nvSpPr>
        <p:spPr>
          <a:xfrm>
            <a:off x="1414250" y="2255425"/>
            <a:ext cx="3468900" cy="1918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So… this is not only a gross misquotation, it is grossly out of context. Why was the name blasphemed? They were performing human sacrifice. They were not abiding the law, and Paul’s argument here is TORAH TEACHERS AND KEEPERS are blaspheming the Father by trying to obey. </a:t>
            </a:r>
            <a:endParaRPr/>
          </a:p>
        </p:txBody>
      </p:sp>
      <p:sp>
        <p:nvSpPr>
          <p:cNvPr id="313" name="Google Shape;313;p18"/>
          <p:cNvSpPr txBox="1"/>
          <p:nvPr/>
        </p:nvSpPr>
        <p:spPr>
          <a:xfrm>
            <a:off x="1414250" y="1406850"/>
            <a:ext cx="3000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[Rom 2:24 NKJV] For "the name of God is blasphemed among the </a:t>
            </a:r>
            <a:r>
              <a:rPr b="1" lang="en" sz="1100"/>
              <a:t>Gentiles</a:t>
            </a:r>
            <a:r>
              <a:rPr lang="en" sz="1100"/>
              <a:t> because of you," as it is written.</a:t>
            </a:r>
            <a:endParaRPr/>
          </a:p>
        </p:txBody>
      </p:sp>
      <p:sp>
        <p:nvSpPr>
          <p:cNvPr id="314" name="Google Shape;314;p18"/>
          <p:cNvSpPr txBox="1"/>
          <p:nvPr/>
        </p:nvSpPr>
        <p:spPr>
          <a:xfrm>
            <a:off x="4883000" y="1406850"/>
            <a:ext cx="34140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[Isa 52:5 NKJV] </a:t>
            </a:r>
            <a:r>
              <a:rPr b="1" lang="en" sz="1100"/>
              <a:t>Now therefore, what have I here," says the LORD, "That My people are taken away for nothing? Those who rule over them Make them wail," says the LORD, </a:t>
            </a:r>
            <a:r>
              <a:rPr lang="en" sz="1100"/>
              <a:t>"And My name [is] blasphemed continually every day.</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[Eze 36:22 NKJV] "Therefore say to the house of Israel, 'Thus says the Lord GOD: "I do not do [this] for your sake, O house of Israel, but for My holy name's sake, which you have profaned among the nations wherever you went. </a:t>
            </a:r>
            <a:br>
              <a:rPr lang="en" sz="1100"/>
            </a:br>
            <a:br>
              <a:rPr lang="en" sz="1100"/>
            </a:br>
            <a:r>
              <a:rPr lang="en" sz="1100"/>
              <a:t>(more likely Paul misquoted from Isaiah 52, from the Greek Septuagint. I don’t see any evidence Paul actually ever read Ezekiel as what he concludes in Romans 5 is impossible)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Because Paul was so wicked...</a:t>
            </a:r>
            <a:endParaRPr/>
          </a:p>
        </p:txBody>
      </p:sp>
      <p:sp>
        <p:nvSpPr>
          <p:cNvPr id="320" name="Google Shape;320;p19"/>
          <p:cNvSpPr txBox="1"/>
          <p:nvPr>
            <p:ph idx="1" type="body"/>
          </p:nvPr>
        </p:nvSpPr>
        <p:spPr>
          <a:xfrm>
            <a:off x="1303800" y="1116525"/>
            <a:ext cx="7263900" cy="3878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[Rom 2:21-24 KJV] 21 Thou therefore which teachest another, teachest thou not thyself? thou that preachest a man should not steal, dost thou steal? 22 Thou that sayest a man should not commit adultery, dost thou commit adultery? thou that abhorrest idols, dost thou commit sacrilege? 23 Thou that makest thy boast of the law, through breaking the law dishonourest thou God? 24 For the name of God is blasphemed among the Gentiles through you, as it is written.</a:t>
            </a:r>
            <a:endParaRPr/>
          </a:p>
          <a:p>
            <a:pPr indent="0" lvl="0" marL="0" rtl="0" algn="l">
              <a:spcBef>
                <a:spcPts val="1200"/>
              </a:spcBef>
              <a:spcAft>
                <a:spcPts val="0"/>
              </a:spcAft>
              <a:buNone/>
            </a:pPr>
            <a:r>
              <a:rPr lang="en"/>
              <a:t>Paul was such a wicked man that he presumed all struggled in sin. Look at the first sin here, “a man should not steal, dost thou steal”? Indeed we all sin and fall short of the glory of God, right?</a:t>
            </a:r>
            <a:endParaRPr/>
          </a:p>
          <a:p>
            <a:pPr indent="0" lvl="0" marL="0" rtl="0" algn="l">
              <a:spcBef>
                <a:spcPts val="1200"/>
              </a:spcBef>
              <a:spcAft>
                <a:spcPts val="0"/>
              </a:spcAft>
              <a:buNone/>
            </a:pPr>
            <a:r>
              <a:rPr lang="en"/>
              <a:t>Wrong. </a:t>
            </a:r>
            <a:endParaRPr/>
          </a:p>
          <a:p>
            <a:pPr indent="0" lvl="0" marL="0" rtl="0" algn="l">
              <a:spcBef>
                <a:spcPts val="1200"/>
              </a:spcBef>
              <a:spcAft>
                <a:spcPts val="0"/>
              </a:spcAft>
              <a:buNone/>
            </a:pPr>
            <a:r>
              <a:rPr lang="en"/>
              <a:t>[2Pe 2:14 KJV] 14 Having eyes full of adultery, and </a:t>
            </a:r>
            <a:r>
              <a:rPr b="1" lang="en"/>
              <a:t>that cannot cease from sin</a:t>
            </a:r>
            <a:r>
              <a:rPr lang="en"/>
              <a:t>; </a:t>
            </a:r>
            <a:r>
              <a:rPr b="1" lang="en"/>
              <a:t>beguiling unstable souls</a:t>
            </a:r>
            <a:r>
              <a:rPr lang="en"/>
              <a:t>: an heart they have </a:t>
            </a:r>
            <a:r>
              <a:rPr b="1" lang="en"/>
              <a:t>exercised with covetous practices</a:t>
            </a:r>
            <a:r>
              <a:rPr lang="en"/>
              <a:t>; cursed children:</a:t>
            </a:r>
            <a:endParaRPr/>
          </a:p>
          <a:p>
            <a:pPr indent="0" lvl="0" marL="0" rtl="0" algn="l">
              <a:spcBef>
                <a:spcPts val="1200"/>
              </a:spcBef>
              <a:spcAft>
                <a:spcPts val="0"/>
              </a:spcAft>
              <a:buNone/>
            </a:pPr>
            <a:r>
              <a:rPr lang="en"/>
              <a:t>Who in the FIRST CENTURY could this possibly be talking about? The man who robs you?</a:t>
            </a:r>
            <a:endParaRPr/>
          </a:p>
          <a:p>
            <a:pPr indent="0" lvl="0" marL="0" rtl="0" algn="l">
              <a:spcBef>
                <a:spcPts val="1200"/>
              </a:spcBef>
              <a:spcAft>
                <a:spcPts val="0"/>
              </a:spcAft>
              <a:buNone/>
            </a:pPr>
            <a:r>
              <a:rPr lang="en"/>
              <a:t>[2Co 11:8 KJV] 8 I robbed other churches, taking wages [of them], to do you service.</a:t>
            </a:r>
            <a:endParaRPr/>
          </a:p>
          <a:p>
            <a:pPr indent="0" lvl="0" marL="0" rtl="0" algn="l">
              <a:spcBef>
                <a:spcPts val="1200"/>
              </a:spcBef>
              <a:spcAft>
                <a:spcPts val="0"/>
              </a:spcAft>
              <a:buNone/>
            </a:pPr>
            <a:r>
              <a:rPr lang="en"/>
              <a:t>The man who </a:t>
            </a:r>
            <a:r>
              <a:rPr lang="en"/>
              <a:t>admitted</a:t>
            </a:r>
            <a:r>
              <a:rPr lang="en"/>
              <a:t> to beguiling you?</a:t>
            </a:r>
            <a:endParaRPr/>
          </a:p>
          <a:p>
            <a:pPr indent="0" lvl="0" marL="0" rtl="0" algn="l">
              <a:spcBef>
                <a:spcPts val="1200"/>
              </a:spcBef>
              <a:spcAft>
                <a:spcPts val="0"/>
              </a:spcAft>
              <a:buNone/>
            </a:pPr>
            <a:r>
              <a:rPr lang="en"/>
              <a:t>[2Co 12:16 KJV] 16 But be it so, I did not burden you: nevertheless, being crafty, I caught you with guile.</a:t>
            </a:r>
            <a:endParaRPr/>
          </a:p>
          <a:p>
            <a:pPr indent="0" lvl="0" marL="0" rtl="0" algn="l">
              <a:spcBef>
                <a:spcPts val="1200"/>
              </a:spcBef>
              <a:spcAft>
                <a:spcPts val="1200"/>
              </a:spcAft>
              <a:buNone/>
            </a:pPr>
            <a:r>
              <a:rPr lang="en"/>
              <a:t>Paul is </a:t>
            </a:r>
            <a:r>
              <a:rPr i="1" lang="en"/>
              <a:t>describing himself</a:t>
            </a:r>
            <a:r>
              <a:rPr lang="en"/>
              <a:t> and </a:t>
            </a:r>
            <a:r>
              <a:rPr b="1" lang="en"/>
              <a:t>projecting these behaviors on his Torah keeping enemies.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0"/>
          <p:cNvSpPr txBox="1"/>
          <p:nvPr>
            <p:ph type="title"/>
          </p:nvPr>
        </p:nvSpPr>
        <p:spPr>
          <a:xfrm>
            <a:off x="1303800" y="598575"/>
            <a:ext cx="7030500" cy="61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Romans 3 is a whopper</a:t>
            </a:r>
            <a:endParaRPr/>
          </a:p>
        </p:txBody>
      </p:sp>
      <p:sp>
        <p:nvSpPr>
          <p:cNvPr id="326" name="Google Shape;326;p20"/>
          <p:cNvSpPr txBox="1"/>
          <p:nvPr>
            <p:ph idx="1" type="body"/>
          </p:nvPr>
        </p:nvSpPr>
        <p:spPr>
          <a:xfrm>
            <a:off x="1303800" y="3103975"/>
            <a:ext cx="6154500" cy="1427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This passage not only misquotes David song of repentance - it has a whopper of a statement in the beginning that is absolutely deadly to the soul. “Let God be true and every man be a liar” (see also Romans 3:7) this is very DAMNING of Paul. ALL LIARS, will have their part in the lake of fire. (Rev 21:8) If Paul is telling us that in order for God to be true, every man has to be a liar?? </a:t>
            </a:r>
            <a:endParaRPr/>
          </a:p>
          <a:p>
            <a:pPr indent="0" lvl="0" marL="0" rtl="0" algn="l">
              <a:spcBef>
                <a:spcPts val="1200"/>
              </a:spcBef>
              <a:spcAft>
                <a:spcPts val="1200"/>
              </a:spcAft>
              <a:buNone/>
            </a:pPr>
            <a:r>
              <a:rPr lang="en"/>
              <a:t>David’s SONG is NOT DOCTRINE. It is POETRY, a SONG to sing of HIS REPENTANCE. </a:t>
            </a:r>
            <a:endParaRPr/>
          </a:p>
        </p:txBody>
      </p:sp>
      <p:sp>
        <p:nvSpPr>
          <p:cNvPr id="327" name="Google Shape;327;p20"/>
          <p:cNvSpPr txBox="1"/>
          <p:nvPr/>
        </p:nvSpPr>
        <p:spPr>
          <a:xfrm>
            <a:off x="1303800" y="1146325"/>
            <a:ext cx="30000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[Rom 3:4 NKJV] Certainly not! Indeed, let God be true but every man a liar. As it is written: "That You may be justified in Your words, And may overcome when You are judged."</a:t>
            </a:r>
            <a:br>
              <a:rPr lang="en" sz="1100"/>
            </a:br>
            <a:br>
              <a:rPr lang="en" sz="1100"/>
            </a:br>
            <a:r>
              <a:rPr lang="en" sz="1100"/>
              <a:t>(this one is bizarre as the Messiah warns we </a:t>
            </a:r>
            <a:r>
              <a:rPr i="1" lang="en" sz="1100"/>
              <a:t>will</a:t>
            </a:r>
            <a:r>
              <a:rPr lang="en" sz="1100"/>
              <a:t> be justified </a:t>
            </a:r>
            <a:r>
              <a:rPr b="1" lang="en" sz="1100"/>
              <a:t>by our own words</a:t>
            </a:r>
            <a:r>
              <a:rPr lang="en" sz="1100"/>
              <a:t> - yet Paul is commending that </a:t>
            </a:r>
            <a:r>
              <a:rPr i="1" lang="en" sz="1100"/>
              <a:t>every man is a liar so God is just!)</a:t>
            </a:r>
            <a:endParaRPr/>
          </a:p>
        </p:txBody>
      </p:sp>
      <p:sp>
        <p:nvSpPr>
          <p:cNvPr id="328" name="Google Shape;328;p20"/>
          <p:cNvSpPr txBox="1"/>
          <p:nvPr/>
        </p:nvSpPr>
        <p:spPr>
          <a:xfrm>
            <a:off x="4303800" y="1154725"/>
            <a:ext cx="30000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[Psa 51:4 NKJV] Against You, You only, have I sinned, And done [this] evil in Your sight--That You may be found just when You speak, [And] blameless when You judge.</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(Paul is also misquoting a passage here, where David is </a:t>
            </a:r>
            <a:r>
              <a:rPr i="1" lang="en" sz="1100"/>
              <a:t>seeking</a:t>
            </a:r>
            <a:r>
              <a:rPr lang="en" sz="1100"/>
              <a:t> Father’s salvation by </a:t>
            </a:r>
            <a:r>
              <a:rPr b="1" lang="en" sz="1100"/>
              <a:t>turning from his wicked ways back to Torah</a:t>
            </a:r>
            <a:r>
              <a:rPr lang="en" sz="1100"/>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1"/>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It’s a sad truth that Christians love this passage.</a:t>
            </a:r>
            <a:endParaRPr/>
          </a:p>
        </p:txBody>
      </p:sp>
      <p:sp>
        <p:nvSpPr>
          <p:cNvPr id="334" name="Google Shape;334;p21"/>
          <p:cNvSpPr txBox="1"/>
          <p:nvPr>
            <p:ph idx="1" type="body"/>
          </p:nvPr>
        </p:nvSpPr>
        <p:spPr>
          <a:xfrm>
            <a:off x="544575" y="2711650"/>
            <a:ext cx="3000000" cy="226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Paul absolutely brutalizes scripture here and is once again trying to make doctrine from Psalms. I’m going to repeat this a lot.</a:t>
            </a:r>
            <a:endParaRPr/>
          </a:p>
          <a:p>
            <a:pPr indent="0" lvl="0" marL="0" rtl="0" algn="l">
              <a:spcBef>
                <a:spcPts val="1200"/>
              </a:spcBef>
              <a:spcAft>
                <a:spcPts val="0"/>
              </a:spcAft>
              <a:buNone/>
            </a:pPr>
            <a:r>
              <a:rPr lang="en"/>
              <a:t>Psalms are </a:t>
            </a:r>
            <a:r>
              <a:rPr i="1" lang="en"/>
              <a:t>not a source of doctrine</a:t>
            </a:r>
            <a:r>
              <a:rPr lang="en"/>
              <a:t>.</a:t>
            </a:r>
            <a:endParaRPr/>
          </a:p>
          <a:p>
            <a:pPr indent="0" lvl="0" marL="0" rtl="0" algn="l">
              <a:spcBef>
                <a:spcPts val="1200"/>
              </a:spcBef>
              <a:spcAft>
                <a:spcPts val="1200"/>
              </a:spcAft>
              <a:buNone/>
            </a:pPr>
            <a:r>
              <a:rPr lang="en"/>
              <a:t>If you believe this is about </a:t>
            </a:r>
            <a:r>
              <a:rPr i="1" lang="en"/>
              <a:t>you</a:t>
            </a:r>
            <a:r>
              <a:rPr lang="en"/>
              <a:t> - then you </a:t>
            </a:r>
            <a:r>
              <a:rPr lang="en"/>
              <a:t>have</a:t>
            </a:r>
            <a:r>
              <a:rPr lang="en"/>
              <a:t> declared in your heart that there is no God.</a:t>
            </a:r>
            <a:endParaRPr/>
          </a:p>
        </p:txBody>
      </p:sp>
      <p:sp>
        <p:nvSpPr>
          <p:cNvPr id="335" name="Google Shape;335;p21"/>
          <p:cNvSpPr txBox="1"/>
          <p:nvPr/>
        </p:nvSpPr>
        <p:spPr>
          <a:xfrm>
            <a:off x="544575" y="1511050"/>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[Rom 3:10-12 NKJV] As it is written: "There is none righteous, no, not one; There is none who understands; </a:t>
            </a:r>
            <a:r>
              <a:rPr b="1" lang="en" sz="1100"/>
              <a:t>There is none who seeks after God.</a:t>
            </a:r>
            <a:r>
              <a:rPr lang="en" sz="1100"/>
              <a:t> They have all turned aside; They have together become unprofitable; There is none who does good, no, not one."</a:t>
            </a:r>
            <a:endParaRPr/>
          </a:p>
        </p:txBody>
      </p:sp>
      <p:sp>
        <p:nvSpPr>
          <p:cNvPr id="336" name="Google Shape;336;p21"/>
          <p:cNvSpPr txBox="1"/>
          <p:nvPr/>
        </p:nvSpPr>
        <p:spPr>
          <a:xfrm>
            <a:off x="3544575" y="1511050"/>
            <a:ext cx="54249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Psa 14:1-7 NKJV] To the Chief Musician. [A Psalm] of David. </a:t>
            </a:r>
            <a:r>
              <a:rPr b="1" lang="en" sz="1100"/>
              <a:t>The </a:t>
            </a:r>
            <a:r>
              <a:rPr b="1" lang="en" sz="1100" u="sng"/>
              <a:t>fool</a:t>
            </a:r>
            <a:r>
              <a:rPr b="1" lang="en" sz="1100"/>
              <a:t> has said in his heart, "</a:t>
            </a:r>
            <a:r>
              <a:rPr b="1" lang="en" sz="1100" u="sng"/>
              <a:t>[There is] no God.</a:t>
            </a:r>
            <a:r>
              <a:rPr b="1" lang="en" sz="1100"/>
              <a:t>" They are corrupt, They have done abominable works</a:t>
            </a:r>
            <a:r>
              <a:rPr lang="en" sz="1100"/>
              <a:t>, There is none who does good. </a:t>
            </a:r>
            <a:r>
              <a:rPr b="1" lang="en" sz="1100"/>
              <a:t>The</a:t>
            </a:r>
            <a:r>
              <a:rPr lang="en" sz="1100"/>
              <a:t> </a:t>
            </a:r>
            <a:r>
              <a:rPr b="1" lang="en" sz="1100"/>
              <a:t>LORD looks down from heaven upon the children of men, To see if there are any who understand, who seek God.</a:t>
            </a:r>
            <a:r>
              <a:rPr lang="en" sz="1100"/>
              <a:t> They have all turned aside, They have together become corrupt; [There is] none who does good, No, not one.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This is perverse as Yah looks down from heaven to see who is seeking after God - in Paul’s version he just says, “there is none who seeks after God.”</a:t>
            </a:r>
            <a:br>
              <a:rPr lang="en" sz="1100"/>
            </a:br>
            <a:br>
              <a:rPr lang="en" sz="1100"/>
            </a:br>
            <a:r>
              <a:rPr lang="en" sz="1100"/>
              <a:t>Sorry this is blasphemy. </a:t>
            </a:r>
            <a:br>
              <a:rPr lang="en" sz="1100"/>
            </a:br>
            <a:br>
              <a:rPr lang="en" sz="1100"/>
            </a:br>
            <a:r>
              <a:rPr lang="en" sz="1100"/>
              <a:t>1) We aren’t supposed to pull doctrine from </a:t>
            </a:r>
            <a:r>
              <a:rPr i="1" lang="en" sz="1100"/>
              <a:t>poetry </a:t>
            </a:r>
            <a:r>
              <a:rPr lang="en" sz="1100"/>
              <a:t>and Paul does this repeatedly, pulling doctrine straight from the books of POETRY which </a:t>
            </a:r>
            <a:r>
              <a:rPr i="1" lang="en" sz="1100"/>
              <a:t>use exaggeration language</a:t>
            </a:r>
            <a:r>
              <a:rPr lang="en" sz="1100"/>
              <a: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2) These passages Paul uses to support the idea that </a:t>
            </a:r>
            <a:r>
              <a:rPr i="1" lang="en" sz="1100"/>
              <a:t>all</a:t>
            </a:r>
            <a:r>
              <a:rPr lang="en" sz="1100"/>
              <a:t> are unrighteous all are NOT inclusive of ALL mankind but EXCLUSIVE of SCOFFERS, not </a:t>
            </a:r>
            <a:r>
              <a:rPr b="1" lang="en" sz="1100"/>
              <a:t>all men.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2"/>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Romans 3 has some absolute whoppers to support Paul’s doctrine</a:t>
            </a:r>
            <a:endParaRPr/>
          </a:p>
        </p:txBody>
      </p:sp>
      <p:sp>
        <p:nvSpPr>
          <p:cNvPr id="342" name="Google Shape;342;p22"/>
          <p:cNvSpPr txBox="1"/>
          <p:nvPr>
            <p:ph idx="1" type="body"/>
          </p:nvPr>
        </p:nvSpPr>
        <p:spPr>
          <a:xfrm>
            <a:off x="446625" y="2571750"/>
            <a:ext cx="4887600" cy="191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It’s interesting just how perverse this is - not only to be trying to make doctrine of poetry, but to take passages warning us of men like Sha’ul and teaching it as a warning against </a:t>
            </a:r>
            <a:r>
              <a:rPr i="1" lang="en"/>
              <a:t>all of mankind</a:t>
            </a:r>
            <a:r>
              <a:rPr lang="en"/>
              <a:t>. These poems are not saying </a:t>
            </a:r>
            <a:r>
              <a:rPr i="1" lang="en"/>
              <a:t>all men are wicked.</a:t>
            </a:r>
            <a:r>
              <a:rPr lang="en"/>
              <a:t> Go and read them.</a:t>
            </a:r>
            <a:endParaRPr/>
          </a:p>
        </p:txBody>
      </p:sp>
      <p:sp>
        <p:nvSpPr>
          <p:cNvPr id="343" name="Google Shape;343;p22"/>
          <p:cNvSpPr txBox="1"/>
          <p:nvPr/>
        </p:nvSpPr>
        <p:spPr>
          <a:xfrm>
            <a:off x="446625" y="159787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[Rom 3:13 NKJV] 13 "Their throat [is] an open tomb; With their tongues they have practiced deceit"; "The poison of asps [is] under their lips";</a:t>
            </a:r>
            <a:endParaRPr/>
          </a:p>
        </p:txBody>
      </p:sp>
      <p:sp>
        <p:nvSpPr>
          <p:cNvPr id="344" name="Google Shape;344;p22"/>
          <p:cNvSpPr txBox="1"/>
          <p:nvPr/>
        </p:nvSpPr>
        <p:spPr>
          <a:xfrm>
            <a:off x="5334300" y="1597875"/>
            <a:ext cx="30000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[Psa 5:9 NKJV] </a:t>
            </a:r>
            <a:r>
              <a:rPr b="1" lang="en" sz="1100"/>
              <a:t>For [there is] no faithfulness in their mouth; Their inward part [is] destruction</a:t>
            </a:r>
            <a:r>
              <a:rPr lang="en" sz="1100"/>
              <a:t>; Their throat [is] an open tomb; </a:t>
            </a:r>
            <a:r>
              <a:rPr b="1" lang="en" sz="1100"/>
              <a:t>They flatter with their tongue.</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[Psa 140:3 NKJV] </a:t>
            </a:r>
            <a:r>
              <a:rPr b="1" lang="en" sz="1100"/>
              <a:t>They sharpen their tongues like a serpent;</a:t>
            </a:r>
            <a:r>
              <a:rPr lang="en" sz="1100"/>
              <a:t> The poison of asps [is] under their lips. Selah</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These passages are both prophetic against men like Paul.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3"/>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Paul is taking his godless attributes and trying to curse all of mankind.</a:t>
            </a:r>
            <a:endParaRPr/>
          </a:p>
        </p:txBody>
      </p:sp>
      <p:sp>
        <p:nvSpPr>
          <p:cNvPr id="350" name="Google Shape;350;p23"/>
          <p:cNvSpPr txBox="1"/>
          <p:nvPr>
            <p:ph idx="1" type="body"/>
          </p:nvPr>
        </p:nvSpPr>
        <p:spPr>
          <a:xfrm>
            <a:off x="150050" y="1597875"/>
            <a:ext cx="5060400" cy="3370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It’s interesting here that Paul’s again quoting from poetry warning us of men like Paul. A man that is filled with cursing, deceit and oppression. (look at how he speaks toward women) Again Paul is taking attributes of himself, and saying his righteous enemies that are challenging him for teaching against Torah (Acts 18:13, 21:21) are also just as unrighteous as him. That’s what this entire argument is about. </a:t>
            </a:r>
            <a:endParaRPr/>
          </a:p>
          <a:p>
            <a:pPr indent="0" lvl="0" marL="0" rtl="0" algn="l">
              <a:spcBef>
                <a:spcPts val="1200"/>
              </a:spcBef>
              <a:spcAft>
                <a:spcPts val="0"/>
              </a:spcAft>
              <a:buNone/>
            </a:pPr>
            <a:r>
              <a:rPr lang="en"/>
              <a:t>But the truth is revealed through his lie alright. IF you open up your Bible and see what Paul is quoting from.</a:t>
            </a:r>
            <a:endParaRPr/>
          </a:p>
          <a:p>
            <a:pPr indent="0" lvl="0" marL="0" rtl="0" algn="l">
              <a:spcBef>
                <a:spcPts val="1200"/>
              </a:spcBef>
              <a:spcAft>
                <a:spcPts val="1200"/>
              </a:spcAft>
              <a:buNone/>
            </a:pPr>
            <a:r>
              <a:rPr lang="en"/>
              <a:t>Paul blatantly admits he’s lying - this is the deceit he’s talking about in 2 co 12:16. He believes God is glorified by His lie, and wonders if God is glorified, why is he judged as a sinner? </a:t>
            </a:r>
            <a:r>
              <a:rPr b="1" lang="en"/>
              <a:t>God is not glorified by our lies.</a:t>
            </a:r>
            <a:endParaRPr b="1"/>
          </a:p>
        </p:txBody>
      </p:sp>
      <p:sp>
        <p:nvSpPr>
          <p:cNvPr id="351" name="Google Shape;351;p23"/>
          <p:cNvSpPr txBox="1"/>
          <p:nvPr/>
        </p:nvSpPr>
        <p:spPr>
          <a:xfrm>
            <a:off x="5404050" y="3399725"/>
            <a:ext cx="30000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[Rom 3:14 NKJV] "</a:t>
            </a:r>
            <a:r>
              <a:rPr b="1" lang="en" sz="1100"/>
              <a:t>Whose mouth [is] full of cursing and bitterness.</a:t>
            </a:r>
            <a:r>
              <a:rPr lang="en" sz="1100"/>
              <a:t>"</a:t>
            </a:r>
            <a:br>
              <a:rPr lang="en" sz="1100"/>
            </a:br>
            <a:br>
              <a:rPr lang="en" sz="1100"/>
            </a:br>
            <a:r>
              <a:rPr lang="en" sz="1100"/>
              <a:t>OOPS!</a:t>
            </a:r>
            <a:br>
              <a:rPr lang="en" sz="1100"/>
            </a:br>
            <a:br>
              <a:rPr lang="en" sz="1100"/>
            </a:br>
            <a:r>
              <a:rPr lang="en" sz="1100"/>
              <a:t>[Gal 1:9 NKJV] As we have said before, so now I say again, if anyone preaches any other gospel to you than what you have received, </a:t>
            </a:r>
            <a:r>
              <a:rPr b="1" lang="en" sz="1100"/>
              <a:t>let him be accursed.</a:t>
            </a:r>
            <a:endParaRPr/>
          </a:p>
        </p:txBody>
      </p:sp>
      <p:sp>
        <p:nvSpPr>
          <p:cNvPr id="352" name="Google Shape;352;p23"/>
          <p:cNvSpPr txBox="1"/>
          <p:nvPr/>
        </p:nvSpPr>
        <p:spPr>
          <a:xfrm>
            <a:off x="5404050" y="1522025"/>
            <a:ext cx="30000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[Psa 10:7 NKJV] </a:t>
            </a:r>
            <a:r>
              <a:rPr b="1" lang="en" sz="1100" u="sng"/>
              <a:t>His</a:t>
            </a:r>
            <a:r>
              <a:rPr b="1" lang="en" sz="1100"/>
              <a:t> mouth</a:t>
            </a:r>
            <a:r>
              <a:rPr lang="en" sz="1100"/>
              <a:t> is full of cursing and </a:t>
            </a:r>
            <a:r>
              <a:rPr b="1" lang="en" sz="1100"/>
              <a:t>deceit and oppression</a:t>
            </a:r>
            <a:r>
              <a:rPr lang="en" sz="1100"/>
              <a:t>; </a:t>
            </a:r>
            <a:r>
              <a:rPr b="1" lang="en" sz="1100"/>
              <a:t>Under </a:t>
            </a:r>
            <a:r>
              <a:rPr b="1" lang="en" sz="1100" u="sng"/>
              <a:t>his</a:t>
            </a:r>
            <a:r>
              <a:rPr b="1" lang="en" sz="1100"/>
              <a:t> tongue [is] trouble and iniquity.</a:t>
            </a:r>
            <a:endParaRPr b="1" sz="1100"/>
          </a:p>
          <a:p>
            <a:pPr indent="0" lvl="0" marL="0" rtl="0" algn="l">
              <a:spcBef>
                <a:spcPts val="0"/>
              </a:spcBef>
              <a:spcAft>
                <a:spcPts val="0"/>
              </a:spcAft>
              <a:buNone/>
            </a:pPr>
            <a:r>
              <a:t/>
            </a:r>
            <a:endParaRPr b="1" sz="1100"/>
          </a:p>
          <a:p>
            <a:pPr indent="0" lvl="0" marL="0" rtl="0" algn="l">
              <a:spcBef>
                <a:spcPts val="0"/>
              </a:spcBef>
              <a:spcAft>
                <a:spcPts val="0"/>
              </a:spcAft>
              <a:buNone/>
            </a:pPr>
            <a:r>
              <a:rPr b="1" lang="en" sz="1100"/>
              <a:t>Again - </a:t>
            </a:r>
            <a:r>
              <a:rPr lang="en" sz="1100"/>
              <a:t>more prophecy against Paul. In this same chapter, Paul BOASTS of LYING.</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[Rom 3:7 NKJV] For if the truth of God has increased through </a:t>
            </a:r>
            <a:r>
              <a:rPr b="1" lang="en" sz="1100" u="sng"/>
              <a:t>my lie</a:t>
            </a:r>
            <a:r>
              <a:rPr lang="en" sz="1100"/>
              <a:t> to His glory, why </a:t>
            </a:r>
            <a:endParaRPr sz="1100"/>
          </a:p>
          <a:p>
            <a:pPr indent="0" lvl="0" marL="0" rtl="0" algn="l">
              <a:spcBef>
                <a:spcPts val="0"/>
              </a:spcBef>
              <a:spcAft>
                <a:spcPts val="0"/>
              </a:spcAft>
              <a:buNone/>
            </a:pPr>
            <a:r>
              <a:rPr lang="en" sz="1100"/>
              <a:t>am I also still judged as a sinner?</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little diversion through Acts</a:t>
            </a:r>
            <a:endParaRPr/>
          </a:p>
        </p:txBody>
      </p:sp>
      <p:sp>
        <p:nvSpPr>
          <p:cNvPr id="358" name="Google Shape;358;p24"/>
          <p:cNvSpPr txBox="1"/>
          <p:nvPr>
            <p:ph idx="1" type="body"/>
          </p:nvPr>
        </p:nvSpPr>
        <p:spPr>
          <a:xfrm>
            <a:off x="3623350" y="1597875"/>
            <a:ext cx="5130300" cy="3322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I think it can be good to review just how vile Paul’s tongue is. </a:t>
            </a:r>
            <a:endParaRPr/>
          </a:p>
          <a:p>
            <a:pPr indent="0" lvl="0" marL="0" rtl="0" algn="l">
              <a:spcBef>
                <a:spcPts val="1200"/>
              </a:spcBef>
              <a:spcAft>
                <a:spcPts val="0"/>
              </a:spcAft>
              <a:buNone/>
            </a:pPr>
            <a:r>
              <a:rPr lang="en"/>
              <a:t>So here we have Paul (after saying he lives in good conscience) </a:t>
            </a:r>
            <a:r>
              <a:rPr lang="en"/>
              <a:t>reviling and cursing the high priest (and how the Pharisee of Pharisees didn’t know that is beyond me) - then when caught sinning, he lies and says he wouldn’t have done it had he known the man was the high priest. Which fruit of the spirit would that fall under Paul?</a:t>
            </a:r>
            <a:endParaRPr/>
          </a:p>
          <a:p>
            <a:pPr indent="0" lvl="0" marL="0" rtl="0" algn="l">
              <a:spcBef>
                <a:spcPts val="1200"/>
              </a:spcBef>
              <a:spcAft>
                <a:spcPts val="0"/>
              </a:spcAft>
              <a:buNone/>
            </a:pPr>
            <a:r>
              <a:rPr lang="en"/>
              <a:t>He then lies </a:t>
            </a:r>
            <a:r>
              <a:rPr i="1" lang="en"/>
              <a:t>again</a:t>
            </a:r>
            <a:r>
              <a:rPr lang="en"/>
              <a:t> - he sees the Saducees and the Pharisees and proclaims he was arrested for resurrection teachings. FALSE. Go back to Acts 21:28, he was arrested on charges of defiling the temple. (a charge never dealt with in Acts)</a:t>
            </a:r>
            <a:endParaRPr/>
          </a:p>
          <a:p>
            <a:pPr indent="0" lvl="0" marL="0" rtl="0" algn="l">
              <a:spcBef>
                <a:spcPts val="1200"/>
              </a:spcBef>
              <a:spcAft>
                <a:spcPts val="1200"/>
              </a:spcAft>
              <a:buNone/>
            </a:pPr>
            <a:r>
              <a:rPr lang="en"/>
              <a:t>Paul is the double-minded man James is warning us of - but James’ epistle is a </a:t>
            </a:r>
            <a:r>
              <a:rPr i="1" lang="en"/>
              <a:t>brilliant</a:t>
            </a:r>
            <a:r>
              <a:rPr lang="en"/>
              <a:t> piece of commentary / midrash. There is good commentary, and bad commentary. The Spirit you are under determines what you think of James and how you interpret his words.</a:t>
            </a:r>
            <a:endParaRPr/>
          </a:p>
        </p:txBody>
      </p:sp>
      <p:sp>
        <p:nvSpPr>
          <p:cNvPr id="359" name="Google Shape;359;p24"/>
          <p:cNvSpPr txBox="1"/>
          <p:nvPr/>
        </p:nvSpPr>
        <p:spPr>
          <a:xfrm>
            <a:off x="320075" y="1604475"/>
            <a:ext cx="3000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[Act 23:3 NKJV] Then Paul said to him, "God will strike you, [you] whitewashed wall! For you sit to judge me according to the law, and do you command me to be struck contrary to the law?"</a:t>
            </a:r>
            <a:endParaRPr/>
          </a:p>
        </p:txBody>
      </p:sp>
      <p:sp>
        <p:nvSpPr>
          <p:cNvPr id="360" name="Google Shape;360;p24"/>
          <p:cNvSpPr txBox="1"/>
          <p:nvPr/>
        </p:nvSpPr>
        <p:spPr>
          <a:xfrm>
            <a:off x="284650" y="2642475"/>
            <a:ext cx="33387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[2Co 12:16 NKJV] But be that [as it may], I did not burden you. Nevertheless, </a:t>
            </a:r>
            <a:r>
              <a:rPr b="1" lang="en" sz="1100"/>
              <a:t>being crafty, I caught you by cunning! (OR BY DECEIT)</a:t>
            </a:r>
            <a:endParaRPr b="1" sz="1100"/>
          </a:p>
          <a:p>
            <a:pPr indent="0" lvl="0" marL="0" rtl="0" algn="l">
              <a:spcBef>
                <a:spcPts val="0"/>
              </a:spcBef>
              <a:spcAft>
                <a:spcPts val="0"/>
              </a:spcAft>
              <a:buNone/>
            </a:pPr>
            <a:r>
              <a:t/>
            </a:r>
            <a:endParaRPr b="1" sz="1100"/>
          </a:p>
          <a:p>
            <a:pPr indent="0" lvl="0" marL="0" rtl="0" algn="l">
              <a:spcBef>
                <a:spcPts val="0"/>
              </a:spcBef>
              <a:spcAft>
                <a:spcPts val="0"/>
              </a:spcAft>
              <a:buNone/>
            </a:pPr>
            <a:r>
              <a:rPr lang="en" sz="1100"/>
              <a:t>[Jas 3:9-12 NKJV] With it we bless our God and Father, and with it we curse men, who have been made in the similitude of God. </a:t>
            </a:r>
            <a:r>
              <a:rPr b="1" lang="en" sz="1100"/>
              <a:t>Out of the same mouth proceed blessing and cursing</a:t>
            </a:r>
            <a:r>
              <a:rPr lang="en" sz="1100"/>
              <a:t>. </a:t>
            </a:r>
            <a:r>
              <a:rPr b="1" lang="en" sz="1100"/>
              <a:t>My brethren, these things ought not to be so. Does a spring send forth fresh [water] and bitter from the same opening?</a:t>
            </a:r>
            <a:r>
              <a:rPr lang="en" sz="1100"/>
              <a:t> Can a fig tree, my brethren, bear olives, or a grapevine bear figs? Thus no spring yields both salt water and fresh.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5"/>
          <p:cNvSpPr txBox="1"/>
          <p:nvPr>
            <p:ph type="title"/>
          </p:nvPr>
        </p:nvSpPr>
        <p:spPr>
          <a:xfrm>
            <a:off x="1303800" y="598575"/>
            <a:ext cx="7030500" cy="60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Romans 3 continued</a:t>
            </a:r>
            <a:endParaRPr/>
          </a:p>
        </p:txBody>
      </p:sp>
      <p:sp>
        <p:nvSpPr>
          <p:cNvPr id="366" name="Google Shape;366;p25"/>
          <p:cNvSpPr txBox="1"/>
          <p:nvPr>
            <p:ph idx="1" type="body"/>
          </p:nvPr>
        </p:nvSpPr>
        <p:spPr>
          <a:xfrm>
            <a:off x="171200" y="3773875"/>
            <a:ext cx="8862600" cy="1301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Paul all too often takes a small portion of a passage against the wicked and generalizes it into something inclusive of all mankind. These two verses from Romans are a perfect example of that. As a true follower, your feet should not be swift to shed blood. (1 Jo 3:15) Destruction and misery should not be your way. I read this and I see why most Christians have </a:t>
            </a:r>
            <a:r>
              <a:rPr i="1" lang="en"/>
              <a:t>no clue</a:t>
            </a:r>
            <a:r>
              <a:rPr lang="en"/>
              <a:t> what actual salvation is. It’s not to be trifled with, it is a serious matter - souls are going to be destroyed because they believe the words of Paul.</a:t>
            </a:r>
            <a:endParaRPr/>
          </a:p>
        </p:txBody>
      </p:sp>
      <p:sp>
        <p:nvSpPr>
          <p:cNvPr id="367" name="Google Shape;367;p25"/>
          <p:cNvSpPr txBox="1"/>
          <p:nvPr/>
        </p:nvSpPr>
        <p:spPr>
          <a:xfrm>
            <a:off x="171200" y="1205775"/>
            <a:ext cx="3000000" cy="204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[Rom 3:15-17 NKJV] "Their feet [are] swift to shed blood; Destruction and misery [are] in their ways; And the way of peace they have not known."</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CONTEXT OF WHAT PAUL IS QUOTING MATTERS!</a:t>
            </a:r>
            <a:br>
              <a:rPr lang="en" sz="1100"/>
            </a:br>
            <a:br>
              <a:rPr lang="en" sz="1100"/>
            </a:br>
            <a:r>
              <a:rPr lang="en" sz="1100"/>
              <a:t>It is those DOING Iniquity (acting against TORAH) that Isaiah is describing here - NOT ALL MEN.</a:t>
            </a:r>
            <a:endParaRPr/>
          </a:p>
        </p:txBody>
      </p:sp>
      <p:graphicFrame>
        <p:nvGraphicFramePr>
          <p:cNvPr id="368" name="Google Shape;368;p25"/>
          <p:cNvGraphicFramePr/>
          <p:nvPr/>
        </p:nvGraphicFramePr>
        <p:xfrm>
          <a:off x="3171200" y="1205775"/>
          <a:ext cx="3000000" cy="3000000"/>
        </p:xfrm>
        <a:graphic>
          <a:graphicData uri="http://schemas.openxmlformats.org/drawingml/2006/table">
            <a:tbl>
              <a:tblPr>
                <a:noFill/>
                <a:tableStyleId>{26D1983E-183A-43F4-B5FB-FE882690783D}</a:tableStyleId>
              </a:tblPr>
              <a:tblGrid>
                <a:gridCol w="5862675"/>
              </a:tblGrid>
              <a:tr h="1920650">
                <a:tc>
                  <a:txBody>
                    <a:bodyPr/>
                    <a:lstStyle/>
                    <a:p>
                      <a:pPr indent="0" lvl="0" marL="0" rtl="0" algn="l">
                        <a:spcBef>
                          <a:spcPts val="0"/>
                        </a:spcBef>
                        <a:spcAft>
                          <a:spcPts val="0"/>
                        </a:spcAft>
                        <a:buNone/>
                      </a:pPr>
                      <a:r>
                        <a:rPr lang="en" sz="1100"/>
                        <a:t>[Isa 59:1-8 NKJV] </a:t>
                      </a:r>
                      <a:r>
                        <a:rPr b="1" lang="en" sz="1100"/>
                        <a:t>Behold, the LORD's hand is not shortened, That it cannot save; Nor His ear heavy, That it cannot hear. But your iniquities have separated you from your God; And your sins have hidden [His] face from you, So that He will not hear. For your hands are defiled with blood, And your fingers with iniquity; Your lips have spoken lies, Your tongue has muttered perversity. No one calls for justice, Nor does [any] plead for truth. They trust in empty words and speak lies; They conceive evil and bring forth iniquity. They hatch vipers' eggs and weave the spider's web; He who eats of their eggs dies, And [from] that which is crushed a viper breaks out. Their webs will not become garments, Nor will they cover themselves with their works; Their works [are] works of iniquity, And the act of violence [is] in their hands. </a:t>
                      </a:r>
                      <a:r>
                        <a:rPr lang="en" sz="1100"/>
                        <a:t>Their feet </a:t>
                      </a:r>
                      <a:r>
                        <a:rPr b="1" lang="en" sz="1100"/>
                        <a:t>run to evil</a:t>
                      </a:r>
                      <a:r>
                        <a:rPr lang="en" sz="1100"/>
                        <a:t>, And they make haste to shed innocent blood; </a:t>
                      </a:r>
                      <a:r>
                        <a:rPr b="1" lang="en" sz="1100"/>
                        <a:t>Their thoughts [are] thoughts of iniquity;</a:t>
                      </a:r>
                      <a:r>
                        <a:rPr lang="en" sz="1100"/>
                        <a:t> Wasting and destruction [are] in their paths. The way of peace they have not known, </a:t>
                      </a:r>
                      <a:r>
                        <a:rPr b="1" lang="en" sz="1100"/>
                        <a:t>And [there is] no justice in their ways; They have made themselves crooked paths; Whoever takes that way shall not know peace.</a:t>
                      </a:r>
                      <a:endParaRPr b="1" sz="1100"/>
                    </a:p>
                  </a:txBody>
                  <a:tcPr marT="63500" marB="63500" marR="63500" marL="6350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6"/>
          <p:cNvSpPr txBox="1"/>
          <p:nvPr>
            <p:ph type="title"/>
          </p:nvPr>
        </p:nvSpPr>
        <p:spPr>
          <a:xfrm>
            <a:off x="1303800" y="598575"/>
            <a:ext cx="7030500" cy="63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you don’t fear God do you believe in him?</a:t>
            </a:r>
            <a:endParaRPr/>
          </a:p>
        </p:txBody>
      </p:sp>
      <p:sp>
        <p:nvSpPr>
          <p:cNvPr id="374" name="Google Shape;374;p26"/>
          <p:cNvSpPr txBox="1"/>
          <p:nvPr>
            <p:ph idx="1" type="body"/>
          </p:nvPr>
        </p:nvSpPr>
        <p:spPr>
          <a:xfrm>
            <a:off x="208425" y="3113475"/>
            <a:ext cx="8125800" cy="14181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Every argument Paul made here has been from poetry. Not from Torah - not even from the second witnesses, the testimony (Prophets). If you do not fear God, it’s because you are GODLESS. Why do you think Yakov (James) says this?</a:t>
            </a:r>
            <a:endParaRPr/>
          </a:p>
          <a:p>
            <a:pPr indent="0" lvl="0" marL="0" rtl="0" algn="l">
              <a:spcBef>
                <a:spcPts val="1200"/>
              </a:spcBef>
              <a:spcAft>
                <a:spcPts val="0"/>
              </a:spcAft>
              <a:buNone/>
            </a:pPr>
            <a:r>
              <a:rPr lang="en"/>
              <a:t>[Jas 2:19 KJV] Thou believest that there is one God; thou doest well: the devils also believe, and tremble.</a:t>
            </a:r>
            <a:endParaRPr/>
          </a:p>
          <a:p>
            <a:pPr indent="0" lvl="0" marL="0" rtl="0" algn="l">
              <a:spcBef>
                <a:spcPts val="1200"/>
              </a:spcBef>
              <a:spcAft>
                <a:spcPts val="1200"/>
              </a:spcAft>
              <a:buNone/>
            </a:pPr>
            <a:r>
              <a:rPr lang="en"/>
              <a:t>The DEMONS tremble at God, but Paul misquotes a Psalm and tells you that man doesn’t fear God, cursing you for believing his lies? You realize this means Paul’s writings </a:t>
            </a:r>
            <a:r>
              <a:rPr i="1" lang="en"/>
              <a:t>are worse</a:t>
            </a:r>
            <a:r>
              <a:rPr lang="en"/>
              <a:t> than demonic?</a:t>
            </a:r>
            <a:endParaRPr/>
          </a:p>
        </p:txBody>
      </p:sp>
      <p:sp>
        <p:nvSpPr>
          <p:cNvPr id="375" name="Google Shape;375;p26"/>
          <p:cNvSpPr txBox="1"/>
          <p:nvPr/>
        </p:nvSpPr>
        <p:spPr>
          <a:xfrm>
            <a:off x="81900" y="1235775"/>
            <a:ext cx="30000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[Rom 3:18 NKJV] “There is no fear of God before their eyes."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Tragically - this is once again a prophecy of Pauline theology, a man who did not fear Yah and removed Torah as a requirement for following Him. Those who HATE HIS WORDS, DO NOT HEED THEM. They CEASE TO BE WISE AND CEASE FROM DOING GOOD.</a:t>
            </a:r>
            <a:endParaRPr/>
          </a:p>
        </p:txBody>
      </p:sp>
      <p:sp>
        <p:nvSpPr>
          <p:cNvPr id="376" name="Google Shape;376;p26"/>
          <p:cNvSpPr txBox="1"/>
          <p:nvPr/>
        </p:nvSpPr>
        <p:spPr>
          <a:xfrm>
            <a:off x="3144725" y="1235775"/>
            <a:ext cx="51894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[Psa 36:1-4 NKJV] </a:t>
            </a:r>
            <a:r>
              <a:rPr b="1" lang="en" sz="1100"/>
              <a:t>To the Chief Musician. [A Psalm] of David the servant of the LORD. An oracle within my heart concerning the transgression of the wicked: </a:t>
            </a:r>
            <a:r>
              <a:rPr lang="en" sz="1100"/>
              <a:t>[There is] no fear of God before his eyes. </a:t>
            </a:r>
            <a:r>
              <a:rPr b="1" lang="en" sz="1100"/>
              <a:t>For he flatters himself in his own eyes, When he finds out his iniquity [and] when he hates. The words of his mouth [are] wickedness and deceit; He has ceased to be wise [and] to do good. He devises wickedness on his bed; He sets himself in a way [that is] not good; He does not abhor evil.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7"/>
          <p:cNvSpPr txBox="1"/>
          <p:nvPr>
            <p:ph type="title"/>
          </p:nvPr>
        </p:nvSpPr>
        <p:spPr>
          <a:xfrm>
            <a:off x="1303800" y="598575"/>
            <a:ext cx="7030500" cy="61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Paul’s erroneous conclusion</a:t>
            </a:r>
            <a:endParaRPr/>
          </a:p>
        </p:txBody>
      </p:sp>
      <p:sp>
        <p:nvSpPr>
          <p:cNvPr id="382" name="Google Shape;382;p27"/>
          <p:cNvSpPr txBox="1"/>
          <p:nvPr>
            <p:ph idx="1" type="body"/>
          </p:nvPr>
        </p:nvSpPr>
        <p:spPr>
          <a:xfrm>
            <a:off x="5887850" y="1213275"/>
            <a:ext cx="31014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purpose of the law? (better translated instruction)</a:t>
            </a:r>
            <a:endParaRPr/>
          </a:p>
          <a:p>
            <a:pPr indent="-311150" lvl="0" marL="457200" rtl="0" algn="l">
              <a:spcBef>
                <a:spcPts val="1200"/>
              </a:spcBef>
              <a:spcAft>
                <a:spcPts val="0"/>
              </a:spcAft>
              <a:buSzPts val="1300"/>
              <a:buAutoNum type="arabicParenR"/>
            </a:pPr>
            <a:r>
              <a:rPr lang="en"/>
              <a:t>To reveal your sin, absolutely true. </a:t>
            </a:r>
            <a:endParaRPr/>
          </a:p>
          <a:p>
            <a:pPr indent="-311150" lvl="0" marL="457200" rtl="0" algn="l">
              <a:spcBef>
                <a:spcPts val="0"/>
              </a:spcBef>
              <a:spcAft>
                <a:spcPts val="0"/>
              </a:spcAft>
              <a:buSzPts val="1300"/>
              <a:buAutoNum type="arabicParenR"/>
            </a:pPr>
            <a:r>
              <a:rPr lang="en"/>
              <a:t>Instruct you how not to sin. </a:t>
            </a:r>
            <a:endParaRPr/>
          </a:p>
          <a:p>
            <a:pPr indent="0" lvl="0" marL="457200" rtl="0" algn="l">
              <a:spcBef>
                <a:spcPts val="1200"/>
              </a:spcBef>
              <a:spcAft>
                <a:spcPts val="1200"/>
              </a:spcAft>
              <a:buNone/>
            </a:pPr>
            <a:r>
              <a:rPr lang="en"/>
              <a:t>Paul imputed the instruction of Father with man’s sinfulness.</a:t>
            </a:r>
            <a:endParaRPr/>
          </a:p>
        </p:txBody>
      </p:sp>
      <p:sp>
        <p:nvSpPr>
          <p:cNvPr id="383" name="Google Shape;383;p27"/>
          <p:cNvSpPr txBox="1"/>
          <p:nvPr/>
        </p:nvSpPr>
        <p:spPr>
          <a:xfrm>
            <a:off x="81875" y="1463550"/>
            <a:ext cx="18831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I cannot leave this out - after misquoting NUMEROUS passages Paul plants THIS ERRONEOUS CONCLUSION.</a:t>
            </a:r>
            <a:br>
              <a:rPr lang="en" sz="1100"/>
            </a:br>
            <a:br>
              <a:rPr lang="en" sz="1100"/>
            </a:br>
            <a:r>
              <a:rPr lang="en" sz="1100"/>
              <a:t>[Rom 3:19 NKJV] Now we know that whatever the law says, it says to those who are under the law, that every mouth may be stopped, and all the world may become guilty before God.</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Is the “goal” of Yah’s Torah (law) to make the whole world GUILTY BEFORE GOD?</a:t>
            </a:r>
            <a:endParaRPr/>
          </a:p>
        </p:txBody>
      </p:sp>
      <p:sp>
        <p:nvSpPr>
          <p:cNvPr id="384" name="Google Shape;384;p27"/>
          <p:cNvSpPr txBox="1"/>
          <p:nvPr/>
        </p:nvSpPr>
        <p:spPr>
          <a:xfrm>
            <a:off x="1920450" y="1213275"/>
            <a:ext cx="3904200" cy="374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[Pro 4:2 NKJV] For I give you good doctrine: Do not forsake my law.</a:t>
            </a:r>
            <a:endParaRPr sz="1100"/>
          </a:p>
          <a:p>
            <a:pPr indent="0" lvl="0" marL="0" rtl="0" algn="l">
              <a:spcBef>
                <a:spcPts val="0"/>
              </a:spcBef>
              <a:spcAft>
                <a:spcPts val="0"/>
              </a:spcAft>
              <a:buNone/>
            </a:pPr>
            <a:br>
              <a:rPr lang="en" sz="1100"/>
            </a:br>
            <a:r>
              <a:rPr lang="en" sz="1100"/>
              <a:t>[Psa 19:7 NKJV] The law of the LORD [is] perfect, converting the soul; The testimony of the LORD [is] sure, making wise the simple;</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[Jos 1:6-9 NKJV] "Be strong and of good courage, for to this people you shall divide as an inheritance the land which I swore to their fathers to give them. "Only be strong and very courageous, that you may observe to do according to all the law which Moses My servant commanded you; do not turn from it to the right hand or to the left, that you may prosper wherever you go. "This Book of the Law shall not depart from your mouth, but you shall meditate in it day and night, that you may observe to do according to all that is written in it. For then you will make your way prosperous, and then you will have good success. "Have I not commanded you? Be strong and of good courage; do not be afraid, nor be dismayed, for the LORD your God [is] with you wherever you go."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8"/>
          <p:cNvSpPr txBox="1"/>
          <p:nvPr>
            <p:ph type="title"/>
          </p:nvPr>
        </p:nvSpPr>
        <p:spPr>
          <a:xfrm>
            <a:off x="1303800" y="598575"/>
            <a:ext cx="7030500" cy="55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Knowledge of sin?</a:t>
            </a:r>
            <a:endParaRPr/>
          </a:p>
        </p:txBody>
      </p:sp>
      <p:sp>
        <p:nvSpPr>
          <p:cNvPr id="390" name="Google Shape;390;p28"/>
          <p:cNvSpPr txBox="1"/>
          <p:nvPr>
            <p:ph idx="1" type="body"/>
          </p:nvPr>
        </p:nvSpPr>
        <p:spPr>
          <a:xfrm>
            <a:off x="3282600" y="1339850"/>
            <a:ext cx="5051700" cy="31917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Paul’s lie here (and this is a common Pauline debating technique in his epistles) is to state a lie, then to create a conclusion that is a lie based on the initial statement.</a:t>
            </a:r>
            <a:endParaRPr/>
          </a:p>
          <a:p>
            <a:pPr indent="0" lvl="0" marL="0" rtl="0" algn="l">
              <a:spcBef>
                <a:spcPts val="1200"/>
              </a:spcBef>
              <a:spcAft>
                <a:spcPts val="0"/>
              </a:spcAft>
              <a:buNone/>
            </a:pPr>
            <a:r>
              <a:rPr lang="en"/>
              <a:t>“Therefore by the deeds of the law no flesh will be justified in His sight” this is PURELY Paul’s opinion, and he’s built you up to </a:t>
            </a:r>
            <a:r>
              <a:rPr i="1" lang="en"/>
              <a:t>believe it</a:t>
            </a:r>
            <a:r>
              <a:rPr lang="en"/>
              <a:t> with HIS LIE. By quoting the prior passages out of context, Paul has created in your mind this construct that all of mankind is nothing but sin. Then we get here - and what does Paul tell us?</a:t>
            </a:r>
            <a:endParaRPr/>
          </a:p>
          <a:p>
            <a:pPr indent="0" lvl="0" marL="0" rtl="0" algn="l">
              <a:spcBef>
                <a:spcPts val="1200"/>
              </a:spcBef>
              <a:spcAft>
                <a:spcPts val="0"/>
              </a:spcAft>
              <a:buNone/>
            </a:pPr>
            <a:r>
              <a:rPr lang="en"/>
              <a:t>The law cannot justify you. </a:t>
            </a:r>
            <a:endParaRPr/>
          </a:p>
          <a:p>
            <a:pPr indent="0" lvl="0" marL="0" rtl="0" algn="l">
              <a:spcBef>
                <a:spcPts val="1200"/>
              </a:spcBef>
              <a:spcAft>
                <a:spcPts val="0"/>
              </a:spcAft>
              <a:buNone/>
            </a:pPr>
            <a:r>
              <a:rPr lang="en"/>
              <a:t>Does the law tell you that, or is it Paul’s opinion?</a:t>
            </a:r>
            <a:endParaRPr/>
          </a:p>
          <a:p>
            <a:pPr indent="0" lvl="0" marL="0" rtl="0" algn="l">
              <a:spcBef>
                <a:spcPts val="1200"/>
              </a:spcBef>
              <a:spcAft>
                <a:spcPts val="1200"/>
              </a:spcAft>
              <a:buNone/>
            </a:pPr>
            <a:r>
              <a:rPr lang="en"/>
              <a:t>Then comes the lying conclusion - the law brings knowledge of sin. If this is true, how was Zecharias who kept the law perfectly considered blameless? Righteous? The fact that he was righteous by Torah, means he was justified by Torah.</a:t>
            </a:r>
            <a:endParaRPr/>
          </a:p>
        </p:txBody>
      </p:sp>
      <p:sp>
        <p:nvSpPr>
          <p:cNvPr id="391" name="Google Shape;391;p28"/>
          <p:cNvSpPr txBox="1"/>
          <p:nvPr/>
        </p:nvSpPr>
        <p:spPr>
          <a:xfrm>
            <a:off x="81875" y="1339850"/>
            <a:ext cx="3000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And this lie:</a:t>
            </a:r>
            <a:br>
              <a:rPr lang="en" sz="1100"/>
            </a:br>
            <a:br>
              <a:rPr lang="en" sz="1100"/>
            </a:br>
            <a:r>
              <a:rPr lang="en" sz="1100"/>
              <a:t>[Rom 3:20 NKJV] Therefore by the deeds of the law no flesh will be justified in His sight, for by the law [is] the knowledge of sin.</a:t>
            </a:r>
            <a:endParaRPr/>
          </a:p>
        </p:txBody>
      </p:sp>
      <p:sp>
        <p:nvSpPr>
          <p:cNvPr id="392" name="Google Shape;392;p28"/>
          <p:cNvSpPr txBox="1"/>
          <p:nvPr/>
        </p:nvSpPr>
        <p:spPr>
          <a:xfrm>
            <a:off x="61325" y="2407800"/>
            <a:ext cx="30000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I could go numerous places here - I’ll stick with the NT witness, one of Paul’s own disciples.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[Luk 1:5-6 NKJV] There was in the days of Herod, the king of Judea, a certain priest named Zacharias, of the division of Abijah. His wife [was] of the daughters of Aaron, and her name [was] Elizabeth. And they were both righteous before God, walking in all the commandments and ordinances of the Lord blameless.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whoppers continue</a:t>
            </a:r>
            <a:endParaRPr/>
          </a:p>
        </p:txBody>
      </p:sp>
      <p:sp>
        <p:nvSpPr>
          <p:cNvPr id="398" name="Google Shape;398;p29"/>
          <p:cNvSpPr txBox="1"/>
          <p:nvPr>
            <p:ph idx="1" type="body"/>
          </p:nvPr>
        </p:nvSpPr>
        <p:spPr>
          <a:xfrm>
            <a:off x="3706900" y="1990050"/>
            <a:ext cx="4627500" cy="2541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Again we have Paul exercising a simple logic statement - and this is why those who argue that we (those against Paul) take Paul out of context are wrong. This is a simple logical statement. Because of A, B is true.</a:t>
            </a:r>
            <a:endParaRPr/>
          </a:p>
          <a:p>
            <a:pPr indent="0" lvl="0" marL="0" rtl="0" algn="l">
              <a:spcBef>
                <a:spcPts val="1200"/>
              </a:spcBef>
              <a:spcAft>
                <a:spcPts val="0"/>
              </a:spcAft>
              <a:buNone/>
            </a:pPr>
            <a:r>
              <a:rPr lang="en"/>
              <a:t>A = Now the righteousness of God apart from the law is being revealed.</a:t>
            </a:r>
            <a:endParaRPr/>
          </a:p>
          <a:p>
            <a:pPr indent="0" lvl="0" marL="0" rtl="0" algn="l">
              <a:spcBef>
                <a:spcPts val="1200"/>
              </a:spcBef>
              <a:spcAft>
                <a:spcPts val="0"/>
              </a:spcAft>
              <a:buNone/>
            </a:pPr>
            <a:r>
              <a:rPr lang="en"/>
              <a:t>B) (next verse which we’ll get to) </a:t>
            </a:r>
            <a:endParaRPr/>
          </a:p>
          <a:p>
            <a:pPr indent="0" lvl="0" marL="0" rtl="0" algn="l">
              <a:spcBef>
                <a:spcPts val="1200"/>
              </a:spcBef>
              <a:spcAft>
                <a:spcPts val="1200"/>
              </a:spcAft>
              <a:buNone/>
            </a:pPr>
            <a:r>
              <a:rPr lang="en"/>
              <a:t>His first statement is utterly false as Deut 6:25 shows - and there are numerous other passages. The second problem is Paul lies about what he was quoting from. “Witnessed by the Law and the Prophets” HE DID NOT QUOTE ONCE from the LAW or the PROPHETS.</a:t>
            </a:r>
            <a:endParaRPr/>
          </a:p>
        </p:txBody>
      </p:sp>
      <p:sp>
        <p:nvSpPr>
          <p:cNvPr id="399" name="Google Shape;399;p29"/>
          <p:cNvSpPr txBox="1"/>
          <p:nvPr/>
        </p:nvSpPr>
        <p:spPr>
          <a:xfrm>
            <a:off x="245650" y="1354750"/>
            <a:ext cx="3000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All to build up to ANOTHER lie:</a:t>
            </a:r>
            <a:br>
              <a:rPr lang="en" sz="1100"/>
            </a:br>
            <a:br>
              <a:rPr lang="en" sz="1100"/>
            </a:br>
            <a:r>
              <a:rPr lang="en" sz="1100"/>
              <a:t>[Rom 3:21 NKJV] But now the righteousness of God apart from the law is revealed, being witnessed by the Law and the Prophets,</a:t>
            </a:r>
            <a:endParaRPr/>
          </a:p>
        </p:txBody>
      </p:sp>
      <p:sp>
        <p:nvSpPr>
          <p:cNvPr id="400" name="Google Shape;400;p29"/>
          <p:cNvSpPr txBox="1"/>
          <p:nvPr/>
        </p:nvSpPr>
        <p:spPr>
          <a:xfrm>
            <a:off x="245650" y="2459900"/>
            <a:ext cx="30000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Righteousness is NOT SEPARATE FROM LAW (TORAH)</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[Deu 6:25 NKJV] ‘Then it will be righteousness for us, if we are careful to observe all these commandments before the LORD our God, as He has commanded us.'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0"/>
          <p:cNvSpPr txBox="1"/>
          <p:nvPr>
            <p:ph type="title"/>
          </p:nvPr>
        </p:nvSpPr>
        <p:spPr>
          <a:xfrm>
            <a:off x="1303800" y="598575"/>
            <a:ext cx="7030500" cy="602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Paul’s conclusion of his straw man</a:t>
            </a:r>
            <a:endParaRPr/>
          </a:p>
        </p:txBody>
      </p:sp>
      <p:sp>
        <p:nvSpPr>
          <p:cNvPr id="406" name="Google Shape;406;p30"/>
          <p:cNvSpPr txBox="1"/>
          <p:nvPr>
            <p:ph idx="1" type="body"/>
          </p:nvPr>
        </p:nvSpPr>
        <p:spPr>
          <a:xfrm>
            <a:off x="1213300" y="1200675"/>
            <a:ext cx="4019400" cy="347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 after telling us the law and the prophets decry man’s ability to live to Torah - Paul drops this lie. That righteousness comes by faith in Jesus Christ. </a:t>
            </a:r>
            <a:endParaRPr/>
          </a:p>
          <a:p>
            <a:pPr indent="0" lvl="0" marL="0" rtl="0" algn="l">
              <a:spcBef>
                <a:spcPts val="1200"/>
              </a:spcBef>
              <a:spcAft>
                <a:spcPts val="0"/>
              </a:spcAft>
              <a:buNone/>
            </a:pPr>
            <a:r>
              <a:rPr lang="en"/>
              <a:t>This is what Christianity, Messianic Judaism all teach. That your right standing before God the Father depends on you confessing faith in Jesus. </a:t>
            </a:r>
            <a:endParaRPr/>
          </a:p>
          <a:p>
            <a:pPr indent="0" lvl="0" marL="0" rtl="0" algn="l">
              <a:spcBef>
                <a:spcPts val="1200"/>
              </a:spcBef>
              <a:spcAft>
                <a:spcPts val="1200"/>
              </a:spcAft>
              <a:buNone/>
            </a:pPr>
            <a:r>
              <a:rPr lang="en"/>
              <a:t>You Know something Jesus never says? What Paul just said there. I know that passages are misused from John’s gnostic Gospel to support this, but believe also means </a:t>
            </a:r>
            <a:r>
              <a:rPr i="1" lang="en"/>
              <a:t>trust</a:t>
            </a:r>
            <a:r>
              <a:rPr lang="en"/>
              <a:t>. The way John uses it, in context of every passage is always about guarding the mitzvot (commandments).</a:t>
            </a:r>
            <a:endParaRPr/>
          </a:p>
        </p:txBody>
      </p:sp>
      <p:sp>
        <p:nvSpPr>
          <p:cNvPr id="407" name="Google Shape;407;p30"/>
          <p:cNvSpPr txBox="1"/>
          <p:nvPr/>
        </p:nvSpPr>
        <p:spPr>
          <a:xfrm>
            <a:off x="5307250" y="1200675"/>
            <a:ext cx="36477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Paul’s lies continue based on his AWFUL eisegesis in the middle of Romans 3 -&gt;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[Rom 3:22 NKJV] even the righteousness of God, through faith in Jesus Christ, to all and on all who believe. For there is no difference;</a:t>
            </a:r>
            <a:endParaRPr/>
          </a:p>
        </p:txBody>
      </p:sp>
      <p:sp>
        <p:nvSpPr>
          <p:cNvPr id="408" name="Google Shape;408;p30"/>
          <p:cNvSpPr txBox="1"/>
          <p:nvPr/>
        </p:nvSpPr>
        <p:spPr>
          <a:xfrm>
            <a:off x="5307100" y="2401275"/>
            <a:ext cx="36477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This particular passage is PURE GNOSTICISM, that through mental ascent of Jesus we become truly righteous and before that there WAS NO TRUE RIGHTEOUSNESS.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We </a:t>
            </a:r>
            <a:r>
              <a:rPr i="1" lang="en" sz="1100"/>
              <a:t>KNOW</a:t>
            </a:r>
            <a:r>
              <a:rPr lang="en" sz="1100"/>
              <a:t> from previous passages that the LAW (TORAH) DEFINES RIGHTEOUSNESS FOR THOSE WHO LIVE, FOLLOW and OBSERVE it.</a:t>
            </a:r>
            <a:br>
              <a:rPr lang="en" sz="1100"/>
            </a:br>
            <a:br>
              <a:rPr lang="en" sz="1100"/>
            </a:br>
            <a:r>
              <a:rPr lang="en" sz="1100"/>
              <a:t>[Num 15:16 NKJV] '</a:t>
            </a:r>
            <a:r>
              <a:rPr b="1" lang="en" sz="1100"/>
              <a:t>One law and one custom shall be for you and for the stranger who dwells with you</a:t>
            </a:r>
            <a:r>
              <a:rPr lang="en" sz="1100"/>
              <a:t>.' "</a:t>
            </a:r>
            <a:br>
              <a:rPr lang="en" sz="1100"/>
            </a:br>
            <a:br>
              <a:rPr lang="en" sz="1100"/>
            </a:br>
            <a:r>
              <a:rPr lang="en" sz="1100"/>
              <a:t>The ONLY place there is NO DIFFERENCE is that God made the SAME LAW TO FOLLOW FOR JEWS AND GENTILES.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1"/>
          <p:cNvSpPr txBox="1"/>
          <p:nvPr>
            <p:ph type="title"/>
          </p:nvPr>
        </p:nvSpPr>
        <p:spPr>
          <a:xfrm>
            <a:off x="1303800" y="598575"/>
            <a:ext cx="7030500" cy="54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Paul’s erroneous conclusion</a:t>
            </a:r>
            <a:endParaRPr/>
          </a:p>
        </p:txBody>
      </p:sp>
      <p:sp>
        <p:nvSpPr>
          <p:cNvPr id="414" name="Google Shape;414;p31"/>
          <p:cNvSpPr txBox="1"/>
          <p:nvPr/>
        </p:nvSpPr>
        <p:spPr>
          <a:xfrm>
            <a:off x="6216550" y="61087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[Rom 3:23 NKJV] for all have sinned and fall short of the glory of God,</a:t>
            </a:r>
            <a:endParaRPr/>
          </a:p>
        </p:txBody>
      </p:sp>
      <p:sp>
        <p:nvSpPr>
          <p:cNvPr id="415" name="Google Shape;415;p31"/>
          <p:cNvSpPr txBox="1"/>
          <p:nvPr/>
        </p:nvSpPr>
        <p:spPr>
          <a:xfrm>
            <a:off x="1303800" y="1007025"/>
            <a:ext cx="7777200" cy="407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Brothers and Sisters - this isn’t even scripture. This is Paul’s opinion, his erroneous conclusion based on twisting passages from the Psalms and Proverbs and the Prophets.</a:t>
            </a:r>
            <a:br>
              <a:rPr lang="en" sz="1100"/>
            </a:br>
            <a:br>
              <a:rPr lang="en" sz="1100"/>
            </a:br>
            <a:r>
              <a:rPr lang="en" sz="1100"/>
              <a:t>What sin did Enoch commit who was translated?</a:t>
            </a:r>
            <a:br>
              <a:rPr lang="en" sz="1100"/>
            </a:br>
            <a:br>
              <a:rPr lang="en" sz="1100"/>
            </a:br>
            <a:r>
              <a:rPr lang="en" sz="1100"/>
              <a:t>What sin did Abraham commit? His “lie” was not a lie as you believe, as Sara was his sister.</a:t>
            </a:r>
            <a:br>
              <a:rPr lang="en" sz="1100"/>
            </a:br>
            <a:br>
              <a:rPr lang="en" sz="1100"/>
            </a:br>
            <a:r>
              <a:rPr lang="en" sz="1100"/>
              <a:t>What about Joseph, who ran from adultery?</a:t>
            </a:r>
            <a:br>
              <a:rPr lang="en" sz="1100"/>
            </a:br>
            <a:br>
              <a:rPr lang="en" sz="1100"/>
            </a:br>
            <a:r>
              <a:rPr lang="en" sz="1100"/>
              <a:t>Job?</a:t>
            </a:r>
            <a:br>
              <a:rPr lang="en" sz="1100"/>
            </a:br>
            <a:br>
              <a:rPr lang="en" sz="1100"/>
            </a:br>
            <a:r>
              <a:rPr lang="en" sz="1100"/>
              <a:t>Zechariah, whom I mentioned before?</a:t>
            </a:r>
            <a:br>
              <a:rPr lang="en" sz="1100"/>
            </a:br>
            <a:br>
              <a:rPr lang="en" sz="1100"/>
            </a:br>
            <a:r>
              <a:rPr lang="en" sz="1100"/>
              <a:t>King Hezekiah, unlike his Father never fell into murder and Adultery and is called a righteous man.</a:t>
            </a:r>
            <a:br>
              <a:rPr lang="en" sz="1100"/>
            </a:br>
            <a:br>
              <a:rPr lang="en" sz="1100"/>
            </a:br>
            <a:r>
              <a:rPr lang="en" sz="1100"/>
              <a:t>It’s amazing that we let Paul’s gnosticism infect our minds. All have NOT sinned, and all do NOT fall short of His glory. LUDICROUS.</a:t>
            </a:r>
            <a:br>
              <a:rPr lang="en" sz="1100"/>
            </a:br>
            <a:br>
              <a:rPr lang="en" sz="1100"/>
            </a:br>
            <a:r>
              <a:rPr lang="en" sz="1100"/>
              <a:t>He came to call SINNERS TO REPENTANCE, not the righteous.</a:t>
            </a:r>
            <a:br>
              <a:rPr lang="en" sz="1100"/>
            </a:br>
            <a:br>
              <a:rPr lang="en" sz="1100"/>
            </a:br>
            <a:r>
              <a:rPr lang="en" sz="1100"/>
              <a:t>He left the 99 righteous sheep to pursue the 1 sinner.</a:t>
            </a:r>
            <a:br>
              <a:rPr lang="en" sz="1100"/>
            </a:br>
            <a:br>
              <a:rPr lang="en" sz="1100"/>
            </a:br>
            <a:r>
              <a:rPr lang="en" sz="1100"/>
              <a:t>The Gnostic Church preaches that the 99 he left were not actually righteous, it’s just a figure of speech.</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2"/>
          <p:cNvSpPr txBox="1"/>
          <p:nvPr>
            <p:ph type="title"/>
          </p:nvPr>
        </p:nvSpPr>
        <p:spPr>
          <a:xfrm>
            <a:off x="1303800" y="598575"/>
            <a:ext cx="7030500" cy="600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Paul’s conclusion through chapter 3</a:t>
            </a:r>
            <a:endParaRPr/>
          </a:p>
        </p:txBody>
      </p:sp>
      <p:sp>
        <p:nvSpPr>
          <p:cNvPr id="421" name="Google Shape;421;p32"/>
          <p:cNvSpPr txBox="1"/>
          <p:nvPr>
            <p:ph idx="1" type="body"/>
          </p:nvPr>
        </p:nvSpPr>
        <p:spPr>
          <a:xfrm>
            <a:off x="6429700" y="1198575"/>
            <a:ext cx="2353800" cy="333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Paul makes his false conclusion based on misquoting poetry to prove that it’s </a:t>
            </a:r>
            <a:r>
              <a:rPr lang="en"/>
              <a:t>impossible to keep Torah. This is why the Torah keeping passages of Romans are so grossly out of context. </a:t>
            </a:r>
            <a:endParaRPr/>
          </a:p>
          <a:p>
            <a:pPr indent="0" lvl="0" marL="0" rtl="0" algn="l">
              <a:spcBef>
                <a:spcPts val="1200"/>
              </a:spcBef>
              <a:spcAft>
                <a:spcPts val="1200"/>
              </a:spcAft>
              <a:buNone/>
            </a:pPr>
            <a:r>
              <a:rPr lang="en"/>
              <a:t>Paul is building an argument that </a:t>
            </a:r>
            <a:r>
              <a:rPr i="1" lang="en"/>
              <a:t>no one</a:t>
            </a:r>
            <a:r>
              <a:rPr lang="en"/>
              <a:t> can properly guard Torah.</a:t>
            </a:r>
            <a:endParaRPr/>
          </a:p>
        </p:txBody>
      </p:sp>
      <p:sp>
        <p:nvSpPr>
          <p:cNvPr id="422" name="Google Shape;422;p32"/>
          <p:cNvSpPr txBox="1"/>
          <p:nvPr/>
        </p:nvSpPr>
        <p:spPr>
          <a:xfrm>
            <a:off x="208400" y="1198575"/>
            <a:ext cx="3000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[Rom 3:28 NKJV] Therefore we conclude </a:t>
            </a:r>
            <a:r>
              <a:rPr b="1" lang="en" sz="1100"/>
              <a:t>that a man is justified by faith apart from the deeds of the law.</a:t>
            </a:r>
            <a:endParaRPr/>
          </a:p>
        </p:txBody>
      </p:sp>
      <p:sp>
        <p:nvSpPr>
          <p:cNvPr id="423" name="Google Shape;423;p32"/>
          <p:cNvSpPr txBox="1"/>
          <p:nvPr/>
        </p:nvSpPr>
        <p:spPr>
          <a:xfrm>
            <a:off x="3319050" y="1127500"/>
            <a:ext cx="30000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I don’t even need to go to the Old Testament to show Paul’s contradictions here. He contradicted himself just a chapter earlier.</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[Rom 2:13 NKJV] (for not the hearers of the law [are] just in the sight of God, </a:t>
            </a:r>
            <a:r>
              <a:rPr b="1" lang="en" sz="1100"/>
              <a:t>but the doers of the law will be justified;</a:t>
            </a:r>
            <a:endParaRPr b="1" sz="1100"/>
          </a:p>
          <a:p>
            <a:pPr indent="0" lvl="0" marL="0" rtl="0" algn="l">
              <a:spcBef>
                <a:spcPts val="0"/>
              </a:spcBef>
              <a:spcAft>
                <a:spcPts val="0"/>
              </a:spcAft>
              <a:buNone/>
            </a:pPr>
            <a:r>
              <a:t/>
            </a:r>
            <a:endParaRPr b="1" sz="1100"/>
          </a:p>
          <a:p>
            <a:pPr indent="0" lvl="0" marL="0" rtl="0" algn="l">
              <a:spcBef>
                <a:spcPts val="0"/>
              </a:spcBef>
              <a:spcAft>
                <a:spcPts val="0"/>
              </a:spcAft>
              <a:buNone/>
            </a:pPr>
            <a:r>
              <a:rPr b="1" lang="en" sz="1100"/>
              <a:t>Is it any wonder, Peter </a:t>
            </a:r>
            <a:r>
              <a:rPr b="1" i="1" lang="en" sz="1100"/>
              <a:t>warns</a:t>
            </a:r>
            <a:r>
              <a:rPr b="1" lang="en" sz="1100"/>
              <a:t> Paul’s writings are headache inducing, confusing and cause the unstable to slip into lawlessness?</a:t>
            </a:r>
            <a:br>
              <a:rPr b="1" lang="en" sz="1100"/>
            </a:br>
            <a:br>
              <a:rPr b="1" lang="en" sz="1100"/>
            </a:br>
            <a:r>
              <a:rPr b="1" lang="en" sz="1100"/>
              <a:t>He’s not giving these writings a recommendation.</a:t>
            </a:r>
            <a:br>
              <a:rPr b="1" lang="en" sz="1100"/>
            </a:br>
            <a:br>
              <a:rPr b="1" lang="en" sz="1100"/>
            </a:br>
            <a:r>
              <a:rPr b="1" lang="en" sz="1100"/>
              <a:t>FIVE OUT OF FIVE STARS! He is a “beloved brother”! </a:t>
            </a:r>
            <a:br>
              <a:rPr b="1" lang="en" sz="1100"/>
            </a:br>
            <a:br>
              <a:rPr b="1" lang="en" sz="1100"/>
            </a:br>
            <a:r>
              <a:rPr lang="en" sz="1100"/>
              <a:t>Believe what you want, rob Peter to pay Paul - but I believe this is a condemnation against Paul and his corruption.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3"/>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That finishes this portion of the study	</a:t>
            </a:r>
            <a:endParaRPr/>
          </a:p>
        </p:txBody>
      </p:sp>
      <p:sp>
        <p:nvSpPr>
          <p:cNvPr id="429" name="Google Shape;429;p33"/>
          <p:cNvSpPr txBox="1"/>
          <p:nvPr>
            <p:ph idx="1" type="body"/>
          </p:nvPr>
        </p:nvSpPr>
        <p:spPr>
          <a:xfrm>
            <a:off x="239375" y="1402000"/>
            <a:ext cx="28869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 decided to divide this up - I don’t want to make a 3 hour video again, and I want to make sure the conclusion I draw from this study leads us to Torah not my opinion.</a:t>
            </a:r>
            <a:br>
              <a:rPr lang="en"/>
            </a:br>
            <a:br>
              <a:rPr lang="en"/>
            </a:br>
            <a:r>
              <a:rPr lang="en"/>
              <a:t>Shalom</a:t>
            </a:r>
            <a:endParaRPr/>
          </a:p>
        </p:txBody>
      </p:sp>
      <p:pic>
        <p:nvPicPr>
          <p:cNvPr id="430" name="Google Shape;430;p33"/>
          <p:cNvPicPr preferRelativeResize="0"/>
          <p:nvPr/>
        </p:nvPicPr>
        <p:blipFill>
          <a:blip r:embed="rId3">
            <a:alphaModFix/>
          </a:blip>
          <a:stretch>
            <a:fillRect/>
          </a:stretch>
        </p:blipFill>
        <p:spPr>
          <a:xfrm>
            <a:off x="3060425" y="1402000"/>
            <a:ext cx="3372150" cy="3614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